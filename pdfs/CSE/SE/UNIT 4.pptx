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Lst>
  <p:sldSz cx="9144000" cy="6858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280" y="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8A7D90B-FA3A-4816-B5AB-9500E5D7C0F1}" type="datetimeFigureOut">
              <a:rPr lang="en-IN" smtClean="0"/>
              <a:t>03-04-2025</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B7A0353E-E43D-449A-96B0-FDD815200A86}" type="slidenum">
              <a:rPr lang="en-IN" smtClean="0"/>
              <a:t>‹#›</a:t>
            </a:fld>
            <a:endParaRPr lang="en-IN"/>
          </a:p>
        </p:txBody>
      </p:sp>
    </p:spTree>
    <p:extLst>
      <p:ext uri="{BB962C8B-B14F-4D97-AF65-F5344CB8AC3E}">
        <p14:creationId xmlns:p14="http://schemas.microsoft.com/office/powerpoint/2010/main" val="2785412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6</a:t>
            </a:fld>
            <a:endParaRPr lang="en-IN"/>
          </a:p>
        </p:txBody>
      </p:sp>
    </p:spTree>
    <p:extLst>
      <p:ext uri="{BB962C8B-B14F-4D97-AF65-F5344CB8AC3E}">
        <p14:creationId xmlns:p14="http://schemas.microsoft.com/office/powerpoint/2010/main" val="2269708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7</a:t>
            </a:fld>
            <a:endParaRPr lang="en-IN"/>
          </a:p>
        </p:txBody>
      </p:sp>
    </p:spTree>
    <p:extLst>
      <p:ext uri="{BB962C8B-B14F-4D97-AF65-F5344CB8AC3E}">
        <p14:creationId xmlns:p14="http://schemas.microsoft.com/office/powerpoint/2010/main" val="3536462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8</a:t>
            </a:fld>
            <a:endParaRPr lang="en-IN"/>
          </a:p>
        </p:txBody>
      </p:sp>
    </p:spTree>
    <p:extLst>
      <p:ext uri="{BB962C8B-B14F-4D97-AF65-F5344CB8AC3E}">
        <p14:creationId xmlns:p14="http://schemas.microsoft.com/office/powerpoint/2010/main" val="2454430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9</a:t>
            </a:fld>
            <a:endParaRPr lang="en-IN"/>
          </a:p>
        </p:txBody>
      </p:sp>
    </p:spTree>
    <p:extLst>
      <p:ext uri="{BB962C8B-B14F-4D97-AF65-F5344CB8AC3E}">
        <p14:creationId xmlns:p14="http://schemas.microsoft.com/office/powerpoint/2010/main" val="3200475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10</a:t>
            </a:fld>
            <a:endParaRPr lang="en-IN"/>
          </a:p>
        </p:txBody>
      </p:sp>
    </p:spTree>
    <p:extLst>
      <p:ext uri="{BB962C8B-B14F-4D97-AF65-F5344CB8AC3E}">
        <p14:creationId xmlns:p14="http://schemas.microsoft.com/office/powerpoint/2010/main" val="2441711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11</a:t>
            </a:fld>
            <a:endParaRPr lang="en-IN"/>
          </a:p>
        </p:txBody>
      </p:sp>
    </p:spTree>
    <p:extLst>
      <p:ext uri="{BB962C8B-B14F-4D97-AF65-F5344CB8AC3E}">
        <p14:creationId xmlns:p14="http://schemas.microsoft.com/office/powerpoint/2010/main" val="3868911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12</a:t>
            </a:fld>
            <a:endParaRPr lang="en-IN"/>
          </a:p>
        </p:txBody>
      </p:sp>
    </p:spTree>
    <p:extLst>
      <p:ext uri="{BB962C8B-B14F-4D97-AF65-F5344CB8AC3E}">
        <p14:creationId xmlns:p14="http://schemas.microsoft.com/office/powerpoint/2010/main" val="1275734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13</a:t>
            </a:fld>
            <a:endParaRPr lang="en-IN"/>
          </a:p>
        </p:txBody>
      </p:sp>
    </p:spTree>
    <p:extLst>
      <p:ext uri="{BB962C8B-B14F-4D97-AF65-F5344CB8AC3E}">
        <p14:creationId xmlns:p14="http://schemas.microsoft.com/office/powerpoint/2010/main" val="2944330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14</a:t>
            </a:fld>
            <a:endParaRPr lang="en-IN"/>
          </a:p>
        </p:txBody>
      </p:sp>
    </p:spTree>
    <p:extLst>
      <p:ext uri="{BB962C8B-B14F-4D97-AF65-F5344CB8AC3E}">
        <p14:creationId xmlns:p14="http://schemas.microsoft.com/office/powerpoint/2010/main" val="2607301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15</a:t>
            </a:fld>
            <a:endParaRPr lang="en-IN"/>
          </a:p>
        </p:txBody>
      </p:sp>
    </p:spTree>
    <p:extLst>
      <p:ext uri="{BB962C8B-B14F-4D97-AF65-F5344CB8AC3E}">
        <p14:creationId xmlns:p14="http://schemas.microsoft.com/office/powerpoint/2010/main" val="6165697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16</a:t>
            </a:fld>
            <a:endParaRPr lang="en-IN"/>
          </a:p>
        </p:txBody>
      </p:sp>
    </p:spTree>
    <p:extLst>
      <p:ext uri="{BB962C8B-B14F-4D97-AF65-F5344CB8AC3E}">
        <p14:creationId xmlns:p14="http://schemas.microsoft.com/office/powerpoint/2010/main" val="1051127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17</a:t>
            </a:fld>
            <a:endParaRPr lang="en-IN"/>
          </a:p>
        </p:txBody>
      </p:sp>
    </p:spTree>
    <p:extLst>
      <p:ext uri="{BB962C8B-B14F-4D97-AF65-F5344CB8AC3E}">
        <p14:creationId xmlns:p14="http://schemas.microsoft.com/office/powerpoint/2010/main" val="10198864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18</a:t>
            </a:fld>
            <a:endParaRPr lang="en-IN"/>
          </a:p>
        </p:txBody>
      </p:sp>
    </p:spTree>
    <p:extLst>
      <p:ext uri="{BB962C8B-B14F-4D97-AF65-F5344CB8AC3E}">
        <p14:creationId xmlns:p14="http://schemas.microsoft.com/office/powerpoint/2010/main" val="1354461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19</a:t>
            </a:fld>
            <a:endParaRPr lang="en-IN"/>
          </a:p>
        </p:txBody>
      </p:sp>
    </p:spTree>
    <p:extLst>
      <p:ext uri="{BB962C8B-B14F-4D97-AF65-F5344CB8AC3E}">
        <p14:creationId xmlns:p14="http://schemas.microsoft.com/office/powerpoint/2010/main" val="32291338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20</a:t>
            </a:fld>
            <a:endParaRPr lang="en-IN"/>
          </a:p>
        </p:txBody>
      </p:sp>
    </p:spTree>
    <p:extLst>
      <p:ext uri="{BB962C8B-B14F-4D97-AF65-F5344CB8AC3E}">
        <p14:creationId xmlns:p14="http://schemas.microsoft.com/office/powerpoint/2010/main" val="4187053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21</a:t>
            </a:fld>
            <a:endParaRPr lang="en-IN"/>
          </a:p>
        </p:txBody>
      </p:sp>
    </p:spTree>
    <p:extLst>
      <p:ext uri="{BB962C8B-B14F-4D97-AF65-F5344CB8AC3E}">
        <p14:creationId xmlns:p14="http://schemas.microsoft.com/office/powerpoint/2010/main" val="2873833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22</a:t>
            </a:fld>
            <a:endParaRPr lang="en-IN"/>
          </a:p>
        </p:txBody>
      </p:sp>
    </p:spTree>
    <p:extLst>
      <p:ext uri="{BB962C8B-B14F-4D97-AF65-F5344CB8AC3E}">
        <p14:creationId xmlns:p14="http://schemas.microsoft.com/office/powerpoint/2010/main" val="2395967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23</a:t>
            </a:fld>
            <a:endParaRPr lang="en-IN"/>
          </a:p>
        </p:txBody>
      </p:sp>
    </p:spTree>
    <p:extLst>
      <p:ext uri="{BB962C8B-B14F-4D97-AF65-F5344CB8AC3E}">
        <p14:creationId xmlns:p14="http://schemas.microsoft.com/office/powerpoint/2010/main" val="15791890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24</a:t>
            </a:fld>
            <a:endParaRPr lang="en-IN"/>
          </a:p>
        </p:txBody>
      </p:sp>
    </p:spTree>
    <p:extLst>
      <p:ext uri="{BB962C8B-B14F-4D97-AF65-F5344CB8AC3E}">
        <p14:creationId xmlns:p14="http://schemas.microsoft.com/office/powerpoint/2010/main" val="26283797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25</a:t>
            </a:fld>
            <a:endParaRPr lang="en-IN"/>
          </a:p>
        </p:txBody>
      </p:sp>
    </p:spTree>
    <p:extLst>
      <p:ext uri="{BB962C8B-B14F-4D97-AF65-F5344CB8AC3E}">
        <p14:creationId xmlns:p14="http://schemas.microsoft.com/office/powerpoint/2010/main" val="37526768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26</a:t>
            </a:fld>
            <a:endParaRPr lang="en-IN"/>
          </a:p>
        </p:txBody>
      </p:sp>
    </p:spTree>
    <p:extLst>
      <p:ext uri="{BB962C8B-B14F-4D97-AF65-F5344CB8AC3E}">
        <p14:creationId xmlns:p14="http://schemas.microsoft.com/office/powerpoint/2010/main" val="21174765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27</a:t>
            </a:fld>
            <a:endParaRPr lang="en-IN"/>
          </a:p>
        </p:txBody>
      </p:sp>
    </p:spTree>
    <p:extLst>
      <p:ext uri="{BB962C8B-B14F-4D97-AF65-F5344CB8AC3E}">
        <p14:creationId xmlns:p14="http://schemas.microsoft.com/office/powerpoint/2010/main" val="1801529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28</a:t>
            </a:fld>
            <a:endParaRPr lang="en-IN"/>
          </a:p>
        </p:txBody>
      </p:sp>
    </p:spTree>
    <p:extLst>
      <p:ext uri="{BB962C8B-B14F-4D97-AF65-F5344CB8AC3E}">
        <p14:creationId xmlns:p14="http://schemas.microsoft.com/office/powerpoint/2010/main" val="7546198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29</a:t>
            </a:fld>
            <a:endParaRPr lang="en-IN"/>
          </a:p>
        </p:txBody>
      </p:sp>
    </p:spTree>
    <p:extLst>
      <p:ext uri="{BB962C8B-B14F-4D97-AF65-F5344CB8AC3E}">
        <p14:creationId xmlns:p14="http://schemas.microsoft.com/office/powerpoint/2010/main" val="6959732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30</a:t>
            </a:fld>
            <a:endParaRPr lang="en-IN"/>
          </a:p>
        </p:txBody>
      </p:sp>
    </p:spTree>
    <p:extLst>
      <p:ext uri="{BB962C8B-B14F-4D97-AF65-F5344CB8AC3E}">
        <p14:creationId xmlns:p14="http://schemas.microsoft.com/office/powerpoint/2010/main" val="30336485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31</a:t>
            </a:fld>
            <a:endParaRPr lang="en-IN"/>
          </a:p>
        </p:txBody>
      </p:sp>
    </p:spTree>
    <p:extLst>
      <p:ext uri="{BB962C8B-B14F-4D97-AF65-F5344CB8AC3E}">
        <p14:creationId xmlns:p14="http://schemas.microsoft.com/office/powerpoint/2010/main" val="9609941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32</a:t>
            </a:fld>
            <a:endParaRPr lang="en-IN"/>
          </a:p>
        </p:txBody>
      </p:sp>
    </p:spTree>
    <p:extLst>
      <p:ext uri="{BB962C8B-B14F-4D97-AF65-F5344CB8AC3E}">
        <p14:creationId xmlns:p14="http://schemas.microsoft.com/office/powerpoint/2010/main" val="38139385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33</a:t>
            </a:fld>
            <a:endParaRPr lang="en-IN"/>
          </a:p>
        </p:txBody>
      </p:sp>
    </p:spTree>
    <p:extLst>
      <p:ext uri="{BB962C8B-B14F-4D97-AF65-F5344CB8AC3E}">
        <p14:creationId xmlns:p14="http://schemas.microsoft.com/office/powerpoint/2010/main" val="41233646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34</a:t>
            </a:fld>
            <a:endParaRPr lang="en-IN"/>
          </a:p>
        </p:txBody>
      </p:sp>
    </p:spTree>
    <p:extLst>
      <p:ext uri="{BB962C8B-B14F-4D97-AF65-F5344CB8AC3E}">
        <p14:creationId xmlns:p14="http://schemas.microsoft.com/office/powerpoint/2010/main" val="30858612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35</a:t>
            </a:fld>
            <a:endParaRPr lang="en-IN"/>
          </a:p>
        </p:txBody>
      </p:sp>
    </p:spTree>
    <p:extLst>
      <p:ext uri="{BB962C8B-B14F-4D97-AF65-F5344CB8AC3E}">
        <p14:creationId xmlns:p14="http://schemas.microsoft.com/office/powerpoint/2010/main" val="12186735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36</a:t>
            </a:fld>
            <a:endParaRPr lang="en-IN"/>
          </a:p>
        </p:txBody>
      </p:sp>
    </p:spTree>
    <p:extLst>
      <p:ext uri="{BB962C8B-B14F-4D97-AF65-F5344CB8AC3E}">
        <p14:creationId xmlns:p14="http://schemas.microsoft.com/office/powerpoint/2010/main" val="6784488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37</a:t>
            </a:fld>
            <a:endParaRPr lang="en-IN"/>
          </a:p>
        </p:txBody>
      </p:sp>
    </p:spTree>
    <p:extLst>
      <p:ext uri="{BB962C8B-B14F-4D97-AF65-F5344CB8AC3E}">
        <p14:creationId xmlns:p14="http://schemas.microsoft.com/office/powerpoint/2010/main" val="18001477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38</a:t>
            </a:fld>
            <a:endParaRPr lang="en-IN"/>
          </a:p>
        </p:txBody>
      </p:sp>
    </p:spTree>
    <p:extLst>
      <p:ext uri="{BB962C8B-B14F-4D97-AF65-F5344CB8AC3E}">
        <p14:creationId xmlns:p14="http://schemas.microsoft.com/office/powerpoint/2010/main" val="12479924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39</a:t>
            </a:fld>
            <a:endParaRPr lang="en-IN"/>
          </a:p>
        </p:txBody>
      </p:sp>
    </p:spTree>
    <p:extLst>
      <p:ext uri="{BB962C8B-B14F-4D97-AF65-F5344CB8AC3E}">
        <p14:creationId xmlns:p14="http://schemas.microsoft.com/office/powerpoint/2010/main" val="7260344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40</a:t>
            </a:fld>
            <a:endParaRPr lang="en-IN"/>
          </a:p>
        </p:txBody>
      </p:sp>
    </p:spTree>
    <p:extLst>
      <p:ext uri="{BB962C8B-B14F-4D97-AF65-F5344CB8AC3E}">
        <p14:creationId xmlns:p14="http://schemas.microsoft.com/office/powerpoint/2010/main" val="31969599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41</a:t>
            </a:fld>
            <a:endParaRPr lang="en-IN"/>
          </a:p>
        </p:txBody>
      </p:sp>
    </p:spTree>
    <p:extLst>
      <p:ext uri="{BB962C8B-B14F-4D97-AF65-F5344CB8AC3E}">
        <p14:creationId xmlns:p14="http://schemas.microsoft.com/office/powerpoint/2010/main" val="4438002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42</a:t>
            </a:fld>
            <a:endParaRPr lang="en-IN"/>
          </a:p>
        </p:txBody>
      </p:sp>
    </p:spTree>
    <p:extLst>
      <p:ext uri="{BB962C8B-B14F-4D97-AF65-F5344CB8AC3E}">
        <p14:creationId xmlns:p14="http://schemas.microsoft.com/office/powerpoint/2010/main" val="4321537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43</a:t>
            </a:fld>
            <a:endParaRPr lang="en-IN"/>
          </a:p>
        </p:txBody>
      </p:sp>
    </p:spTree>
    <p:extLst>
      <p:ext uri="{BB962C8B-B14F-4D97-AF65-F5344CB8AC3E}">
        <p14:creationId xmlns:p14="http://schemas.microsoft.com/office/powerpoint/2010/main" val="26850734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44</a:t>
            </a:fld>
            <a:endParaRPr lang="en-IN"/>
          </a:p>
        </p:txBody>
      </p:sp>
    </p:spTree>
    <p:extLst>
      <p:ext uri="{BB962C8B-B14F-4D97-AF65-F5344CB8AC3E}">
        <p14:creationId xmlns:p14="http://schemas.microsoft.com/office/powerpoint/2010/main" val="7335480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45</a:t>
            </a:fld>
            <a:endParaRPr lang="en-IN"/>
          </a:p>
        </p:txBody>
      </p:sp>
    </p:spTree>
    <p:extLst>
      <p:ext uri="{BB962C8B-B14F-4D97-AF65-F5344CB8AC3E}">
        <p14:creationId xmlns:p14="http://schemas.microsoft.com/office/powerpoint/2010/main" val="25910463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46</a:t>
            </a:fld>
            <a:endParaRPr lang="en-IN"/>
          </a:p>
        </p:txBody>
      </p:sp>
    </p:spTree>
    <p:extLst>
      <p:ext uri="{BB962C8B-B14F-4D97-AF65-F5344CB8AC3E}">
        <p14:creationId xmlns:p14="http://schemas.microsoft.com/office/powerpoint/2010/main" val="30015721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47</a:t>
            </a:fld>
            <a:endParaRPr lang="en-IN"/>
          </a:p>
        </p:txBody>
      </p:sp>
    </p:spTree>
    <p:extLst>
      <p:ext uri="{BB962C8B-B14F-4D97-AF65-F5344CB8AC3E}">
        <p14:creationId xmlns:p14="http://schemas.microsoft.com/office/powerpoint/2010/main" val="143771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48</a:t>
            </a:fld>
            <a:endParaRPr lang="en-IN"/>
          </a:p>
        </p:txBody>
      </p:sp>
    </p:spTree>
    <p:extLst>
      <p:ext uri="{BB962C8B-B14F-4D97-AF65-F5344CB8AC3E}">
        <p14:creationId xmlns:p14="http://schemas.microsoft.com/office/powerpoint/2010/main" val="34706480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49</a:t>
            </a:fld>
            <a:endParaRPr lang="en-IN"/>
          </a:p>
        </p:txBody>
      </p:sp>
    </p:spTree>
    <p:extLst>
      <p:ext uri="{BB962C8B-B14F-4D97-AF65-F5344CB8AC3E}">
        <p14:creationId xmlns:p14="http://schemas.microsoft.com/office/powerpoint/2010/main" val="21607996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50</a:t>
            </a:fld>
            <a:endParaRPr lang="en-IN"/>
          </a:p>
        </p:txBody>
      </p:sp>
    </p:spTree>
    <p:extLst>
      <p:ext uri="{BB962C8B-B14F-4D97-AF65-F5344CB8AC3E}">
        <p14:creationId xmlns:p14="http://schemas.microsoft.com/office/powerpoint/2010/main" val="27179698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7A0353E-E43D-449A-96B0-FDD815200A86}" type="slidenum">
              <a:rPr lang="en-IN" smtClean="0"/>
              <a:t>51</a:t>
            </a:fld>
            <a:endParaRPr lang="en-IN"/>
          </a:p>
        </p:txBody>
      </p:sp>
    </p:spTree>
    <p:extLst>
      <p:ext uri="{BB962C8B-B14F-4D97-AF65-F5344CB8AC3E}">
        <p14:creationId xmlns:p14="http://schemas.microsoft.com/office/powerpoint/2010/main" val="2299710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a:t>4/3/2025</a:t>
            </a:fld>
            <a:endParaRPr lang="en-US" dirty="0"/>
          </a:p>
        </p:txBody>
      </p:sp>
      <p:sp>
        <p:nvSpPr>
          <p:cNvPr id="5" name="Footer Placeholder 4"/>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6" name="Slide Number Placeholder 5"/>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t>4/3/2025</a:t>
            </a:fld>
            <a:endParaRPr lang="en-US" dirty="0"/>
          </a:p>
        </p:txBody>
      </p:sp>
      <p:sp>
        <p:nvSpPr>
          <p:cNvPr id="5" name="Footer Placeholder 4"/>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6" name="Slide Number Placeholder 5"/>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dirty="0"/>
          </a:p>
        </p:txBody>
      </p:sp>
      <p:sp>
        <p:nvSpPr>
          <p:cNvPr id="5" name="Footer Placeholder 4"/>
          <p:cNvSpPr>
            <a:spLocks noGrp="1"/>
          </p:cNvSpPr>
          <p:nvPr>
            <p:ph type="ftr" sz="quarter" idx="11"/>
          </p:nvPr>
        </p:nvSpPr>
        <p:spPr/>
        <p:txBody>
          <a:bodyPr/>
          <a:lstStyle/>
          <a:p>
            <a:pPr lvl="0"/>
            <a:endParaRPr lang="en-US" dirty="0"/>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a:t>4/3/2025</a:t>
            </a:fld>
            <a:endParaRPr lang="en-US" dirty="0"/>
          </a:p>
        </p:txBody>
      </p:sp>
      <p:sp>
        <p:nvSpPr>
          <p:cNvPr id="6" name="Footer Placeholder 5"/>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7" name="Slide Number Placeholder 6"/>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lvl="0"/>
            <a:endParaRPr lang="en-US" dirty="0"/>
          </a:p>
        </p:txBody>
      </p:sp>
      <p:sp>
        <p:nvSpPr>
          <p:cNvPr id="8" name="Footer Placeholder 7"/>
          <p:cNvSpPr>
            <a:spLocks noGrp="1"/>
          </p:cNvSpPr>
          <p:nvPr>
            <p:ph type="ftr" sz="quarter" idx="11"/>
          </p:nvPr>
        </p:nvSpPr>
        <p:spPr/>
        <p:txBody>
          <a:bodyPr/>
          <a:lstStyle/>
          <a:p>
            <a:pPr lvl="0"/>
            <a:endParaRPr lang="en-US" dirty="0"/>
          </a:p>
        </p:txBody>
      </p:sp>
      <p:sp>
        <p:nvSpPr>
          <p:cNvPr id="9" name="Slide Number Placeholder 8"/>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a:t>4/3/2025</a:t>
            </a:fld>
            <a:endParaRPr lang="en-US" dirty="0"/>
          </a:p>
        </p:txBody>
      </p:sp>
      <p:sp>
        <p:nvSpPr>
          <p:cNvPr id="4" name="Footer Placeholder 3"/>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5" name="Slide Number Placeholder 4"/>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a:t>4/3/2025</a:t>
            </a:fld>
            <a:endParaRPr lang="en-US" dirty="0"/>
          </a:p>
        </p:txBody>
      </p:sp>
      <p:sp>
        <p:nvSpPr>
          <p:cNvPr id="3" name="Footer Placeholder 2"/>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4" name="Slide Number Placeholder 3"/>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dirty="0"/>
          </a:p>
        </p:txBody>
      </p:sp>
      <p:sp>
        <p:nvSpPr>
          <p:cNvPr id="6" name="Footer Placeholder 5"/>
          <p:cNvSpPr>
            <a:spLocks noGrp="1"/>
          </p:cNvSpPr>
          <p:nvPr>
            <p:ph type="ftr" sz="quarter" idx="11"/>
          </p:nvPr>
        </p:nvSpPr>
        <p:spPr/>
        <p:txBody>
          <a:bodyPr/>
          <a:lstStyle/>
          <a:p>
            <a:pPr lvl="0"/>
            <a:endParaRPr lang="en-US" dirty="0"/>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dirty="0"/>
          </a:p>
        </p:txBody>
      </p:sp>
      <p:sp>
        <p:nvSpPr>
          <p:cNvPr id="6" name="Footer Placeholder 5"/>
          <p:cNvSpPr>
            <a:spLocks noGrp="1"/>
          </p:cNvSpPr>
          <p:nvPr>
            <p:ph type="ftr" sz="quarter" idx="11"/>
          </p:nvPr>
        </p:nvSpPr>
        <p:spPr/>
        <p:txBody>
          <a:bodyPr/>
          <a:lstStyle/>
          <a:p>
            <a:pPr lvl="0"/>
            <a:endParaRPr lang="en-US" dirty="0"/>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dirty="0"/>
          </a:p>
        </p:txBody>
      </p:sp>
      <p:sp>
        <p:nvSpPr>
          <p:cNvPr id="5" name="Footer Placeholder 4"/>
          <p:cNvSpPr>
            <a:spLocks noGrp="1"/>
          </p:cNvSpPr>
          <p:nvPr>
            <p:ph type="ftr" sz="quarter" idx="11"/>
          </p:nvPr>
        </p:nvSpPr>
        <p:spPr/>
        <p:txBody>
          <a:bodyPr/>
          <a:lstStyle/>
          <a:p>
            <a:pPr lvl="0"/>
            <a:endParaRPr lang="en-US" dirty="0"/>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dirty="0"/>
          </a:p>
        </p:txBody>
      </p:sp>
      <p:sp>
        <p:nvSpPr>
          <p:cNvPr id="5" name="Footer Placeholder 4"/>
          <p:cNvSpPr>
            <a:spLocks noGrp="1"/>
          </p:cNvSpPr>
          <p:nvPr>
            <p:ph type="ftr" sz="quarter" idx="11"/>
          </p:nvPr>
        </p:nvSpPr>
        <p:spPr/>
        <p:txBody>
          <a:bodyPr/>
          <a:lstStyle/>
          <a:p>
            <a:pPr lvl="0"/>
            <a:endParaRPr lang="en-US" dirty="0"/>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457200" y="274638"/>
            <a:ext cx="82296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457200" y="1600200"/>
            <a:ext cx="82296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fld id="{1D8BD707-D9CF-40AE-B4C6-C98DA3205C09}" type="datetimeFigureOut">
              <a:rPr lang="en-US"/>
              <a:t>4/3/2025</a:t>
            </a:fld>
            <a:endParaRPr lang="en-US" dirty="0"/>
          </a:p>
        </p:txBody>
      </p:sp>
      <p:sp>
        <p:nvSpPr>
          <p:cNvPr id="1029" name="Footer Placeholder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marL="12700">
              <a:lnSpc>
                <a:spcPts val="1620"/>
              </a:lnSpc>
            </a:pPr>
            <a:r>
              <a:rPr spc="-30" dirty="0"/>
              <a:t>Yogendra</a:t>
            </a:r>
            <a:r>
              <a:rPr spc="45" dirty="0"/>
              <a:t> </a:t>
            </a:r>
            <a:r>
              <a:rPr spc="-10" dirty="0"/>
              <a:t>Prasad</a:t>
            </a:r>
            <a:r>
              <a:rPr spc="-25" dirty="0"/>
              <a:t> </a:t>
            </a:r>
            <a:r>
              <a:rPr spc="-5" dirty="0"/>
              <a:t>P</a:t>
            </a:r>
          </a:p>
        </p:txBody>
      </p:sp>
      <p:sp>
        <p:nvSpPr>
          <p:cNvPr id="1030" name="Slide Number Placeholder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fld id="{B6F15528-21DE-4FAA-801E-634DDDAF4B2B}" type="slidenum">
              <a:rPr/>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hyperlink" Target="https://sourceforge.net/projects/cppunit/" TargetMode="External"/><Relationship Id="rId3" Type="http://schemas.openxmlformats.org/officeDocument/2006/relationships/hyperlink" Target="https://bit.ly/2V8ypxo" TargetMode="External"/><Relationship Id="rId7" Type="http://schemas.openxmlformats.org/officeDocument/2006/relationships/hyperlink" Target="http://htmlunit.sourceforge.net/"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hyperlink" Target="https://www.guru99.com/python-unit-testing-guide.html" TargetMode="External"/><Relationship Id="rId5" Type="http://schemas.openxmlformats.org/officeDocument/2006/relationships/hyperlink" Target="http://nunit.org/" TargetMode="External"/><Relationship Id="rId4" Type="http://schemas.openxmlformats.org/officeDocument/2006/relationships/hyperlink" Target="https://www.eclemma.org/download.html"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smtClean="0">
                <a:solidFill>
                  <a:srgbClr val="FF0000"/>
                </a:solidFill>
                <a:latin typeface="Times New Roman" panose="02020603050405020304" pitchFamily="18" charset="0"/>
                <a:cs typeface="Times New Roman" panose="02020603050405020304" pitchFamily="18" charset="0"/>
              </a:rPr>
              <a:t>MODULE-IV</a:t>
            </a: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0" y="1600200"/>
            <a:ext cx="9144000" cy="4953000"/>
          </a:xfrm>
        </p:spPr>
        <p:txBody>
          <a:bodyPr/>
          <a:lstStyle/>
          <a:p>
            <a:pPr algn="just"/>
            <a:endParaRPr lang="en-IN" sz="28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184540302"/>
              </p:ext>
            </p:extLst>
          </p:nvPr>
        </p:nvGraphicFramePr>
        <p:xfrm>
          <a:off x="8823" y="1066800"/>
          <a:ext cx="8991599" cy="5791200"/>
        </p:xfrm>
        <a:graphic>
          <a:graphicData uri="http://schemas.openxmlformats.org/drawingml/2006/table">
            <a:tbl>
              <a:tblPr firstRow="1" firstCol="1" bandRow="1">
                <a:tableStyleId>{5C22544A-7EE6-4342-B048-85BDC9FD1C3A}</a:tableStyleId>
              </a:tblPr>
              <a:tblGrid>
                <a:gridCol w="1450069"/>
                <a:gridCol w="5915964"/>
                <a:gridCol w="1625566"/>
              </a:tblGrid>
              <a:tr h="1086732">
                <a:tc>
                  <a:txBody>
                    <a:bodyPr/>
                    <a:lstStyle/>
                    <a:p>
                      <a:pPr>
                        <a:lnSpc>
                          <a:spcPct val="115000"/>
                        </a:lnSpc>
                        <a:spcAft>
                          <a:spcPts val="600"/>
                        </a:spcAft>
                      </a:pPr>
                      <a:r>
                        <a:rPr lang="en-US" sz="2400" dirty="0">
                          <a:effectLst/>
                          <a:latin typeface="Times New Roman" panose="02020603050405020304" pitchFamily="18" charset="0"/>
                          <a:cs typeface="Times New Roman" panose="02020603050405020304" pitchFamily="18" charset="0"/>
                        </a:rPr>
                        <a:t>Module </a:t>
                      </a:r>
                      <a:r>
                        <a:rPr lang="en-US" sz="2400" dirty="0" smtClean="0">
                          <a:effectLst/>
                          <a:latin typeface="Times New Roman" panose="02020603050405020304" pitchFamily="18" charset="0"/>
                          <a:cs typeface="Times New Roman" panose="02020603050405020304" pitchFamily="18" charset="0"/>
                        </a:rPr>
                        <a:t>IV</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SOFTWARE TESTING STRATEGIES AND APPLICATIONS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600"/>
                        </a:spcAft>
                      </a:pPr>
                      <a:r>
                        <a:rPr lang="en-US" sz="2400" dirty="0">
                          <a:effectLst/>
                          <a:latin typeface="Times New Roman" panose="02020603050405020304" pitchFamily="18" charset="0"/>
                          <a:cs typeface="Times New Roman" panose="02020603050405020304" pitchFamily="18" charset="0"/>
                        </a:rPr>
                        <a:t>(</a:t>
                      </a:r>
                      <a:r>
                        <a:rPr lang="en-US" sz="2400" dirty="0" smtClean="0">
                          <a:effectLst/>
                          <a:latin typeface="Times New Roman" panose="02020603050405020304" pitchFamily="18" charset="0"/>
                          <a:cs typeface="Times New Roman" panose="02020603050405020304" pitchFamily="18" charset="0"/>
                        </a:rPr>
                        <a:t>09Period)</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4704468">
                <a:tc gridSpan="3">
                  <a:txBody>
                    <a:bodyPr/>
                    <a:lstStyle/>
                    <a:p>
                      <a:pPr algn="just"/>
                      <a:r>
                        <a:rPr lang="en-US" sz="2800" b="1" i="0" u="none" kern="1200" baseline="0" dirty="0" smtClean="0">
                          <a:solidFill>
                            <a:schemeClr val="lt1"/>
                          </a:solidFill>
                          <a:effectLst/>
                          <a:latin typeface="Times New Roman" panose="02020603050405020304" pitchFamily="18" charset="0"/>
                          <a:ea typeface="+mn-ea"/>
                          <a:cs typeface="Times New Roman" panose="02020603050405020304" pitchFamily="18" charset="0"/>
                        </a:rPr>
                        <a:t>Testing strategies: A strategic approach to software testing, Strategic issues, Test strategies for conventional software, Test strategies for object oriented software, Validation testing, System testing, The art of debugging.</a:t>
                      </a:r>
                    </a:p>
                    <a:p>
                      <a:pPr algn="just"/>
                      <a:endParaRPr lang="en-IN" sz="2800" b="1" i="0" u="none" kern="1200" baseline="0" dirty="0" smtClean="0">
                        <a:solidFill>
                          <a:schemeClr val="lt1"/>
                        </a:solidFill>
                        <a:effectLst/>
                        <a:latin typeface="Times New Roman" panose="02020603050405020304" pitchFamily="18" charset="0"/>
                        <a:ea typeface="+mn-ea"/>
                        <a:cs typeface="Times New Roman" panose="02020603050405020304" pitchFamily="18" charset="0"/>
                      </a:endParaRPr>
                    </a:p>
                    <a:p>
                      <a:pPr algn="just"/>
                      <a:r>
                        <a:rPr lang="en-US" sz="2800" b="1" i="0" u="none" kern="1200" baseline="0" dirty="0" smtClean="0">
                          <a:solidFill>
                            <a:schemeClr val="lt1"/>
                          </a:solidFill>
                          <a:effectLst/>
                          <a:latin typeface="Times New Roman" panose="02020603050405020304" pitchFamily="18" charset="0"/>
                          <a:ea typeface="+mn-ea"/>
                          <a:cs typeface="Times New Roman" panose="02020603050405020304" pitchFamily="18" charset="0"/>
                        </a:rPr>
                        <a:t>Testing Conventional Applications: Software testing fundamentals, White box testing-Basis path testing, Control structure testing; Black box testing, Object oriented testing methods</a:t>
                      </a:r>
                      <a:endParaRPr lang="en-IN" sz="3600" b="0" i="0" u="none" kern="1200" baseline="0" dirty="0">
                        <a:solidFill>
                          <a:schemeClr val="tx1"/>
                        </a:solidFill>
                        <a:latin typeface="Times New Roman" panose="02020603050405020304" pitchFamily="18" charset="0"/>
                        <a:ea typeface="+mn-ea"/>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APPROACH TO SOFTWARE TESTING</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algn="just"/>
            <a:r>
              <a:rPr lang="en-US" sz="2400" dirty="0">
                <a:latin typeface="Times New Roman" panose="02020603050405020304" pitchFamily="18" charset="0"/>
                <a:cs typeface="Times New Roman" panose="02020603050405020304" pitchFamily="18" charset="0"/>
              </a:rPr>
              <a:t>Software Testing is a type of investigation to find out if there is any default or error present in the software so that the errors can be reduced or removed to increase the quality of the software and to check whether it fulfills the specifies requirements or not</a:t>
            </a:r>
            <a:r>
              <a:rPr lang="en-US" sz="2400"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The process of investigating and checking a program to find whether there is an error or not and does it fulfill the requirements or not is called testing.</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When the number of errors found during the testing is high, it indicates that the testing was good and is a sign of good test case.</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Finding an unknown error that’s wasn’t discovered yet is a sign of a successful and a good test case</a:t>
            </a:r>
            <a:r>
              <a:rPr lang="en-US" sz="2400"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The main objective of software testing is to design the tests in such a way that it systematically finds different types of errors without taking much time and effort so that less time is required for the development of the software.</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11923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APPROACH TO SOFTWARE TESTING</a:t>
            </a:r>
            <a:endParaRPr lang="en-IN" sz="28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Lightbox"/>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1371402"/>
            <a:ext cx="8839200" cy="4572396"/>
          </a:xfrm>
          <a:prstGeom prst="rect">
            <a:avLst/>
          </a:prstGeom>
          <a:noFill/>
          <a:ln>
            <a:noFill/>
          </a:ln>
        </p:spPr>
      </p:pic>
    </p:spTree>
    <p:extLst>
      <p:ext uri="{BB962C8B-B14F-4D97-AF65-F5344CB8AC3E}">
        <p14:creationId xmlns:p14="http://schemas.microsoft.com/office/powerpoint/2010/main" val="28436202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APPROACH TO SOFTWARE TESTING</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Specifying the objectives of testing in a clear and detailed manner.</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Several objectives of testing are there such as effectiveness that means how effectively the software can achieve the target, any failure that means inability to fulfill the requirements and perform functions, and the cost of defects or errors that mean the cost required to fix the error. All these objectives should be clearly mentioned in the test plan</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For the software, identifying the user’s category and developing a profile for each user.</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Use cases describe the interactions and communication among different classes of users and the system to achieve the target. So as to identify the actual requirement of the users and then testing the actual use of the product.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61215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APPROACH TO SOFTWARE TESTING</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Developing a test plan to give value and focus on rapid-cycle testing.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Rapid Cycle Testing is a type of test that improves quality by identifying and measuring the any changes that need to be required for improving the process of software. Therefore, a test plan is an important and effective document that helps the tester to perform rapid cycle testing.</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Robust </a:t>
            </a:r>
            <a:r>
              <a:rPr lang="en-US" sz="2400" dirty="0">
                <a:solidFill>
                  <a:srgbClr val="FF0000"/>
                </a:solidFill>
                <a:latin typeface="Times New Roman" panose="02020603050405020304" pitchFamily="18" charset="0"/>
                <a:cs typeface="Times New Roman" panose="02020603050405020304" pitchFamily="18" charset="0"/>
              </a:rPr>
              <a:t>software is developed that is designed to test itself.</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software should be capable of detecting or identifying different classes of errors. Moreover, software design should allow automated and regression testing which tests the software to find out if there is any adverse or side effect on the features of software due to any change in code or program.</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321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APPROACH TO SOFTWARE TESTING</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Before testing, using effective formal reviews as a filter.</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Formal technical reviews is technique to identify the errors that are not discovered yet. The effective technical reviews conducted before testing reduces a significant amount of testing efforts and time duration required for testing software so that the overall development time of software is reduced.</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Conduct </a:t>
            </a:r>
            <a:r>
              <a:rPr lang="en-US" sz="2400" dirty="0">
                <a:solidFill>
                  <a:srgbClr val="FF0000"/>
                </a:solidFill>
                <a:latin typeface="Times New Roman" panose="02020603050405020304" pitchFamily="18" charset="0"/>
                <a:cs typeface="Times New Roman" panose="02020603050405020304" pitchFamily="18" charset="0"/>
              </a:rPr>
              <a:t>formal technical reviews to evaluate the nature, quality or ability of the test strategy and test cases.</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formal technical review helps in detecting any unfilled gap in the testing approach. Hence, it is necessary to evaluate the ability and quality of the test strategy and test cases by technical reviewers to improve the quality of software.</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56259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APPROACH TO SOFTWARE TESTING</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buNone/>
            </a:pPr>
            <a:r>
              <a:rPr lang="en-US" sz="2400" dirty="0">
                <a:solidFill>
                  <a:srgbClr val="FF0000"/>
                </a:solidFill>
                <a:latin typeface="Times New Roman" panose="02020603050405020304" pitchFamily="18" charset="0"/>
                <a:cs typeface="Times New Roman" panose="02020603050405020304" pitchFamily="18" charset="0"/>
              </a:rPr>
              <a:t>For the testing process, developing a approach for the continuous development.</a:t>
            </a:r>
            <a:endParaRPr lang="en-IN" sz="2400" dirty="0">
              <a:solidFill>
                <a:srgbClr val="FF000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As a part of a statistical process control approach, a test strategy that is already measured should be used for software testing to measure and control the quality during the development of software.</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91130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ISSUES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marL="0" indent="0">
              <a:buNone/>
            </a:pPr>
            <a:r>
              <a:rPr lang="en-US" sz="2400" dirty="0">
                <a:latin typeface="Times New Roman" panose="02020603050405020304" pitchFamily="18" charset="0"/>
                <a:cs typeface="Times New Roman" panose="02020603050405020304" pitchFamily="18" charset="0"/>
              </a:rPr>
              <a:t>Following are the four strategies for conventional software: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 Unit testing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2) Integration testing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3) Regression testing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4) Smoke testing</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solidFill>
                  <a:srgbClr val="FF0000"/>
                </a:solidFill>
                <a:latin typeface="Times New Roman" panose="02020603050405020304" pitchFamily="18" charset="0"/>
                <a:cs typeface="Times New Roman" panose="02020603050405020304" pitchFamily="18" charset="0"/>
              </a:rPr>
              <a:t>1) Unit testing</a:t>
            </a:r>
            <a:endParaRPr lang="en-IN" sz="2400" dirty="0">
              <a:solidFill>
                <a:srgbClr val="FF0000"/>
              </a:solidFill>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Unit testing focus on the smallest unit of software design,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module or software component.</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Test strategy conducted on each module interface to access the flow of input and output.</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The local data structure is accessible to verify integrity during execution.</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p>
        </p:txBody>
      </p:sp>
    </p:spTree>
    <p:extLst>
      <p:ext uri="{BB962C8B-B14F-4D97-AF65-F5344CB8AC3E}">
        <p14:creationId xmlns:p14="http://schemas.microsoft.com/office/powerpoint/2010/main" val="26639615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ISSUES</a:t>
            </a:r>
            <a:endParaRPr lang="en-IN" sz="28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unit testing"/>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95400" y="2028825"/>
            <a:ext cx="4191000" cy="3257550"/>
          </a:xfrm>
          <a:prstGeom prst="rect">
            <a:avLst/>
          </a:prstGeom>
          <a:noFill/>
          <a:ln>
            <a:noFill/>
          </a:ln>
        </p:spPr>
      </p:pic>
    </p:spTree>
    <p:extLst>
      <p:ext uri="{BB962C8B-B14F-4D97-AF65-F5344CB8AC3E}">
        <p14:creationId xmlns:p14="http://schemas.microsoft.com/office/powerpoint/2010/main" val="23912702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ISSUES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buNone/>
            </a:pPr>
            <a:r>
              <a:rPr lang="en-US" sz="2400" dirty="0" smtClean="0">
                <a:solidFill>
                  <a:srgbClr val="FF0000"/>
                </a:solidFill>
                <a:latin typeface="Times New Roman" panose="02020603050405020304" pitchFamily="18" charset="0"/>
                <a:cs typeface="Times New Roman" panose="02020603050405020304" pitchFamily="18" charset="0"/>
              </a:rPr>
              <a:t>2) Integration </a:t>
            </a:r>
            <a:r>
              <a:rPr lang="en-US" sz="2400" dirty="0">
                <a:solidFill>
                  <a:srgbClr val="FF0000"/>
                </a:solidFill>
                <a:latin typeface="Times New Roman" panose="02020603050405020304" pitchFamily="18" charset="0"/>
                <a:cs typeface="Times New Roman" panose="02020603050405020304" pitchFamily="18" charset="0"/>
              </a:rPr>
              <a:t>testing</a:t>
            </a:r>
            <a:endParaRPr lang="en-IN" sz="2400" dirty="0">
              <a:solidFill>
                <a:srgbClr val="FF000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Integration testing is used for the construction of software architecture.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There are two approaches of incremental testing are:</a:t>
            </a:r>
            <a:br>
              <a:rPr lang="en-US" sz="2400" dirty="0">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Non incremental integration testing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ii) Incremental integration testing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err="1">
                <a:solidFill>
                  <a:srgbClr val="FF0000"/>
                </a:solidFill>
                <a:latin typeface="Times New Roman" panose="02020603050405020304" pitchFamily="18" charset="0"/>
                <a:cs typeface="Times New Roman" panose="02020603050405020304" pitchFamily="18" charset="0"/>
              </a:rPr>
              <a:t>i</a:t>
            </a:r>
            <a:r>
              <a:rPr lang="en-US" sz="2400" dirty="0">
                <a:solidFill>
                  <a:srgbClr val="FF0000"/>
                </a:solidFill>
                <a:latin typeface="Times New Roman" panose="02020603050405020304" pitchFamily="18" charset="0"/>
                <a:cs typeface="Times New Roman" panose="02020603050405020304" pitchFamily="18" charset="0"/>
              </a:rPr>
              <a:t>) Non incremental integration testing</a:t>
            </a:r>
            <a:endParaRPr lang="en-IN" sz="2400" dirty="0">
              <a:solidFill>
                <a:srgbClr val="FF0000"/>
              </a:solidFill>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Combines all the components in advanced.</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A set of error is occurred then the correction is difficult because isolation cause is complex.</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solidFill>
                  <a:srgbClr val="FF0000"/>
                </a:solidFill>
                <a:latin typeface="Times New Roman" panose="02020603050405020304" pitchFamily="18" charset="0"/>
                <a:cs typeface="Times New Roman" panose="02020603050405020304" pitchFamily="18" charset="0"/>
              </a:rPr>
              <a:t>ii) Incremental integration testing</a:t>
            </a:r>
            <a:endParaRPr lang="en-IN" sz="2400" dirty="0">
              <a:solidFill>
                <a:srgbClr val="FF0000"/>
              </a:solidFill>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The programs are built and tested in small increments.</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The errors are easier to correct and isolate.</a:t>
            </a:r>
            <a:endParaRPr lang="en-IN" sz="2400" dirty="0">
              <a:latin typeface="Times New Roman" panose="02020603050405020304" pitchFamily="18" charset="0"/>
              <a:cs typeface="Times New Roman" panose="02020603050405020304" pitchFamily="18" charset="0"/>
            </a:endParaRPr>
          </a:p>
          <a:p>
            <a:pPr marL="0" lv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1620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ISSUES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buNone/>
            </a:pPr>
            <a:r>
              <a:rPr lang="en-US" sz="2400" dirty="0">
                <a:latin typeface="Times New Roman" panose="02020603050405020304" pitchFamily="18" charset="0"/>
                <a:cs typeface="Times New Roman" panose="02020603050405020304" pitchFamily="18" charset="0"/>
              </a:rPr>
              <a:t>Following are the incremental integration strategies: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Top-down integration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 Bottom-up integration</a:t>
            </a:r>
            <a:endParaRPr lang="en-IN" sz="2400" dirty="0">
              <a:latin typeface="Times New Roman" panose="02020603050405020304" pitchFamily="18" charset="0"/>
              <a:cs typeface="Times New Roman" panose="02020603050405020304" pitchFamily="18" charset="0"/>
            </a:endParaRPr>
          </a:p>
          <a:p>
            <a:pPr marL="0" indent="0">
              <a:buNone/>
            </a:pP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dirty="0" smtClean="0">
                <a:solidFill>
                  <a:srgbClr val="FF0000"/>
                </a:solidFill>
                <a:latin typeface="Times New Roman" panose="02020603050405020304" pitchFamily="18" charset="0"/>
                <a:cs typeface="Times New Roman" panose="02020603050405020304" pitchFamily="18" charset="0"/>
              </a:rPr>
              <a:t>a</a:t>
            </a:r>
            <a:r>
              <a:rPr lang="en-US" sz="2400" dirty="0">
                <a:solidFill>
                  <a:srgbClr val="FF0000"/>
                </a:solidFill>
                <a:latin typeface="Times New Roman" panose="02020603050405020304" pitchFamily="18" charset="0"/>
                <a:cs typeface="Times New Roman" panose="02020603050405020304" pitchFamily="18" charset="0"/>
              </a:rPr>
              <a:t>. Top-down integration</a:t>
            </a:r>
            <a:endParaRPr lang="en-IN" sz="2400" dirty="0">
              <a:solidFill>
                <a:srgbClr val="FF0000"/>
              </a:solidFill>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It is an incremental approach for building the software architecture.</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It starts with the main control module or program.</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Modules are merged by moving downward through the control hierarchy.</a:t>
            </a:r>
            <a:endParaRPr lang="en-IN" sz="2400" dirty="0">
              <a:latin typeface="Times New Roman" panose="02020603050405020304" pitchFamily="18" charset="0"/>
              <a:cs typeface="Times New Roman" panose="02020603050405020304" pitchFamily="18" charset="0"/>
            </a:endParaRPr>
          </a:p>
          <a:p>
            <a:pPr marL="0" lv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5420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ISSUES</a:t>
            </a:r>
            <a:endParaRPr lang="en-IN" sz="28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top down integration"/>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676400" y="1371600"/>
            <a:ext cx="4148137" cy="4724399"/>
          </a:xfrm>
          <a:prstGeom prst="rect">
            <a:avLst/>
          </a:prstGeom>
          <a:noFill/>
          <a:ln>
            <a:noFill/>
          </a:ln>
        </p:spPr>
      </p:pic>
    </p:spTree>
    <p:extLst>
      <p:ext uri="{BB962C8B-B14F-4D97-AF65-F5344CB8AC3E}">
        <p14:creationId xmlns:p14="http://schemas.microsoft.com/office/powerpoint/2010/main" val="15885891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ISSUES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buNone/>
            </a:pPr>
            <a:r>
              <a:rPr lang="en-US" sz="2400" dirty="0">
                <a:latin typeface="Times New Roman" panose="02020603050405020304" pitchFamily="18" charset="0"/>
                <a:cs typeface="Times New Roman" panose="02020603050405020304" pitchFamily="18" charset="0"/>
              </a:rPr>
              <a:t>Problems with top-down approach of </a:t>
            </a:r>
            <a:r>
              <a:rPr lang="en-US" sz="2400" dirty="0" smtClean="0">
                <a:latin typeface="Times New Roman" panose="02020603050405020304" pitchFamily="18" charset="0"/>
                <a:cs typeface="Times New Roman" panose="02020603050405020304" pitchFamily="18" charset="0"/>
              </a:rPr>
              <a:t>testing</a:t>
            </a:r>
            <a:r>
              <a:rPr lang="en-IN" sz="2400" dirty="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are</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Top-down approach is an incremental integration testing approach in which the test conditions are difficult to create.</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A set of errors occur, then correction is difficult to make due to the isolation of cause.</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The programs are expanded into various modules due to the complications.</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If the previous errors are corrected, then new get created and the process continues. This situation is like an infinite loop.</a:t>
            </a:r>
            <a:endParaRPr lang="en-IN" sz="2400" dirty="0">
              <a:latin typeface="Times New Roman" panose="02020603050405020304" pitchFamily="18" charset="0"/>
              <a:cs typeface="Times New Roman" panose="02020603050405020304" pitchFamily="18" charset="0"/>
            </a:endParaRPr>
          </a:p>
          <a:p>
            <a:pPr marL="0" lv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28180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ISSUES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buNone/>
            </a:pPr>
            <a:r>
              <a:rPr lang="en-US" sz="2400" dirty="0">
                <a:solidFill>
                  <a:srgbClr val="FF0000"/>
                </a:solidFill>
                <a:latin typeface="Times New Roman" panose="02020603050405020304" pitchFamily="18" charset="0"/>
                <a:cs typeface="Times New Roman" panose="02020603050405020304" pitchFamily="18" charset="0"/>
              </a:rPr>
              <a:t>b. Bottom-up integration</a:t>
            </a:r>
            <a:endParaRPr lang="en-IN" sz="2400" dirty="0">
              <a:solidFill>
                <a:srgbClr val="FF000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 bottom up integration testing the components are combined from the lowest level in the program structure.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bottom-up integration is implemented in following steps:</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The low level components are merged into clusters which perform a specific software sub function.</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A control program for testing(driver) coordinate test case input and output.</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After these steps are tested in cluster.</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The driver is removed and clusters are merged by moving upward on the program structure.</a:t>
            </a:r>
            <a:endParaRPr lang="en-IN" sz="2400" dirty="0">
              <a:latin typeface="Times New Roman" panose="02020603050405020304" pitchFamily="18" charset="0"/>
              <a:cs typeface="Times New Roman" panose="02020603050405020304" pitchFamily="18" charset="0"/>
            </a:endParaRPr>
          </a:p>
          <a:p>
            <a:pPr marL="0" lv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60847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ISSUES</a:t>
            </a:r>
            <a:endParaRPr lang="en-IN" sz="28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bottom up integration"/>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52600" y="1143001"/>
            <a:ext cx="4262437" cy="4291012"/>
          </a:xfrm>
          <a:prstGeom prst="rect">
            <a:avLst/>
          </a:prstGeom>
          <a:noFill/>
          <a:ln>
            <a:noFill/>
          </a:ln>
        </p:spPr>
      </p:pic>
    </p:spTree>
    <p:extLst>
      <p:ext uri="{BB962C8B-B14F-4D97-AF65-F5344CB8AC3E}">
        <p14:creationId xmlns:p14="http://schemas.microsoft.com/office/powerpoint/2010/main" val="4114668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STRATEGIC ISSUES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buNone/>
            </a:pPr>
            <a:r>
              <a:rPr lang="en-US" sz="2400" dirty="0" smtClean="0">
                <a:solidFill>
                  <a:srgbClr val="FF0000"/>
                </a:solidFill>
                <a:latin typeface="Times New Roman" panose="02020603050405020304" pitchFamily="18" charset="0"/>
                <a:cs typeface="Times New Roman" panose="02020603050405020304" pitchFamily="18" charset="0"/>
              </a:rPr>
              <a:t>3) Regression </a:t>
            </a:r>
            <a:r>
              <a:rPr lang="en-US" sz="2400" dirty="0">
                <a:solidFill>
                  <a:srgbClr val="FF0000"/>
                </a:solidFill>
                <a:latin typeface="Times New Roman" panose="02020603050405020304" pitchFamily="18" charset="0"/>
                <a:cs typeface="Times New Roman" panose="02020603050405020304" pitchFamily="18" charset="0"/>
              </a:rPr>
              <a:t>testing</a:t>
            </a:r>
            <a:endParaRPr lang="en-IN" sz="2400" dirty="0">
              <a:solidFill>
                <a:srgbClr val="FF0000"/>
              </a:solidFill>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In regression testing the software architecture changes every time when a new module is added as part of integration testing</a:t>
            </a:r>
            <a:r>
              <a:rPr lang="en-US" sz="2400" dirty="0" smtClean="0">
                <a:latin typeface="Times New Roman" panose="02020603050405020304" pitchFamily="18" charset="0"/>
                <a:cs typeface="Times New Roman" panose="02020603050405020304" pitchFamily="18" charset="0"/>
              </a:rPr>
              <a:t>.</a:t>
            </a:r>
          </a:p>
          <a:p>
            <a:pPr marL="0" lvl="0" indent="0">
              <a:buNone/>
            </a:pPr>
            <a:endParaRPr lang="en-IN" sz="2400" dirty="0">
              <a:latin typeface="Times New Roman" panose="02020603050405020304" pitchFamily="18" charset="0"/>
              <a:cs typeface="Times New Roman" panose="02020603050405020304" pitchFamily="18" charset="0"/>
            </a:endParaRPr>
          </a:p>
          <a:p>
            <a:pPr marL="0" indent="0">
              <a:buNone/>
            </a:pPr>
            <a:r>
              <a:rPr lang="en-US" sz="2400" dirty="0">
                <a:solidFill>
                  <a:srgbClr val="FF0000"/>
                </a:solidFill>
                <a:latin typeface="Times New Roman" panose="02020603050405020304" pitchFamily="18" charset="0"/>
                <a:cs typeface="Times New Roman" panose="02020603050405020304" pitchFamily="18" charset="0"/>
              </a:rPr>
              <a:t>4) </a:t>
            </a:r>
            <a:r>
              <a:rPr lang="en-US" sz="2400" dirty="0" smtClean="0">
                <a:solidFill>
                  <a:srgbClr val="FF0000"/>
                </a:solidFill>
                <a:latin typeface="Times New Roman" panose="02020603050405020304" pitchFamily="18" charset="0"/>
                <a:cs typeface="Times New Roman" panose="02020603050405020304" pitchFamily="18" charset="0"/>
              </a:rPr>
              <a:t>Smoke </a:t>
            </a:r>
            <a:r>
              <a:rPr lang="en-US" sz="2400" dirty="0">
                <a:solidFill>
                  <a:srgbClr val="FF0000"/>
                </a:solidFill>
                <a:latin typeface="Times New Roman" panose="02020603050405020304" pitchFamily="18" charset="0"/>
                <a:cs typeface="Times New Roman" panose="02020603050405020304" pitchFamily="18" charset="0"/>
              </a:rPr>
              <a:t>testing</a:t>
            </a:r>
            <a:endParaRPr lang="en-IN" sz="2400" dirty="0">
              <a:solidFill>
                <a:srgbClr val="FF0000"/>
              </a:solidFill>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The developed software component are translated into code and merge to complete the product</a:t>
            </a:r>
            <a:r>
              <a:rPr lang="en-US" sz="2400" dirty="0"/>
              <a:t>.</a:t>
            </a:r>
            <a:endParaRPr lang="en-IN" sz="2400" dirty="0"/>
          </a:p>
        </p:txBody>
      </p:sp>
    </p:spTree>
    <p:extLst>
      <p:ext uri="{BB962C8B-B14F-4D97-AF65-F5344CB8AC3E}">
        <p14:creationId xmlns:p14="http://schemas.microsoft.com/office/powerpoint/2010/main" val="14555958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A TEST STRATEGY FOR CONVENTIONAL SOFTWARE</a:t>
            </a:r>
            <a:endParaRPr lang="en-IN" sz="2800" dirty="0">
              <a:solidFill>
                <a:srgbClr val="FF0000"/>
              </a:solidFill>
              <a:latin typeface="Times New Roman" panose="02020603050405020304" pitchFamily="18" charset="0"/>
              <a:cs typeface="Times New Roman" panose="02020603050405020304" pitchFamily="18" charset="0"/>
            </a:endParaRPr>
          </a:p>
        </p:txBody>
      </p:sp>
      <p:pic>
        <p:nvPicPr>
          <p:cNvPr id="1026"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6318" y="685800"/>
            <a:ext cx="64008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71548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a:solidFill>
                  <a:srgbClr val="FF0000"/>
                </a:solidFill>
                <a:latin typeface="Times New Roman" panose="02020603050405020304" pitchFamily="18" charset="0"/>
                <a:cs typeface="Times New Roman" panose="02020603050405020304" pitchFamily="18" charset="0"/>
              </a:rPr>
              <a:t>A TEST STRATEGY FOR CONVENTIONAL SOFTWARE</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Unit testing starts at the middle of the spiral and concentrates on the software's components as they are written in the source code.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Proceeding </a:t>
            </a:r>
            <a:r>
              <a:rPr lang="en-US" sz="2400" dirty="0">
                <a:latin typeface="Times New Roman" panose="02020603050405020304" pitchFamily="18" charset="0"/>
                <a:cs typeface="Times New Roman" panose="02020603050405020304" pitchFamily="18" charset="0"/>
              </a:rPr>
              <a:t>in a different direction down the spiral, we encounter integration testing, which is concerned with the planning and building of software architecture.  </a:t>
            </a:r>
          </a:p>
          <a:p>
            <a:pPr algn="just"/>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Next, validation testing is introduced, which compares requirements that have been established during software requirements analysis with software that has already been developed. </a:t>
            </a:r>
          </a:p>
          <a:p>
            <a:pPr algn="just"/>
            <a:r>
              <a:rPr lang="en-US" sz="2400" dirty="0" smtClean="0">
                <a:latin typeface="Times New Roman" panose="02020603050405020304" pitchFamily="18" charset="0"/>
                <a:cs typeface="Times New Roman" panose="02020603050405020304" pitchFamily="18" charset="0"/>
              </a:rPr>
              <a:t>Finally</a:t>
            </a:r>
            <a:r>
              <a:rPr lang="en-US" sz="2400" dirty="0">
                <a:latin typeface="Times New Roman" panose="02020603050405020304" pitchFamily="18" charset="0"/>
                <a:cs typeface="Times New Roman" panose="02020603050405020304" pitchFamily="18" charset="0"/>
              </a:rPr>
              <a:t>, we come across verification testing, which verifies that software that has been constructed satisfies requirements that were determined during software requirements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88476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a:solidFill>
                  <a:srgbClr val="FF0000"/>
                </a:solidFill>
                <a:latin typeface="Times New Roman" panose="02020603050405020304" pitchFamily="18" charset="0"/>
                <a:cs typeface="Times New Roman" panose="02020603050405020304" pitchFamily="18" charset="0"/>
              </a:rPr>
              <a:t>A TEST STRATEGY FOR CONVENTIONAL SOFTWARE</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There are many different ways to test software, thus some of the available options are as follows: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 software team could wait until the system is completely built, and then they could run tests on the system to look for faults. </a:t>
            </a:r>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strategy is not effective in the majority of situations.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(ii) A software engineer might be able to run tests every day anytime any component of the system is being built </a:t>
            </a:r>
            <a:r>
              <a:rPr lang="en-IN" sz="2400"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strategy has the potential to yield excellent results. But the majority of software engineers are reluctant to make use of it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(iii) The majority of software teams opt for a testing technique that lies somewhere in the middle of the two extremes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38732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a:solidFill>
                  <a:srgbClr val="FF0000"/>
                </a:solidFill>
                <a:latin typeface="Times New Roman" panose="02020603050405020304" pitchFamily="18" charset="0"/>
                <a:cs typeface="Times New Roman" panose="02020603050405020304" pitchFamily="18" charset="0"/>
              </a:rPr>
              <a:t>A TEST STRATEGY FOR </a:t>
            </a:r>
            <a:r>
              <a:rPr lang="en-US" sz="2400" dirty="0" smtClean="0">
                <a:solidFill>
                  <a:srgbClr val="FF0000"/>
                </a:solidFill>
                <a:latin typeface="Times New Roman" panose="02020603050405020304" pitchFamily="18" charset="0"/>
                <a:cs typeface="Times New Roman" panose="02020603050405020304" pitchFamily="18" charset="0"/>
              </a:rPr>
              <a:t>OBJECT ORIENTED </a:t>
            </a:r>
            <a:r>
              <a:rPr lang="en-US" sz="2400" dirty="0">
                <a:solidFill>
                  <a:srgbClr val="FF0000"/>
                </a:solidFill>
                <a:latin typeface="Times New Roman" panose="02020603050405020304" pitchFamily="18" charset="0"/>
                <a:cs typeface="Times New Roman" panose="02020603050405020304" pitchFamily="18" charset="0"/>
              </a:rPr>
              <a:t>SOFTWARE</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Techniques of object-oriented testing are as follows</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Fault Based Testing: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type of checking permits for coming up with test cases supported the consumer specification or the code or both. It tries to identify possible </a:t>
            </a:r>
            <a:r>
              <a:rPr lang="en-US" sz="2400" dirty="0" smtClean="0">
                <a:latin typeface="Times New Roman" panose="02020603050405020304" pitchFamily="18" charset="0"/>
                <a:cs typeface="Times New Roman" panose="02020603050405020304" pitchFamily="18" charset="0"/>
              </a:rPr>
              <a:t>faults. </a:t>
            </a:r>
            <a:r>
              <a:rPr lang="en-US" sz="2400" dirty="0">
                <a:latin typeface="Times New Roman" panose="02020603050405020304" pitchFamily="18" charset="0"/>
                <a:cs typeface="Times New Roman" panose="02020603050405020304" pitchFamily="18" charset="0"/>
              </a:rPr>
              <a:t>For all of these faults, a test case is developed to “flush” the errors out. These tests also force each time of code to be executed</a:t>
            </a:r>
            <a:r>
              <a:rPr lang="en-US" sz="2400"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This method of testing does not find all types of errors. However, incorrect specification and interface errors can be missed.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These </a:t>
            </a:r>
            <a:r>
              <a:rPr lang="en-US" sz="2400" dirty="0">
                <a:latin typeface="Times New Roman" panose="02020603050405020304" pitchFamily="18" charset="0"/>
                <a:cs typeface="Times New Roman" panose="02020603050405020304" pitchFamily="18" charset="0"/>
              </a:rPr>
              <a:t>types of errors can be uncovered by function testing in the traditional testing model. In the object-oriented model, interaction errors can be uncovered by scenario-based testing.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form of Object oriented-testing can only test against the client’s specifications, so interface errors are still missed.</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9679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a:solidFill>
                  <a:srgbClr val="FF0000"/>
                </a:solidFill>
                <a:latin typeface="Times New Roman" panose="02020603050405020304" pitchFamily="18" charset="0"/>
                <a:cs typeface="Times New Roman" panose="02020603050405020304" pitchFamily="18" charset="0"/>
              </a:rPr>
              <a:t>A TEST STRATEGY FOR </a:t>
            </a:r>
            <a:r>
              <a:rPr lang="en-US" sz="2400" dirty="0" smtClean="0">
                <a:solidFill>
                  <a:srgbClr val="FF0000"/>
                </a:solidFill>
                <a:latin typeface="Times New Roman" panose="02020603050405020304" pitchFamily="18" charset="0"/>
                <a:cs typeface="Times New Roman" panose="02020603050405020304" pitchFamily="18" charset="0"/>
              </a:rPr>
              <a:t>OBJECT ORIENTED </a:t>
            </a:r>
            <a:r>
              <a:rPr lang="en-US" sz="2400" dirty="0">
                <a:solidFill>
                  <a:srgbClr val="FF0000"/>
                </a:solidFill>
                <a:latin typeface="Times New Roman" panose="02020603050405020304" pitchFamily="18" charset="0"/>
                <a:cs typeface="Times New Roman" panose="02020603050405020304" pitchFamily="18" charset="0"/>
              </a:rPr>
              <a:t>SOFTWARE</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Class Testing Based on Method Testing: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approach is the simplest approach to test classes. Each method of the class performs a well defined cohesive function and can, therefore, be related to unit testing of the traditional testing techniques. Therefore all the methods of a class can be involved at least once to test the class.</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Random </a:t>
            </a:r>
            <a:r>
              <a:rPr lang="en-US" sz="2400" dirty="0">
                <a:solidFill>
                  <a:srgbClr val="FF0000"/>
                </a:solidFill>
                <a:latin typeface="Times New Roman" panose="02020603050405020304" pitchFamily="18" charset="0"/>
                <a:cs typeface="Times New Roman" panose="02020603050405020304" pitchFamily="18" charset="0"/>
              </a:rPr>
              <a:t>Testing: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is supported by developing a random test sequence that tries the minimum variety of operations typical to the behavior of the categories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267366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a:solidFill>
                  <a:srgbClr val="FF0000"/>
                </a:solidFill>
                <a:latin typeface="Times New Roman" panose="02020603050405020304" pitchFamily="18" charset="0"/>
                <a:cs typeface="Times New Roman" panose="02020603050405020304" pitchFamily="18" charset="0"/>
              </a:rPr>
              <a:t>A TEST STRATEGY FOR </a:t>
            </a:r>
            <a:r>
              <a:rPr lang="en-US" sz="2400" dirty="0" smtClean="0">
                <a:solidFill>
                  <a:srgbClr val="FF0000"/>
                </a:solidFill>
                <a:latin typeface="Times New Roman" panose="02020603050405020304" pitchFamily="18" charset="0"/>
                <a:cs typeface="Times New Roman" panose="02020603050405020304" pitchFamily="18" charset="0"/>
              </a:rPr>
              <a:t>OBJECT ORIENTED </a:t>
            </a:r>
            <a:r>
              <a:rPr lang="en-US" sz="2400" dirty="0">
                <a:solidFill>
                  <a:srgbClr val="FF0000"/>
                </a:solidFill>
                <a:latin typeface="Times New Roman" panose="02020603050405020304" pitchFamily="18" charset="0"/>
                <a:cs typeface="Times New Roman" panose="02020603050405020304" pitchFamily="18" charset="0"/>
              </a:rPr>
              <a:t>SOFTWARE</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Partition Testing: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methodology categorizes the inputs and outputs of a category so as to check them severely. This minimizes the number of cases that have to be designed</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Scenario-based Testing: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primarily involves capturing the user actions then stimulating them to similar actions throughout the test.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84430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VALIDATION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algn="just"/>
            <a:r>
              <a:rPr lang="en-US" sz="2400" dirty="0">
                <a:latin typeface="Times New Roman" panose="02020603050405020304" pitchFamily="18" charset="0"/>
                <a:cs typeface="Times New Roman" panose="02020603050405020304" pitchFamily="18" charset="0"/>
              </a:rPr>
              <a:t>The process of evaluating software during the development process or at the end of the development process to determine whether it satisfies specified business requirements.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Validation Testing ensures that the product actually meets the client's needs. It can also be defined as to demonstrate that the product fulfills its intended use when deployed on appropriate environment</a:t>
            </a:r>
            <a:r>
              <a:rPr lang="en-US" sz="2400" dirty="0" smtClean="0">
                <a:latin typeface="Times New Roman" panose="02020603050405020304" pitchFamily="18" charset="0"/>
                <a:cs typeface="Times New Roman" panose="02020603050405020304" pitchFamily="18" charset="0"/>
              </a:rPr>
              <a:t>.</a:t>
            </a:r>
            <a:r>
              <a:rPr lang="en-US" sz="2400" dirty="0"/>
              <a:t> </a:t>
            </a:r>
            <a:r>
              <a:rPr lang="en-US" sz="2400" dirty="0">
                <a:latin typeface="Times New Roman" panose="02020603050405020304" pitchFamily="18" charset="0"/>
                <a:cs typeface="Times New Roman" panose="02020603050405020304" pitchFamily="18" charset="0"/>
              </a:rPr>
              <a:t>Validation testing can be best demonstrated using V-Model.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Software/product under test is evaluated during this type of testing.</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78942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VALIDATION TESTING </a:t>
            </a:r>
            <a:endParaRPr lang="en-IN" sz="24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validation testing in Test Life Cycle"/>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81000" y="990600"/>
            <a:ext cx="8153400" cy="5257799"/>
          </a:xfrm>
          <a:prstGeom prst="rect">
            <a:avLst/>
          </a:prstGeom>
          <a:noFill/>
          <a:ln>
            <a:noFill/>
          </a:ln>
        </p:spPr>
      </p:pic>
    </p:spTree>
    <p:extLst>
      <p:ext uri="{BB962C8B-B14F-4D97-AF65-F5344CB8AC3E}">
        <p14:creationId xmlns:p14="http://schemas.microsoft.com/office/powerpoint/2010/main" val="2526831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SYSTEM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algn="just"/>
            <a:r>
              <a:rPr lang="en-US" sz="2400" dirty="0">
                <a:latin typeface="Times New Roman" panose="02020603050405020304" pitchFamily="18" charset="0"/>
                <a:cs typeface="Times New Roman" panose="02020603050405020304" pitchFamily="18" charset="0"/>
              </a:rPr>
              <a:t>System Testing is a type of software testing that is performed on a complete integrated system to evaluate the compliance of the system with the corresponding requirements. In system testing, integration testing passed components are taken as input</a:t>
            </a:r>
            <a:r>
              <a:rPr lang="en-US" sz="2400" dirty="0" smtClean="0">
                <a:latin typeface="Times New Roman" panose="02020603050405020304" pitchFamily="18" charset="0"/>
                <a:cs typeface="Times New Roman" panose="02020603050405020304" pitchFamily="18" charset="0"/>
              </a:rPr>
              <a:t>. </a:t>
            </a:r>
          </a:p>
          <a:p>
            <a:pPr algn="just"/>
            <a:r>
              <a:rPr lang="en-US" sz="2400" dirty="0" smtClean="0">
                <a:latin typeface="Times New Roman" panose="02020603050405020304" pitchFamily="18" charset="0"/>
                <a:cs typeface="Times New Roman" panose="02020603050405020304" pitchFamily="18" charset="0"/>
              </a:rPr>
              <a:t>System </a:t>
            </a:r>
            <a:r>
              <a:rPr lang="en-US" sz="2400" dirty="0">
                <a:latin typeface="Times New Roman" panose="02020603050405020304" pitchFamily="18" charset="0"/>
                <a:cs typeface="Times New Roman" panose="02020603050405020304" pitchFamily="18" charset="0"/>
              </a:rPr>
              <a:t>testing detects defects within both the integrated units and the whole system.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result of system testing is the observed behavior of a component or a system when it is tested. System Testing is carried out on the whole system in the context of either system requirement specifications or functional requirement specifications or in the context of both. </a:t>
            </a:r>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00149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SYSTEM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algn="just"/>
            <a:r>
              <a:rPr lang="en-US" sz="2400" dirty="0" smtClean="0">
                <a:latin typeface="Times New Roman" panose="02020603050405020304" pitchFamily="18" charset="0"/>
                <a:cs typeface="Times New Roman" panose="02020603050405020304" pitchFamily="18" charset="0"/>
              </a:rPr>
              <a:t>System </a:t>
            </a:r>
            <a:r>
              <a:rPr lang="en-US" sz="2400" dirty="0">
                <a:latin typeface="Times New Roman" panose="02020603050405020304" pitchFamily="18" charset="0"/>
                <a:cs typeface="Times New Roman" panose="02020603050405020304" pitchFamily="18" charset="0"/>
              </a:rPr>
              <a:t>testing tests the design and behavior of the system and also the expectations of the customer. It is performed to test the system beyond the bounds mentioned in the software requirements specification (SRS</a:t>
            </a:r>
            <a:r>
              <a:rPr lang="en-US" sz="2400" dirty="0" smtClean="0">
                <a:latin typeface="Times New Roman" panose="02020603050405020304" pitchFamily="18" charset="0"/>
                <a:cs typeface="Times New Roman" panose="02020603050405020304" pitchFamily="18" charset="0"/>
              </a:rPr>
              <a:t>).</a:t>
            </a:r>
          </a:p>
          <a:p>
            <a:pPr algn="just"/>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System Testing is basically performed by a testing team that is independent of the development team that helps to test the quality of the system impartial.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has both functional and non-functional testing. System Testing is a black-box testing. System Testing is performed after the integration testing and before the acceptance testing.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03885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SYSTEM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r>
              <a:rPr lang="en-US" sz="2400" dirty="0">
                <a:solidFill>
                  <a:srgbClr val="FF0000"/>
                </a:solidFill>
                <a:latin typeface="Times New Roman" panose="02020603050405020304" pitchFamily="18" charset="0"/>
                <a:cs typeface="Times New Roman" panose="02020603050405020304" pitchFamily="18" charset="0"/>
              </a:rPr>
              <a:t>System Testing Process:</a:t>
            </a:r>
            <a:r>
              <a:rPr lang="en-US" sz="2400" dirty="0">
                <a:latin typeface="Times New Roman" panose="02020603050405020304" pitchFamily="18" charset="0"/>
                <a:cs typeface="Times New Roman" panose="02020603050405020304" pitchFamily="18" charset="0"/>
              </a:rPr>
              <a:t> System Testing is performed in the following steps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Test Environment Setup:</a:t>
            </a:r>
            <a:r>
              <a:rPr lang="en-US" sz="2400" dirty="0">
                <a:latin typeface="Times New Roman" panose="02020603050405020304" pitchFamily="18" charset="0"/>
                <a:cs typeface="Times New Roman" panose="02020603050405020304" pitchFamily="18" charset="0"/>
              </a:rPr>
              <a:t> Create testing environment for the better quality testing.</a:t>
            </a:r>
            <a:endParaRPr lang="en-IN"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Create Test Case:</a:t>
            </a:r>
            <a:r>
              <a:rPr lang="en-US" sz="2400" dirty="0">
                <a:latin typeface="Times New Roman" panose="02020603050405020304" pitchFamily="18" charset="0"/>
                <a:cs typeface="Times New Roman" panose="02020603050405020304" pitchFamily="18" charset="0"/>
              </a:rPr>
              <a:t> Generate test case for the testing process.</a:t>
            </a:r>
            <a:endParaRPr lang="en-IN"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Create Test Data:</a:t>
            </a:r>
            <a:r>
              <a:rPr lang="en-US" sz="2400" dirty="0">
                <a:latin typeface="Times New Roman" panose="02020603050405020304" pitchFamily="18" charset="0"/>
                <a:cs typeface="Times New Roman" panose="02020603050405020304" pitchFamily="18" charset="0"/>
              </a:rPr>
              <a:t> Generate the data that is to be tested.</a:t>
            </a:r>
            <a:endParaRPr lang="en-IN"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Execute Test Case:</a:t>
            </a:r>
            <a:r>
              <a:rPr lang="en-US" sz="2400" dirty="0">
                <a:latin typeface="Times New Roman" panose="02020603050405020304" pitchFamily="18" charset="0"/>
                <a:cs typeface="Times New Roman" panose="02020603050405020304" pitchFamily="18" charset="0"/>
              </a:rPr>
              <a:t> After the generation of the test case and the test data, test cases are executed.</a:t>
            </a:r>
            <a:endParaRPr lang="en-IN"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Defect Reporting:</a:t>
            </a:r>
            <a:r>
              <a:rPr lang="en-US" sz="2400" dirty="0">
                <a:latin typeface="Times New Roman" panose="02020603050405020304" pitchFamily="18" charset="0"/>
                <a:cs typeface="Times New Roman" panose="02020603050405020304" pitchFamily="18" charset="0"/>
              </a:rPr>
              <a:t> Defects in the system are detected.</a:t>
            </a:r>
            <a:endParaRPr lang="en-IN"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Regression Testing:</a:t>
            </a:r>
            <a:r>
              <a:rPr lang="en-US" sz="2400" dirty="0">
                <a:latin typeface="Times New Roman" panose="02020603050405020304" pitchFamily="18" charset="0"/>
                <a:cs typeface="Times New Roman" panose="02020603050405020304" pitchFamily="18" charset="0"/>
              </a:rPr>
              <a:t> It is carried out to test the side effects of the testing process.</a:t>
            </a:r>
            <a:endParaRPr lang="en-IN"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Log Defects:</a:t>
            </a:r>
            <a:r>
              <a:rPr lang="en-US" sz="2400" dirty="0">
                <a:latin typeface="Times New Roman" panose="02020603050405020304" pitchFamily="18" charset="0"/>
                <a:cs typeface="Times New Roman" panose="02020603050405020304" pitchFamily="18" charset="0"/>
              </a:rPr>
              <a:t> Defects are fixed in this step.</a:t>
            </a:r>
            <a:endParaRPr lang="en-IN"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Retest:</a:t>
            </a:r>
            <a:r>
              <a:rPr lang="en-US" sz="2400" dirty="0">
                <a:latin typeface="Times New Roman" panose="02020603050405020304" pitchFamily="18" charset="0"/>
                <a:cs typeface="Times New Roman" panose="02020603050405020304" pitchFamily="18" charset="0"/>
              </a:rPr>
              <a:t> If the test is not successful then again test is performed</a:t>
            </a:r>
            <a:r>
              <a:rPr lang="en-US" sz="2400" dirty="0"/>
              <a:t>.</a:t>
            </a:r>
            <a:endParaRPr lang="en-IN" sz="2400" dirty="0"/>
          </a:p>
        </p:txBody>
      </p:sp>
    </p:spTree>
    <p:extLst>
      <p:ext uri="{BB962C8B-B14F-4D97-AF65-F5344CB8AC3E}">
        <p14:creationId xmlns:p14="http://schemas.microsoft.com/office/powerpoint/2010/main" val="15828570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SYSTEM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endParaRPr lang="en-IN" sz="2400" dirty="0"/>
          </a:p>
        </p:txBody>
      </p:sp>
      <p:pic>
        <p:nvPicPr>
          <p:cNvPr id="4" name="Picture 3" descr="Lightbox"/>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371600"/>
            <a:ext cx="8763000" cy="4800599"/>
          </a:xfrm>
          <a:prstGeom prst="rect">
            <a:avLst/>
          </a:prstGeom>
          <a:noFill/>
          <a:ln>
            <a:noFill/>
          </a:ln>
        </p:spPr>
      </p:pic>
    </p:spTree>
    <p:extLst>
      <p:ext uri="{BB962C8B-B14F-4D97-AF65-F5344CB8AC3E}">
        <p14:creationId xmlns:p14="http://schemas.microsoft.com/office/powerpoint/2010/main" val="9814794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SYSTEM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Types of System Testing</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FF0000"/>
                </a:solidFill>
                <a:latin typeface="Times New Roman" panose="02020603050405020304" pitchFamily="18" charset="0"/>
                <a:cs typeface="Times New Roman" panose="02020603050405020304" pitchFamily="18" charset="0"/>
              </a:rPr>
              <a:t>Performance Testing:</a:t>
            </a:r>
            <a:r>
              <a:rPr lang="en-US" sz="2400" dirty="0">
                <a:latin typeface="Times New Roman" panose="02020603050405020304" pitchFamily="18" charset="0"/>
                <a:cs typeface="Times New Roman" panose="02020603050405020304" pitchFamily="18" charset="0"/>
              </a:rPr>
              <a:t> Performance Testing is a type of software testing that is carried out to test the speed, scalability, stability and reliability of the software product or application.</a:t>
            </a: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FF0000"/>
                </a:solidFill>
                <a:latin typeface="Times New Roman" panose="02020603050405020304" pitchFamily="18" charset="0"/>
                <a:cs typeface="Times New Roman" panose="02020603050405020304" pitchFamily="18" charset="0"/>
              </a:rPr>
              <a:t>Load Testing:</a:t>
            </a:r>
            <a:r>
              <a:rPr lang="en-US" sz="2400" dirty="0">
                <a:latin typeface="Times New Roman" panose="02020603050405020304" pitchFamily="18" charset="0"/>
                <a:cs typeface="Times New Roman" panose="02020603050405020304" pitchFamily="18" charset="0"/>
              </a:rPr>
              <a:t> Load Testing is a type of software Testing which is carried out to determine the behavior of a system or software product under extreme load.</a:t>
            </a: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FF0000"/>
                </a:solidFill>
                <a:latin typeface="Times New Roman" panose="02020603050405020304" pitchFamily="18" charset="0"/>
                <a:cs typeface="Times New Roman" panose="02020603050405020304" pitchFamily="18" charset="0"/>
              </a:rPr>
              <a:t>Stress Testing:</a:t>
            </a:r>
            <a:r>
              <a:rPr lang="en-US" sz="2400" dirty="0">
                <a:latin typeface="Times New Roman" panose="02020603050405020304" pitchFamily="18" charset="0"/>
                <a:cs typeface="Times New Roman" panose="02020603050405020304" pitchFamily="18" charset="0"/>
              </a:rPr>
              <a:t> Stress Testing is a type of software testing performed to check the robustness of the system under the varying loads.</a:t>
            </a: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FF0000"/>
                </a:solidFill>
                <a:latin typeface="Times New Roman" panose="02020603050405020304" pitchFamily="18" charset="0"/>
                <a:cs typeface="Times New Roman" panose="02020603050405020304" pitchFamily="18" charset="0"/>
              </a:rPr>
              <a:t>Scalability Testing:</a:t>
            </a:r>
            <a:r>
              <a:rPr lang="en-US" sz="2400" dirty="0">
                <a:latin typeface="Times New Roman" panose="02020603050405020304" pitchFamily="18" charset="0"/>
                <a:cs typeface="Times New Roman" panose="02020603050405020304" pitchFamily="18" charset="0"/>
              </a:rPr>
              <a:t> Scalability Testing is a type of software testing which is carried out to check the performance of a software application or system in terms of its capability to scale up or scale down the number of user request load.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500655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SYSTEM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Advantages of System Testing :</a:t>
            </a:r>
            <a:endParaRPr lang="en-IN" sz="2400" dirty="0">
              <a:solidFill>
                <a:srgbClr val="FF0000"/>
              </a:solidFill>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testers do not require more knowledge of programming to carry out this testing.</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will test the entire product or software so that we will easily detect the errors or defects which cannot be identified during the unit testing and integration testing.</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testing environment is similar to that of the real time production or business environment.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checks the entire functionality of the system with different test scripts and also it covers the technical and business requirements of clients.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After this testing, the product will almost cover all the possible bugs or errors and hence the development team will confidently go ahead with acceptance testing.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420440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SYSTEM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Disadvantages of System Testing </a:t>
            </a:r>
            <a:r>
              <a:rPr lang="en-US" sz="2400" dirty="0" smtClean="0">
                <a:solidFill>
                  <a:srgbClr val="FF0000"/>
                </a:solidFill>
                <a:latin typeface="Times New Roman" panose="02020603050405020304" pitchFamily="18" charset="0"/>
                <a:cs typeface="Times New Roman" panose="02020603050405020304" pitchFamily="18" charset="0"/>
              </a:rPr>
              <a:t>:</a:t>
            </a:r>
            <a:endParaRPr lang="en-IN" sz="2400"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testing is time consuming process than another testing techniques since it checks the entire product or software.</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cost for the testing will be high since it covers the testing of entire software.</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needs good debugging tool otherwise the hidden errors will not be found.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772356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THE ART OF DEBUGGING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Debugging is the process of fixing a bug in the software. In other words, it refers to identifying, analyzing, and removing errors.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Debugging Approaches/Strategies: </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00B0F0"/>
                </a:solidFill>
                <a:latin typeface="Times New Roman" panose="02020603050405020304" pitchFamily="18" charset="0"/>
                <a:cs typeface="Times New Roman" panose="02020603050405020304" pitchFamily="18" charset="0"/>
              </a:rPr>
              <a:t>Brute Force:</a:t>
            </a:r>
            <a:r>
              <a:rPr lang="en-US" sz="2400" dirty="0">
                <a:latin typeface="Times New Roman" panose="02020603050405020304" pitchFamily="18" charset="0"/>
                <a:cs typeface="Times New Roman" panose="02020603050405020304" pitchFamily="18" charset="0"/>
              </a:rPr>
              <a:t> Study the system for a larger duration in order to understand the system. It helps the debugger to construct different representations of systems to be debugging depending on the need.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00B0F0"/>
                </a:solidFill>
                <a:latin typeface="Times New Roman" panose="02020603050405020304" pitchFamily="18" charset="0"/>
                <a:cs typeface="Times New Roman" panose="02020603050405020304" pitchFamily="18" charset="0"/>
              </a:rPr>
              <a:t>Backtracking:</a:t>
            </a:r>
            <a:r>
              <a:rPr lang="en-US" sz="2400" dirty="0">
                <a:latin typeface="Times New Roman" panose="02020603050405020304" pitchFamily="18" charset="0"/>
                <a:cs typeface="Times New Roman" panose="02020603050405020304" pitchFamily="18" charset="0"/>
              </a:rPr>
              <a:t> Backward analysis of the problem which involves tracing the program backward from the location of the failure message in order to identify the region of faulty code. A detailed study of the region is conducted to find the cause of defects.</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09761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THE ART OF DEBUGGING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algn="just"/>
            <a:r>
              <a:rPr lang="en-US" sz="2400" dirty="0">
                <a:solidFill>
                  <a:srgbClr val="00B0F0"/>
                </a:solidFill>
                <a:latin typeface="Times New Roman" panose="02020603050405020304" pitchFamily="18" charset="0"/>
                <a:cs typeface="Times New Roman" panose="02020603050405020304" pitchFamily="18" charset="0"/>
              </a:rPr>
              <a:t>Cause elimination:</a:t>
            </a:r>
            <a:r>
              <a:rPr lang="en-US" sz="2400" dirty="0">
                <a:latin typeface="Times New Roman" panose="02020603050405020304" pitchFamily="18" charset="0"/>
                <a:cs typeface="Times New Roman" panose="02020603050405020304" pitchFamily="18" charset="0"/>
              </a:rPr>
              <a:t> it introduces the concept of binary partitioning. Data related to the error occurrence are organized to isolate potential causes.</a:t>
            </a: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Debugging Tools: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Debugging tool is a computer program that is used to test and debug other programs. A lot of public domain software like </a:t>
            </a:r>
            <a:r>
              <a:rPr lang="en-US" sz="2400" dirty="0" err="1">
                <a:latin typeface="Times New Roman" panose="02020603050405020304" pitchFamily="18" charset="0"/>
                <a:cs typeface="Times New Roman" panose="02020603050405020304" pitchFamily="18" charset="0"/>
              </a:rPr>
              <a:t>gdb</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dbx</a:t>
            </a:r>
            <a:r>
              <a:rPr lang="en-US" sz="2400" dirty="0">
                <a:latin typeface="Times New Roman" panose="02020603050405020304" pitchFamily="18" charset="0"/>
                <a:cs typeface="Times New Roman" panose="02020603050405020304" pitchFamily="18" charset="0"/>
              </a:rPr>
              <a:t> are available for debugging.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They </a:t>
            </a:r>
            <a:r>
              <a:rPr lang="en-US" sz="2400" dirty="0">
                <a:latin typeface="Times New Roman" panose="02020603050405020304" pitchFamily="18" charset="0"/>
                <a:cs typeface="Times New Roman" panose="02020603050405020304" pitchFamily="18" charset="0"/>
              </a:rPr>
              <a:t>offer console-based command-line interfaces. Examples of automated debugging tools include code based tracers, profilers, interpreters, etc.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Some </a:t>
            </a:r>
            <a:r>
              <a:rPr lang="en-US" sz="2400" dirty="0">
                <a:latin typeface="Times New Roman" panose="02020603050405020304" pitchFamily="18" charset="0"/>
                <a:cs typeface="Times New Roman" panose="02020603050405020304" pitchFamily="18" charset="0"/>
              </a:rPr>
              <a:t>of the widely used debuggers are</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Radare2</a:t>
            </a:r>
            <a:endParaRPr lang="en-IN" sz="2400" dirty="0">
              <a:latin typeface="Times New Roman" panose="02020603050405020304" pitchFamily="18" charset="0"/>
              <a:cs typeface="Times New Roman" panose="02020603050405020304" pitchFamily="18" charset="0"/>
            </a:endParaRPr>
          </a:p>
          <a:p>
            <a:pPr algn="just"/>
            <a:r>
              <a:rPr lang="en-US" sz="2400" dirty="0" err="1">
                <a:latin typeface="Times New Roman" panose="02020603050405020304" pitchFamily="18" charset="0"/>
                <a:cs typeface="Times New Roman" panose="02020603050405020304" pitchFamily="18" charset="0"/>
              </a:rPr>
              <a:t>WinDbg</a:t>
            </a:r>
            <a:endParaRPr lang="en-IN" sz="2400" dirty="0">
              <a:latin typeface="Times New Roman" panose="02020603050405020304" pitchFamily="18" charset="0"/>
              <a:cs typeface="Times New Roman" panose="02020603050405020304" pitchFamily="18" charset="0"/>
            </a:endParaRPr>
          </a:p>
          <a:p>
            <a:pPr algn="just"/>
            <a:r>
              <a:rPr lang="en-US" sz="2400" dirty="0" err="1">
                <a:latin typeface="Times New Roman" panose="02020603050405020304" pitchFamily="18" charset="0"/>
                <a:cs typeface="Times New Roman" panose="02020603050405020304" pitchFamily="18" charset="0"/>
              </a:rPr>
              <a:t>Valgrind</a:t>
            </a:r>
            <a:endParaRPr lang="en-IN"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272896984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TESTING FUNDAMENTALS</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algn="just"/>
            <a:r>
              <a:rPr lang="en-US" sz="2400" dirty="0">
                <a:latin typeface="Times New Roman" panose="02020603050405020304" pitchFamily="18" charset="0"/>
                <a:cs typeface="Times New Roman" panose="02020603050405020304" pitchFamily="18" charset="0"/>
              </a:rPr>
              <a:t>SOFTWARE TESTING Fundamentals (STF) is a platform to gain (or refresh) basic knowledge in the field of Software Testing.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Software </a:t>
            </a:r>
            <a:r>
              <a:rPr lang="en-US" sz="2400" dirty="0">
                <a:latin typeface="Times New Roman" panose="02020603050405020304" pitchFamily="18" charset="0"/>
                <a:cs typeface="Times New Roman" panose="02020603050405020304" pitchFamily="18" charset="0"/>
              </a:rPr>
              <a:t>testing can be stated as the process of verifying and validating whether a software or application is bug-free, meets the technical requirements as guided by its design and development, and meets the user requirements effectively and efficiently by handling all the exceptional and boundary cases.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process of software testing aims not only at finding faults in the existing software but also at finding measures to improve the software in terms of efficiency, accuracy, and usability.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mainly aims at measuring the specification, functionality, and performance of a software program or application. </a:t>
            </a:r>
            <a:endParaRPr lang="en-IN"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145118961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TESTING FUNDAMENTALS</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Software testing can be divided into two steps: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457200" indent="-457200" algn="just">
              <a:buAutoNum type="arabicPeriod"/>
            </a:pPr>
            <a:r>
              <a:rPr lang="en-US" sz="2400" dirty="0" smtClean="0">
                <a:solidFill>
                  <a:srgbClr val="FF0000"/>
                </a:solidFill>
                <a:latin typeface="Times New Roman" panose="02020603050405020304" pitchFamily="18" charset="0"/>
                <a:cs typeface="Times New Roman" panose="02020603050405020304" pitchFamily="18" charset="0"/>
              </a:rPr>
              <a:t>Verification</a:t>
            </a:r>
            <a:r>
              <a:rPr lang="en-US" sz="2400" dirty="0">
                <a:solidFill>
                  <a:srgbClr val="FF000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it refers to the set of tasks that ensure that the software correctly implements a specific function.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2. Validation:</a:t>
            </a:r>
            <a:r>
              <a:rPr lang="en-US" sz="2400" dirty="0">
                <a:latin typeface="Times New Roman" panose="02020603050405020304" pitchFamily="18" charset="0"/>
                <a:cs typeface="Times New Roman" panose="02020603050405020304" pitchFamily="18" charset="0"/>
              </a:rPr>
              <a:t> it refers to a different set of tasks that ensure that the software that has been built is traceable to customer requirements.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Verification: “Are we building the product right?”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Validation: “Are we building the right product?” </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t> </a:t>
            </a:r>
            <a:endParaRPr lang="en-IN" sz="2400" dirty="0"/>
          </a:p>
        </p:txBody>
      </p:sp>
    </p:spTree>
    <p:extLst>
      <p:ext uri="{BB962C8B-B14F-4D97-AF65-F5344CB8AC3E}">
        <p14:creationId xmlns:p14="http://schemas.microsoft.com/office/powerpoint/2010/main" val="421135433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TESTING FUNDAMENTALS</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Software Testing can be broadly classified into two types: </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1</a:t>
            </a:r>
            <a:r>
              <a:rPr lang="en-US" sz="2400" dirty="0">
                <a:solidFill>
                  <a:srgbClr val="FF0000"/>
                </a:solidFill>
                <a:latin typeface="Times New Roman" panose="02020603050405020304" pitchFamily="18" charset="0"/>
                <a:cs typeface="Times New Roman" panose="02020603050405020304" pitchFamily="18" charset="0"/>
              </a:rPr>
              <a:t>. Manual Testing:</a:t>
            </a:r>
            <a:r>
              <a:rPr lang="en-US" sz="2400" dirty="0">
                <a:latin typeface="Times New Roman" panose="02020603050405020304" pitchFamily="18" charset="0"/>
                <a:cs typeface="Times New Roman" panose="02020603050405020304" pitchFamily="18" charset="0"/>
              </a:rPr>
              <a:t> Manual testing includes testing software manually, i.e., without using any automation tool or any script. In this type, the tester takes over the role of an end-user and tests the software to identify any unexpected behavior or bug. There are different stages for manual testing such as unit testing, integration testing, system testing, and user acceptance testing.   </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2</a:t>
            </a:r>
            <a:r>
              <a:rPr lang="en-US" sz="2400" dirty="0">
                <a:solidFill>
                  <a:srgbClr val="FF0000"/>
                </a:solidFill>
                <a:latin typeface="Times New Roman" panose="02020603050405020304" pitchFamily="18" charset="0"/>
                <a:cs typeface="Times New Roman" panose="02020603050405020304" pitchFamily="18" charset="0"/>
              </a:rPr>
              <a:t>. Automation Testing:</a:t>
            </a:r>
            <a:r>
              <a:rPr lang="en-US" sz="2400" dirty="0">
                <a:latin typeface="Times New Roman" panose="02020603050405020304" pitchFamily="18" charset="0"/>
                <a:cs typeface="Times New Roman" panose="02020603050405020304" pitchFamily="18" charset="0"/>
              </a:rPr>
              <a:t> Automation testing, which is also known as Test Automation, is when the tester writes scripts and uses another software to test the product. This process involves the automation of a manual process. Automation Testing is used to re-run the test scenarios quickly and repeatedly, that were performed manually in manual testing.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097476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TESTING FUNDAMENTALS</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Software testing techniques can be majorly classified into two categories: </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solidFill>
                  <a:srgbClr val="FF0000"/>
                </a:solidFill>
                <a:latin typeface="Times New Roman" panose="02020603050405020304" pitchFamily="18" charset="0"/>
                <a:cs typeface="Times New Roman" panose="02020603050405020304" pitchFamily="18" charset="0"/>
              </a:rPr>
              <a:t>Black </a:t>
            </a:r>
            <a:r>
              <a:rPr lang="en-US" sz="2400" dirty="0">
                <a:solidFill>
                  <a:srgbClr val="FF0000"/>
                </a:solidFill>
                <a:latin typeface="Times New Roman" panose="02020603050405020304" pitchFamily="18" charset="0"/>
                <a:cs typeface="Times New Roman" panose="02020603050405020304" pitchFamily="18" charset="0"/>
              </a:rPr>
              <a:t>Box Testing:</a:t>
            </a:r>
            <a:r>
              <a:rPr lang="en-US" sz="2400" dirty="0">
                <a:latin typeface="Times New Roman" panose="02020603050405020304" pitchFamily="18" charset="0"/>
                <a:cs typeface="Times New Roman" panose="02020603050405020304" pitchFamily="18" charset="0"/>
              </a:rPr>
              <a:t> The technique of testing in which the tester doesn’t have access to the source code of the software and is conducted at the software interface without any concern with the internal logical structure of the software is known as black-box testing. </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US" sz="2400" dirty="0" smtClean="0">
                <a:solidFill>
                  <a:srgbClr val="FF0000"/>
                </a:solidFill>
                <a:latin typeface="Times New Roman" panose="02020603050405020304" pitchFamily="18" charset="0"/>
                <a:cs typeface="Times New Roman" panose="02020603050405020304" pitchFamily="18" charset="0"/>
              </a:rPr>
              <a:t>White-Box </a:t>
            </a:r>
            <a:r>
              <a:rPr lang="en-US" sz="2400" dirty="0">
                <a:solidFill>
                  <a:srgbClr val="FF0000"/>
                </a:solidFill>
                <a:latin typeface="Times New Roman" panose="02020603050405020304" pitchFamily="18" charset="0"/>
                <a:cs typeface="Times New Roman" panose="02020603050405020304" pitchFamily="18" charset="0"/>
              </a:rPr>
              <a:t>Testing:</a:t>
            </a:r>
            <a:r>
              <a:rPr lang="en-US" sz="2400" dirty="0">
                <a:latin typeface="Times New Roman" panose="02020603050405020304" pitchFamily="18" charset="0"/>
                <a:cs typeface="Times New Roman" panose="02020603050405020304" pitchFamily="18" charset="0"/>
              </a:rPr>
              <a:t> The technique of testing in which the tester is aware of the internal workings of the product, has access to its source code, and is conducted by making sure that all internal operations are performed according to the specifications is known as white box testing.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456403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TESTING FUNDAMENTALS</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457200" lvl="1" indent="0" algn="just">
              <a:buNone/>
            </a:pPr>
            <a:r>
              <a:rPr lang="en-US" sz="2400" dirty="0">
                <a:latin typeface="Times New Roman" panose="02020603050405020304" pitchFamily="18" charset="0"/>
                <a:cs typeface="Times New Roman" panose="02020603050405020304" pitchFamily="18" charset="0"/>
              </a:rPr>
              <a:t>Software level testing can be majorly classified into 4 levels: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1. Unit Testing:</a:t>
            </a:r>
            <a:r>
              <a:rPr lang="en-US" sz="2400" dirty="0">
                <a:latin typeface="Times New Roman" panose="02020603050405020304" pitchFamily="18" charset="0"/>
                <a:cs typeface="Times New Roman" panose="02020603050405020304" pitchFamily="18" charset="0"/>
              </a:rPr>
              <a:t> A level of the software testing process where individual units/components of a software/system are tested. The purpose is to validate that each unit of the software performs as designed.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2. Integration Testing:</a:t>
            </a:r>
            <a:r>
              <a:rPr lang="en-US" sz="2400" dirty="0">
                <a:latin typeface="Times New Roman" panose="02020603050405020304" pitchFamily="18" charset="0"/>
                <a:cs typeface="Times New Roman" panose="02020603050405020304" pitchFamily="18" charset="0"/>
              </a:rPr>
              <a:t> A level of the software testing process where individual units are combined and tested as a group. The purpose of this level of testing is to expose faults in the interaction between integrated units.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3. System Testing:</a:t>
            </a:r>
            <a:r>
              <a:rPr lang="en-US" sz="2400" dirty="0">
                <a:latin typeface="Times New Roman" panose="02020603050405020304" pitchFamily="18" charset="0"/>
                <a:cs typeface="Times New Roman" panose="02020603050405020304" pitchFamily="18" charset="0"/>
              </a:rPr>
              <a:t> A level of the software testing process where a complete, integrated system/software is tested. The purpose of this test is to evaluate the system’s compliance with the specified requirements.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4. Acceptance Testing:</a:t>
            </a:r>
            <a:r>
              <a:rPr lang="en-US" sz="2400" dirty="0">
                <a:latin typeface="Times New Roman" panose="02020603050405020304" pitchFamily="18" charset="0"/>
                <a:cs typeface="Times New Roman" panose="02020603050405020304" pitchFamily="18" charset="0"/>
              </a:rPr>
              <a:t> A level of the software testing process where a system is tested for acceptability. The purpose of this test is to evaluate the system’s compliance with the business requirements and assess whether it is acceptable for delivery.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459505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TESTING FUNDAMENTALS</a:t>
            </a:r>
            <a:endParaRPr lang="en-IN" sz="24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software testing levels"/>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600200" y="990601"/>
            <a:ext cx="4953000" cy="5562600"/>
          </a:xfrm>
          <a:prstGeom prst="rect">
            <a:avLst/>
          </a:prstGeom>
          <a:noFill/>
          <a:ln>
            <a:noFill/>
          </a:ln>
        </p:spPr>
      </p:pic>
    </p:spTree>
    <p:extLst>
      <p:ext uri="{BB962C8B-B14F-4D97-AF65-F5344CB8AC3E}">
        <p14:creationId xmlns:p14="http://schemas.microsoft.com/office/powerpoint/2010/main" val="350403138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WHITE BOX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457200" lvl="1" indent="0">
              <a:buNone/>
            </a:pPr>
            <a:r>
              <a:rPr lang="en-US" sz="2400" dirty="0" smtClean="0">
                <a:latin typeface="Times New Roman" panose="02020603050405020304" pitchFamily="18" charset="0"/>
                <a:cs typeface="Times New Roman" panose="02020603050405020304" pitchFamily="18" charset="0"/>
              </a:rPr>
              <a:t>White box testing techniques analyze the internal structures the used data structures, internal design, code structure and the working of the software rather than just the functionality as in black box testing. It is also called glass box testing or clear box testing or structural testing.</a:t>
            </a:r>
            <a:endParaRPr lang="en-IN" sz="2400" dirty="0" smtClean="0">
              <a:latin typeface="Times New Roman" panose="02020603050405020304" pitchFamily="18" charset="0"/>
              <a:cs typeface="Times New Roman" panose="02020603050405020304" pitchFamily="18" charset="0"/>
            </a:endParaRPr>
          </a:p>
          <a:p>
            <a:pPr marL="0" indent="0">
              <a:buNone/>
            </a:pPr>
            <a:endParaRPr lang="en-US" sz="2400" dirty="0" smtClean="0">
              <a:solidFill>
                <a:srgbClr val="FF0000"/>
              </a:solidFill>
              <a:latin typeface="Times New Roman" panose="02020603050405020304" pitchFamily="18" charset="0"/>
              <a:cs typeface="Times New Roman" panose="02020603050405020304" pitchFamily="18" charset="0"/>
            </a:endParaRPr>
          </a:p>
          <a:p>
            <a:pPr marL="0" indent="0">
              <a:buNone/>
            </a:pPr>
            <a:r>
              <a:rPr lang="en-US" sz="2400" dirty="0" smtClean="0">
                <a:solidFill>
                  <a:srgbClr val="FF0000"/>
                </a:solidFill>
                <a:latin typeface="Times New Roman" panose="02020603050405020304" pitchFamily="18" charset="0"/>
                <a:cs typeface="Times New Roman" panose="02020603050405020304" pitchFamily="18" charset="0"/>
              </a:rPr>
              <a:t>Types </a:t>
            </a:r>
            <a:r>
              <a:rPr lang="en-US" sz="2400" dirty="0">
                <a:solidFill>
                  <a:srgbClr val="FF0000"/>
                </a:solidFill>
                <a:latin typeface="Times New Roman" panose="02020603050405020304" pitchFamily="18" charset="0"/>
                <a:cs typeface="Times New Roman" panose="02020603050405020304" pitchFamily="18" charset="0"/>
              </a:rPr>
              <a:t>of White Box Testing</a:t>
            </a:r>
            <a:endParaRPr lang="en-IN" sz="2400" dirty="0">
              <a:solidFill>
                <a:srgbClr val="FF0000"/>
              </a:solidFill>
              <a:latin typeface="Times New Roman" panose="02020603050405020304" pitchFamily="18" charset="0"/>
              <a:cs typeface="Times New Roman" panose="02020603050405020304" pitchFamily="18" charset="0"/>
            </a:endParaRPr>
          </a:p>
          <a:p>
            <a:pPr lvl="0" algn="just"/>
            <a:r>
              <a:rPr lang="en-US" sz="2400" dirty="0" smtClean="0">
                <a:solidFill>
                  <a:srgbClr val="FF0000"/>
                </a:solidFill>
                <a:latin typeface="Times New Roman" panose="02020603050405020304" pitchFamily="18" charset="0"/>
                <a:cs typeface="Times New Roman" panose="02020603050405020304" pitchFamily="18" charset="0"/>
              </a:rPr>
              <a:t>Unit </a:t>
            </a:r>
            <a:r>
              <a:rPr lang="en-US" sz="2400" dirty="0">
                <a:solidFill>
                  <a:srgbClr val="FF0000"/>
                </a:solidFill>
                <a:latin typeface="Times New Roman" panose="02020603050405020304" pitchFamily="18" charset="0"/>
                <a:cs typeface="Times New Roman" panose="02020603050405020304" pitchFamily="18" charset="0"/>
              </a:rPr>
              <a:t>Testing:</a:t>
            </a:r>
            <a:r>
              <a:rPr lang="en-US" sz="2400" dirty="0">
                <a:latin typeface="Times New Roman" panose="02020603050405020304" pitchFamily="18" charset="0"/>
                <a:cs typeface="Times New Roman" panose="02020603050405020304" pitchFamily="18" charset="0"/>
              </a:rPr>
              <a:t> It is often the first type of testing done on an application. </a:t>
            </a:r>
            <a:r>
              <a:rPr lang="en-US" sz="2400" dirty="0" smtClean="0">
                <a:latin typeface="Times New Roman" panose="02020603050405020304" pitchFamily="18" charset="0"/>
                <a:cs typeface="Times New Roman" panose="02020603050405020304" pitchFamily="18" charset="0"/>
              </a:rPr>
              <a:t>It is </a:t>
            </a:r>
            <a:r>
              <a:rPr lang="en-US" sz="2400" dirty="0">
                <a:latin typeface="Times New Roman" panose="02020603050405020304" pitchFamily="18" charset="0"/>
                <a:cs typeface="Times New Roman" panose="02020603050405020304" pitchFamily="18" charset="0"/>
              </a:rPr>
              <a:t>performed on each unit or block of code as it is developed. Unit Testing is essentially done by the programmer. As a software developer, you develop a few lines of code, a single function or an object and test it to make sure it works before continuing Unit Testing helps identify a majority of bugs, early in the software development lifecycle. </a:t>
            </a:r>
            <a:endParaRPr lang="en-US" sz="2400" dirty="0" smtClean="0">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Bugs </a:t>
            </a:r>
            <a:r>
              <a:rPr lang="en-US" sz="2400" dirty="0">
                <a:latin typeface="Times New Roman" panose="02020603050405020304" pitchFamily="18" charset="0"/>
                <a:cs typeface="Times New Roman" panose="02020603050405020304" pitchFamily="18" charset="0"/>
              </a:rPr>
              <a:t>identified in this stage are cheaper and easy to fix.</a:t>
            </a:r>
            <a:endParaRPr lang="en-IN" sz="2400" dirty="0">
              <a:latin typeface="Times New Roman" panose="02020603050405020304" pitchFamily="18" charset="0"/>
              <a:cs typeface="Times New Roman" panose="02020603050405020304" pitchFamily="18" charset="0"/>
            </a:endParaRPr>
          </a:p>
          <a:p>
            <a:pPr marL="457200" lvl="1"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450621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WHITE BOX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lvl="0" algn="just"/>
            <a:r>
              <a:rPr lang="en-US" sz="2400" dirty="0">
                <a:solidFill>
                  <a:srgbClr val="FF0000"/>
                </a:solidFill>
                <a:latin typeface="Times New Roman" panose="02020603050405020304" pitchFamily="18" charset="0"/>
                <a:cs typeface="Times New Roman" panose="02020603050405020304" pitchFamily="18" charset="0"/>
              </a:rPr>
              <a:t>Testing for Memory Leaks:</a:t>
            </a:r>
            <a:r>
              <a:rPr lang="en-US" sz="2400" dirty="0">
                <a:latin typeface="Times New Roman" panose="02020603050405020304" pitchFamily="18" charset="0"/>
                <a:cs typeface="Times New Roman" panose="02020603050405020304" pitchFamily="18" charset="0"/>
              </a:rPr>
              <a:t> Memory leaks are leading causes of slower running applications. A QA specialist who is experienced at detecting memory leaks is essential in cases where you have a slow running software application.</a:t>
            </a:r>
          </a:p>
          <a:p>
            <a:pPr algn="just"/>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White </a:t>
            </a:r>
            <a:r>
              <a:rPr lang="en-US" sz="2400" dirty="0">
                <a:latin typeface="Times New Roman" panose="02020603050405020304" pitchFamily="18" charset="0"/>
                <a:cs typeface="Times New Roman" panose="02020603050405020304" pitchFamily="18" charset="0"/>
              </a:rPr>
              <a:t>Box Testing Tools</a:t>
            </a:r>
            <a:endParaRPr lang="en-IN" sz="2400" dirty="0">
              <a:latin typeface="Times New Roman" panose="02020603050405020304" pitchFamily="18" charset="0"/>
              <a:cs typeface="Times New Roman" panose="02020603050405020304" pitchFamily="18" charset="0"/>
            </a:endParaRPr>
          </a:p>
          <a:p>
            <a:pPr lvl="0" algn="just"/>
            <a:r>
              <a:rPr lang="en-US" sz="2400" dirty="0" err="1" smtClean="0">
                <a:latin typeface="Times New Roman" panose="02020603050405020304" pitchFamily="18" charset="0"/>
                <a:cs typeface="Times New Roman" panose="02020603050405020304" pitchFamily="18" charset="0"/>
                <a:hlinkClick r:id="rId3"/>
              </a:rPr>
              <a:t>ParasoftJtest</a:t>
            </a:r>
            <a:endParaRPr lang="en-IN" sz="2400" dirty="0">
              <a:latin typeface="Times New Roman" panose="02020603050405020304" pitchFamily="18" charset="0"/>
              <a:cs typeface="Times New Roman" panose="02020603050405020304" pitchFamily="18" charset="0"/>
            </a:endParaRPr>
          </a:p>
          <a:p>
            <a:pPr lvl="0" algn="just"/>
            <a:r>
              <a:rPr lang="en-US" sz="2400" dirty="0" err="1">
                <a:latin typeface="Times New Roman" panose="02020603050405020304" pitchFamily="18" charset="0"/>
                <a:cs typeface="Times New Roman" panose="02020603050405020304" pitchFamily="18" charset="0"/>
                <a:hlinkClick r:id="rId4"/>
              </a:rPr>
              <a:t>EclEmma</a:t>
            </a:r>
            <a:endParaRPr lang="en-IN" sz="2400" dirty="0">
              <a:latin typeface="Times New Roman" panose="02020603050405020304" pitchFamily="18" charset="0"/>
              <a:cs typeface="Times New Roman" panose="02020603050405020304" pitchFamily="18" charset="0"/>
            </a:endParaRPr>
          </a:p>
          <a:p>
            <a:pPr lvl="0" algn="just"/>
            <a:r>
              <a:rPr lang="en-US" sz="2400" dirty="0" err="1">
                <a:latin typeface="Times New Roman" panose="02020603050405020304" pitchFamily="18" charset="0"/>
                <a:cs typeface="Times New Roman" panose="02020603050405020304" pitchFamily="18" charset="0"/>
                <a:hlinkClick r:id="rId5"/>
              </a:rPr>
              <a:t>NUnit</a:t>
            </a:r>
            <a:endParaRPr lang="en-IN" sz="2400" dirty="0">
              <a:latin typeface="Times New Roman" panose="02020603050405020304" pitchFamily="18" charset="0"/>
              <a:cs typeface="Times New Roman" panose="02020603050405020304" pitchFamily="18" charset="0"/>
            </a:endParaRPr>
          </a:p>
          <a:p>
            <a:pPr lvl="0" algn="just"/>
            <a:r>
              <a:rPr lang="en-US" sz="2400" dirty="0" err="1">
                <a:latin typeface="Times New Roman" panose="02020603050405020304" pitchFamily="18" charset="0"/>
                <a:cs typeface="Times New Roman" panose="02020603050405020304" pitchFamily="18" charset="0"/>
                <a:hlinkClick r:id="rId6"/>
              </a:rPr>
              <a:t>PyUnit</a:t>
            </a:r>
            <a:endParaRPr lang="en-IN" sz="2400" dirty="0">
              <a:latin typeface="Times New Roman" panose="02020603050405020304" pitchFamily="18" charset="0"/>
              <a:cs typeface="Times New Roman" panose="02020603050405020304" pitchFamily="18" charset="0"/>
            </a:endParaRPr>
          </a:p>
          <a:p>
            <a:pPr lvl="0" algn="just"/>
            <a:r>
              <a:rPr lang="en-US" sz="2400" dirty="0" err="1">
                <a:latin typeface="Times New Roman" panose="02020603050405020304" pitchFamily="18" charset="0"/>
                <a:cs typeface="Times New Roman" panose="02020603050405020304" pitchFamily="18" charset="0"/>
                <a:hlinkClick r:id="rId7"/>
              </a:rPr>
              <a:t>HTMLUnit</a:t>
            </a:r>
            <a:endParaRPr lang="en-IN" sz="2400" dirty="0">
              <a:latin typeface="Times New Roman" panose="02020603050405020304" pitchFamily="18" charset="0"/>
              <a:cs typeface="Times New Roman" panose="02020603050405020304" pitchFamily="18" charset="0"/>
            </a:endParaRPr>
          </a:p>
          <a:p>
            <a:pPr lvl="0" algn="just"/>
            <a:r>
              <a:rPr lang="en-US" sz="2400" dirty="0" err="1">
                <a:latin typeface="Times New Roman" panose="02020603050405020304" pitchFamily="18" charset="0"/>
                <a:cs typeface="Times New Roman" panose="02020603050405020304" pitchFamily="18" charset="0"/>
                <a:hlinkClick r:id="rId8"/>
              </a:rPr>
              <a:t>CppUnit</a:t>
            </a:r>
            <a:endParaRPr lang="en-IN" sz="2400" dirty="0">
              <a:latin typeface="Times New Roman" panose="02020603050405020304" pitchFamily="18" charset="0"/>
              <a:cs typeface="Times New Roman" panose="02020603050405020304" pitchFamily="18" charset="0"/>
            </a:endParaRPr>
          </a:p>
          <a:p>
            <a:pPr lvl="0"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401825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WHITE BOX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Advantages of White Box Testing</a:t>
            </a:r>
            <a:endParaRPr lang="en-IN" sz="2400" dirty="0">
              <a:solidFill>
                <a:srgbClr val="FF0000"/>
              </a:solidFill>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Code optimization by finding hidden errors.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White box tests cases can be easily automated.</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Testing is more thorough as all code paths are usually covered.</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Disadvantages </a:t>
            </a:r>
            <a:r>
              <a:rPr lang="en-US" sz="2400" dirty="0">
                <a:solidFill>
                  <a:srgbClr val="FF0000"/>
                </a:solidFill>
                <a:latin typeface="Times New Roman" panose="02020603050405020304" pitchFamily="18" charset="0"/>
                <a:cs typeface="Times New Roman" panose="02020603050405020304" pitchFamily="18" charset="0"/>
              </a:rPr>
              <a:t>of </a:t>
            </a:r>
            <a:r>
              <a:rPr lang="en-US" sz="2400" dirty="0" smtClean="0">
                <a:solidFill>
                  <a:srgbClr val="FF0000"/>
                </a:solidFill>
                <a:latin typeface="Times New Roman" panose="02020603050405020304" pitchFamily="18" charset="0"/>
                <a:cs typeface="Times New Roman" panose="02020603050405020304" pitchFamily="18" charset="0"/>
              </a:rPr>
              <a:t>White Box </a:t>
            </a:r>
            <a:r>
              <a:rPr lang="en-US" sz="2400" dirty="0">
                <a:solidFill>
                  <a:srgbClr val="FF0000"/>
                </a:solidFill>
                <a:latin typeface="Times New Roman" panose="02020603050405020304" pitchFamily="18" charset="0"/>
                <a:cs typeface="Times New Roman" panose="02020603050405020304" pitchFamily="18" charset="0"/>
              </a:rPr>
              <a:t>Testing</a:t>
            </a:r>
            <a:endParaRPr lang="en-IN" sz="2400" dirty="0">
              <a:solidFill>
                <a:srgbClr val="FF0000"/>
              </a:solidFill>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White box testing can be quite complex and expensive.</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Developers who usually execute white box test cases detest it. The white box testing by developers is not detailed can lead to production errors.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White box testing requires professional resources, with a detailed understanding of programming and implementation.</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White-box testing is time-consuming, bigger programming applications take the time to test fully.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559802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BLACK BOX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algn="just"/>
            <a:r>
              <a:rPr lang="en-US" sz="2400" dirty="0">
                <a:latin typeface="Times New Roman" panose="02020603050405020304" pitchFamily="18" charset="0"/>
                <a:cs typeface="Times New Roman" panose="02020603050405020304" pitchFamily="18" charset="0"/>
              </a:rPr>
              <a:t>Black Box Testing is a software testing method in which the functionalities of software applications are tested without having knowledge of internal code structure, implementation details and internal paths.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Black </a:t>
            </a:r>
            <a:r>
              <a:rPr lang="en-US" sz="2400" dirty="0">
                <a:latin typeface="Times New Roman" panose="02020603050405020304" pitchFamily="18" charset="0"/>
                <a:cs typeface="Times New Roman" panose="02020603050405020304" pitchFamily="18" charset="0"/>
              </a:rPr>
              <a:t>Box Testing mainly focuses on input and output of software applications and it is entirely based on software requirements and specifications. It is also known as Behavioral Testing.</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4" name="Picture 3" descr=" BLACK Box Testing image"/>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191000"/>
            <a:ext cx="5600700" cy="1647825"/>
          </a:xfrm>
          <a:prstGeom prst="rect">
            <a:avLst/>
          </a:prstGeom>
          <a:noFill/>
          <a:ln>
            <a:noFill/>
          </a:ln>
        </p:spPr>
      </p:pic>
    </p:spTree>
    <p:extLst>
      <p:ext uri="{BB962C8B-B14F-4D97-AF65-F5344CB8AC3E}">
        <p14:creationId xmlns:p14="http://schemas.microsoft.com/office/powerpoint/2010/main" val="26211002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BLACK BOX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algn="just"/>
            <a:r>
              <a:rPr lang="en-US" sz="2400" dirty="0">
                <a:latin typeface="Times New Roman" panose="02020603050405020304" pitchFamily="18" charset="0"/>
                <a:cs typeface="Times New Roman" panose="02020603050405020304" pitchFamily="18" charset="0"/>
              </a:rPr>
              <a:t>The generic steps followed to carry out any type of Black Box Testing</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Initially, the requirements and specifications of the system are examined.</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Tester chooses valid inputs (positive test scenario) to check whether SUT processes them correctly. Also, some invalid inputs (negative test scenario) are chosen to verify that the SUT is able to detect them.</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Tester determines expected outputs for all those inputs.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Software tester constructs test cases with the selected inputs.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test cases are executed.</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Software tester compares the actual outputs with the expected outputs.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Defects if any are fixed and re-tested.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226721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BLACK BOX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Types of Black Box Testing</a:t>
            </a:r>
            <a:endParaRPr lang="en-IN" sz="2400"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There are many types of Black Box Testing but the following are the prominent ones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lvl="0" indent="0" algn="just">
              <a:buNone/>
            </a:pPr>
            <a:r>
              <a:rPr lang="en-US" sz="2400" dirty="0">
                <a:solidFill>
                  <a:srgbClr val="FF0000"/>
                </a:solidFill>
                <a:latin typeface="Times New Roman" panose="02020603050405020304" pitchFamily="18" charset="0"/>
                <a:cs typeface="Times New Roman" panose="02020603050405020304" pitchFamily="18" charset="0"/>
              </a:rPr>
              <a:t>Functional testing </a:t>
            </a:r>
            <a:r>
              <a:rPr lang="en-US" sz="2400" dirty="0">
                <a:latin typeface="Times New Roman" panose="02020603050405020304" pitchFamily="18" charset="0"/>
                <a:cs typeface="Times New Roman" panose="02020603050405020304" pitchFamily="18" charset="0"/>
              </a:rPr>
              <a:t>– This black box testing type is related to the functional requirements of a system; it is done by software testers.</a:t>
            </a:r>
            <a:endParaRPr lang="en-IN" sz="2400" dirty="0">
              <a:latin typeface="Times New Roman" panose="02020603050405020304" pitchFamily="18" charset="0"/>
              <a:cs typeface="Times New Roman" panose="02020603050405020304" pitchFamily="18" charset="0"/>
            </a:endParaRPr>
          </a:p>
          <a:p>
            <a:pPr marL="0" lvl="0" indent="0" algn="just">
              <a:buNone/>
            </a:pPr>
            <a:r>
              <a:rPr lang="en-US" sz="2400" dirty="0">
                <a:solidFill>
                  <a:srgbClr val="FF0000"/>
                </a:solidFill>
                <a:latin typeface="Times New Roman" panose="02020603050405020304" pitchFamily="18" charset="0"/>
                <a:cs typeface="Times New Roman" panose="02020603050405020304" pitchFamily="18" charset="0"/>
              </a:rPr>
              <a:t>Non-functional testing </a:t>
            </a:r>
            <a:r>
              <a:rPr lang="en-US" sz="2400" dirty="0">
                <a:latin typeface="Times New Roman" panose="02020603050405020304" pitchFamily="18" charset="0"/>
                <a:cs typeface="Times New Roman" panose="02020603050405020304" pitchFamily="18" charset="0"/>
              </a:rPr>
              <a:t>– This type of black box testing is not related to testing of specific functionality, but non-functional requirements such as performance, scalability, usability.</a:t>
            </a:r>
            <a:endParaRPr lang="en-IN" sz="2400" dirty="0">
              <a:latin typeface="Times New Roman" panose="02020603050405020304" pitchFamily="18" charset="0"/>
              <a:cs typeface="Times New Roman" panose="02020603050405020304" pitchFamily="18" charset="0"/>
            </a:endParaRPr>
          </a:p>
          <a:p>
            <a:pPr marL="0" lvl="0" indent="0" algn="just">
              <a:buNone/>
            </a:pPr>
            <a:r>
              <a:rPr lang="en-US" sz="2400" dirty="0">
                <a:solidFill>
                  <a:srgbClr val="FF0000"/>
                </a:solidFill>
                <a:latin typeface="Times New Roman" panose="02020603050405020304" pitchFamily="18" charset="0"/>
                <a:cs typeface="Times New Roman" panose="02020603050405020304" pitchFamily="18" charset="0"/>
              </a:rPr>
              <a:t>Regression testing </a:t>
            </a:r>
            <a:r>
              <a:rPr lang="en-US" sz="2400" dirty="0">
                <a:latin typeface="Times New Roman" panose="02020603050405020304" pitchFamily="18" charset="0"/>
                <a:cs typeface="Times New Roman" panose="02020603050405020304" pitchFamily="18" charset="0"/>
              </a:rPr>
              <a:t>– Regression Testing is done after code fixes, upgrades or any other system maintenance to check the new code has not affected the existing code.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152664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BLACK BOX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r>
              <a:rPr lang="en-US" sz="2400" dirty="0">
                <a:latin typeface="Times New Roman" panose="02020603050405020304" pitchFamily="18" charset="0"/>
                <a:cs typeface="Times New Roman" panose="02020603050405020304" pitchFamily="18" charset="0"/>
              </a:rPr>
              <a:t>Tools used for Black Box Testing:</a:t>
            </a:r>
            <a:endParaRPr lang="en-IN"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Tools used for Black box testing largely depends on the type of black box testing you are doing</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 Functional/ Regression Tests you can use – QTP, Selenium</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 Non-Functional Tests, you can use – </a:t>
            </a:r>
            <a:r>
              <a:rPr lang="en-US" sz="2400" dirty="0" err="1">
                <a:latin typeface="Times New Roman" panose="02020603050405020304" pitchFamily="18" charset="0"/>
                <a:cs typeface="Times New Roman" panose="02020603050405020304" pitchFamily="18" charset="0"/>
              </a:rPr>
              <a:t>LoadRunner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Jmeter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281394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BLACK BOX TESTING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Black Box Testing Techniques</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Following are the prominent Test Strategy amongst the many used in Black box Testing</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lvl="0" algn="just"/>
            <a:r>
              <a:rPr lang="en-US" sz="2400" dirty="0">
                <a:solidFill>
                  <a:srgbClr val="FF0000"/>
                </a:solidFill>
                <a:latin typeface="Times New Roman" panose="02020603050405020304" pitchFamily="18" charset="0"/>
                <a:cs typeface="Times New Roman" panose="02020603050405020304" pitchFamily="18" charset="0"/>
              </a:rPr>
              <a:t>Equivalence Class Testing: </a:t>
            </a:r>
            <a:r>
              <a:rPr lang="en-US" sz="2400" dirty="0">
                <a:latin typeface="Times New Roman" panose="02020603050405020304" pitchFamily="18" charset="0"/>
                <a:cs typeface="Times New Roman" panose="02020603050405020304" pitchFamily="18" charset="0"/>
              </a:rPr>
              <a:t>It is used to minimize the number of possible test cases to an optimum level while maintains reasonable test coverage.</a:t>
            </a:r>
            <a:endParaRPr lang="en-IN" sz="2400" dirty="0">
              <a:latin typeface="Times New Roman" panose="02020603050405020304" pitchFamily="18" charset="0"/>
              <a:cs typeface="Times New Roman" panose="02020603050405020304" pitchFamily="18" charset="0"/>
            </a:endParaRPr>
          </a:p>
          <a:p>
            <a:pPr lvl="0" algn="just"/>
            <a:r>
              <a:rPr lang="en-US" sz="2400" dirty="0">
                <a:solidFill>
                  <a:srgbClr val="FF0000"/>
                </a:solidFill>
                <a:latin typeface="Times New Roman" panose="02020603050405020304" pitchFamily="18" charset="0"/>
                <a:cs typeface="Times New Roman" panose="02020603050405020304" pitchFamily="18" charset="0"/>
              </a:rPr>
              <a:t>Boundary Value Testing: </a:t>
            </a:r>
            <a:r>
              <a:rPr lang="en-US" sz="2400" dirty="0">
                <a:latin typeface="Times New Roman" panose="02020603050405020304" pitchFamily="18" charset="0"/>
                <a:cs typeface="Times New Roman" panose="02020603050405020304" pitchFamily="18" charset="0"/>
              </a:rPr>
              <a:t>Boundary value testing is focused on the values at boundaries. This technique determines whether a certain range of values are acceptable by the system or not. It is very useful in reducing the number of test cases. It is most suitable for the systems where an input is within certain ranges.</a:t>
            </a:r>
            <a:endParaRPr lang="en-IN" sz="2400" dirty="0">
              <a:latin typeface="Times New Roman" panose="02020603050405020304" pitchFamily="18" charset="0"/>
              <a:cs typeface="Times New Roman" panose="02020603050405020304" pitchFamily="18" charset="0"/>
            </a:endParaRPr>
          </a:p>
          <a:p>
            <a:pPr lvl="0" algn="just"/>
            <a:r>
              <a:rPr lang="en-US" sz="2400" dirty="0">
                <a:solidFill>
                  <a:srgbClr val="FF0000"/>
                </a:solidFill>
                <a:latin typeface="Times New Roman" panose="02020603050405020304" pitchFamily="18" charset="0"/>
                <a:cs typeface="Times New Roman" panose="02020603050405020304" pitchFamily="18" charset="0"/>
              </a:rPr>
              <a:t>Decision Table Testing: </a:t>
            </a:r>
            <a:r>
              <a:rPr lang="en-US" sz="2400" dirty="0">
                <a:latin typeface="Times New Roman" panose="02020603050405020304" pitchFamily="18" charset="0"/>
                <a:cs typeface="Times New Roman" panose="02020603050405020304" pitchFamily="18" charset="0"/>
              </a:rPr>
              <a:t>A decision table puts causes and their effects in a matrix. There is a unique combination in each column.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977129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OBJECT ORIENTED TESTING METHOD</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algn="just"/>
            <a:r>
              <a:rPr lang="en-US" sz="2400" dirty="0">
                <a:latin typeface="Times New Roman" panose="02020603050405020304" pitchFamily="18" charset="0"/>
                <a:cs typeface="Times New Roman" panose="02020603050405020304" pitchFamily="18" charset="0"/>
              </a:rPr>
              <a:t>In object-oriented programs, control flow is characterized by message passing among objects, and the control flow switches from one object to another by inter-object communication. Consequently, there is no control flow within a class like functions.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lack of sequential control flow within a class requires different approaches for testing. Furthermore, in a function, arguments passed to the function with global data determine the path of execution within the procedure.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But</a:t>
            </a:r>
            <a:r>
              <a:rPr lang="en-US" sz="2400" dirty="0">
                <a:latin typeface="Times New Roman" panose="02020603050405020304" pitchFamily="18" charset="0"/>
                <a:cs typeface="Times New Roman" panose="02020603050405020304" pitchFamily="18" charset="0"/>
              </a:rPr>
              <a:t>, in an object, the state associated with the object also influences the path of execution, and methods of a class can communicate among themselves through this state because this state is persistent across invocations of methods.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Hence</a:t>
            </a:r>
            <a:r>
              <a:rPr lang="en-US" sz="2400" dirty="0">
                <a:latin typeface="Times New Roman" panose="02020603050405020304" pitchFamily="18" charset="0"/>
                <a:cs typeface="Times New Roman" panose="02020603050405020304" pitchFamily="18" charset="0"/>
              </a:rPr>
              <a:t>, for testing objects, the state of an object has to play an important role</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363684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OBJECT ORIENTED TESTING METHOD</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Techniques of object-oriented testing are as follows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Fault Based Testing: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type of checking permits for coming up with test cases supported the consumer specification or the code or both. It tries to identify possible faults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For all of these faults, a test case is developed to “flush” the errors out. These tests also force each time of code to be executed.</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method of testing does not find all types of errors. However, incorrect specification and interface errors can be missed. These types of errors can be uncovered by function testing in the traditional testing model.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the object-oriented model, interaction errors can be uncovered by scenario-based testing. This form of Object oriented-testing can only test against the client’s specifications, so interface errors are still missed.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714497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OBJECT ORIENTED TESTING METHOD</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Class Testing Based on Method Testing: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approach is the simplest approach to test classes. Each method of the class performs a well defined cohesive function and can, therefore, be related to unit testing of the traditional testing techniques. Therefore all the methods of a class can be involved at least once to test the class.</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Random </a:t>
            </a:r>
            <a:r>
              <a:rPr lang="en-US" sz="2400" dirty="0">
                <a:solidFill>
                  <a:srgbClr val="FF0000"/>
                </a:solidFill>
                <a:latin typeface="Times New Roman" panose="02020603050405020304" pitchFamily="18" charset="0"/>
                <a:cs typeface="Times New Roman" panose="02020603050405020304" pitchFamily="18" charset="0"/>
              </a:rPr>
              <a:t>Testing: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is supported by developing a random test sequence that tries the minimum variety of operations typical to the behavior of the categories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408000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OBJECT ORIENTED TESTING METHOD</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38476"/>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Partition Testing: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methodology categorizes the inputs and outputs of a category so as to check them severely. This minimizes the number of cases that have to be designed.</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Scenario-based </a:t>
            </a:r>
            <a:r>
              <a:rPr lang="en-US" sz="2400" dirty="0">
                <a:solidFill>
                  <a:srgbClr val="FF0000"/>
                </a:solidFill>
                <a:latin typeface="Times New Roman" panose="02020603050405020304" pitchFamily="18" charset="0"/>
                <a:cs typeface="Times New Roman" panose="02020603050405020304" pitchFamily="18" charset="0"/>
              </a:rPr>
              <a:t>Testing: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primarily involves capturing the user actions then stimulating them to similar actions throughout the test.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These tests tend to search out interaction form of error.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5701206"/>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32999</TotalTime>
  <Words>3274</Words>
  <Application>Microsoft Office PowerPoint</Application>
  <PresentationFormat>On-screen Show (4:3)</PresentationFormat>
  <Paragraphs>332</Paragraphs>
  <Slides>51</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Calibri</vt:lpstr>
      <vt:lpstr>Times New Roman</vt:lpstr>
      <vt:lpstr>Default Design</vt:lpstr>
      <vt:lpstr>MODULE-IV</vt:lpstr>
      <vt:lpstr>A STRATEGIC APPROACH TO SOFTWARE TESTING</vt:lpstr>
      <vt:lpstr>A STRATEGIC APPROACH TO SOFTWARE TESTING</vt:lpstr>
      <vt:lpstr>A STRATEGIC APPROACH TO SOFTWARE TESTING</vt:lpstr>
      <vt:lpstr>A STRATEGIC APPROACH TO SOFTWARE TESTING</vt:lpstr>
      <vt:lpstr>A STRATEGIC APPROACH TO SOFTWARE TESTING</vt:lpstr>
      <vt:lpstr>A STRATEGIC APPROACH TO SOFTWARE TESTING</vt:lpstr>
      <vt:lpstr>A STRATEGIC ISSUES</vt:lpstr>
      <vt:lpstr>A STRATEGIC ISSUES</vt:lpstr>
      <vt:lpstr>A STRATEGIC ISSUES</vt:lpstr>
      <vt:lpstr>A STRATEGIC ISSUES</vt:lpstr>
      <vt:lpstr>A STRATEGIC ISSUES</vt:lpstr>
      <vt:lpstr>A STRATEGIC ISSUES</vt:lpstr>
      <vt:lpstr>A STRATEGIC ISSUES</vt:lpstr>
      <vt:lpstr>A STRATEGIC ISSUES</vt:lpstr>
      <vt:lpstr>A STRATEGIC ISSUES</vt:lpstr>
      <vt:lpstr>A TEST STRATEGY FOR CONVENTIONAL SOFTWARE</vt:lpstr>
      <vt:lpstr>A TEST STRATEGY FOR CONVENTIONAL SOFTWARE</vt:lpstr>
      <vt:lpstr>A TEST STRATEGY FOR CONVENTIONAL SOFTWARE</vt:lpstr>
      <vt:lpstr>A TEST STRATEGY FOR OBJECT ORIENTED SOFTWARE</vt:lpstr>
      <vt:lpstr>A TEST STRATEGY FOR OBJECT ORIENTED SOFTWARE</vt:lpstr>
      <vt:lpstr>A TEST STRATEGY FOR OBJECT ORIENTED SOFTWARE</vt:lpstr>
      <vt:lpstr>VALIDATION TESTING </vt:lpstr>
      <vt:lpstr>VALIDATION TESTING </vt:lpstr>
      <vt:lpstr>SYSTEM TESTING </vt:lpstr>
      <vt:lpstr>SYSTEM TESTING </vt:lpstr>
      <vt:lpstr>SYSTEM TESTING </vt:lpstr>
      <vt:lpstr>SYSTEM TESTING </vt:lpstr>
      <vt:lpstr>SYSTEM TESTING </vt:lpstr>
      <vt:lpstr>SYSTEM TESTING </vt:lpstr>
      <vt:lpstr>SYSTEM TESTING </vt:lpstr>
      <vt:lpstr>THE ART OF DEBUGGING</vt:lpstr>
      <vt:lpstr>THE ART OF DEBUGGING</vt:lpstr>
      <vt:lpstr>SOFTWARE TESTING FUNDAMENTALS</vt:lpstr>
      <vt:lpstr>SOFTWARE TESTING FUNDAMENTALS</vt:lpstr>
      <vt:lpstr>SOFTWARE TESTING FUNDAMENTALS</vt:lpstr>
      <vt:lpstr>SOFTWARE TESTING FUNDAMENTALS</vt:lpstr>
      <vt:lpstr>SOFTWARE TESTING FUNDAMENTALS</vt:lpstr>
      <vt:lpstr>SOFTWARE TESTING FUNDAMENTALS</vt:lpstr>
      <vt:lpstr>WHITE BOX TESTING </vt:lpstr>
      <vt:lpstr>WHITE BOX TESTING </vt:lpstr>
      <vt:lpstr>WHITE BOX TESTING </vt:lpstr>
      <vt:lpstr>BLACK BOX TESTING </vt:lpstr>
      <vt:lpstr>BLACK BOX TESTING </vt:lpstr>
      <vt:lpstr>BLACK BOX TESTING </vt:lpstr>
      <vt:lpstr>BLACK BOX TESTING </vt:lpstr>
      <vt:lpstr>BLACK BOX TESTING </vt:lpstr>
      <vt:lpstr>OBJECT ORIENTED TESTING METHOD</vt:lpstr>
      <vt:lpstr>OBJECT ORIENTED TESTING METHOD</vt:lpstr>
      <vt:lpstr>OBJECT ORIENTED TESTING METHOD</vt:lpstr>
      <vt:lpstr>OBJECT ORIENTED TESTING METHOD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I_x000d_HTML &amp; HTML5</dc:title>
  <dc:creator/>
  <cp:lastModifiedBy>user</cp:lastModifiedBy>
  <cp:revision>213</cp:revision>
  <dcterms:created xsi:type="dcterms:W3CDTF">2024-07-22T04:35:57Z</dcterms:created>
  <dcterms:modified xsi:type="dcterms:W3CDTF">2025-04-03T06:58:24Z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2022-11-08T05:30:00Z</vt:filetime>
  </property>
  <property fmtid="{D5CDD505-2E9C-101B-9397-08002B2CF9AE}" pid="3" name="Creator">
    <vt:lpwstr>Microsoft® PowerPoint® 2016</vt:lpwstr>
  </property>
  <property fmtid="{D5CDD505-2E9C-101B-9397-08002B2CF9AE}" pid="4" name="LastSaved">
    <vt:filetime>2024-07-22T05:30:00Z</vt:filetime>
  </property>
  <property fmtid="{D5CDD505-2E9C-101B-9397-08002B2CF9AE}" pid="5" name="ICV">
    <vt:lpwstr>B0E253D2F3914CB4A85D038B697BABD4_13</vt:lpwstr>
  </property>
  <property fmtid="{D5CDD505-2E9C-101B-9397-08002B2CF9AE}" pid="6" name="KSOProductBuildVer">
    <vt:lpwstr>1033-12.2.0.17153</vt:lpwstr>
  </property>
</Properties>
</file>