
<file path=[Content_Types].xml><?xml version="1.0" encoding="utf-8"?>
<Types xmlns="http://schemas.openxmlformats.org/package/2006/content-types">
  <Default Extension="png" ContentType="image/png"/>
  <Default Extension="jpeg" ContentType="image/jpeg"/>
  <Default Extension="webp" ContentType="image/webp"/>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0" r:id="rId24"/>
    <p:sldId id="278" r:id="rId25"/>
    <p:sldId id="281" r:id="rId26"/>
    <p:sldId id="288" r:id="rId27"/>
    <p:sldId id="282" r:id="rId28"/>
    <p:sldId id="283" r:id="rId29"/>
    <p:sldId id="284" r:id="rId30"/>
    <p:sldId id="285" r:id="rId31"/>
    <p:sldId id="286" r:id="rId32"/>
    <p:sldId id="287"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Lst>
  <p:sldSz cx="9144000" cy="6858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1280" y="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88A7D90B-FA3A-4816-B5AB-9500E5D7C0F1}" type="datetimeFigureOut">
              <a:rPr lang="en-IN" smtClean="0"/>
              <a:t>27-02-2025</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B7A0353E-E43D-449A-96B0-FDD815200A86}" type="slidenum">
              <a:rPr lang="en-IN" smtClean="0"/>
              <a:t>‹#›</a:t>
            </a:fld>
            <a:endParaRPr lang="en-IN"/>
          </a:p>
        </p:txBody>
      </p:sp>
    </p:spTree>
    <p:extLst>
      <p:ext uri="{BB962C8B-B14F-4D97-AF65-F5344CB8AC3E}">
        <p14:creationId xmlns:p14="http://schemas.microsoft.com/office/powerpoint/2010/main" val="2785412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4</a:t>
            </a:fld>
            <a:endParaRPr lang="en-IN"/>
          </a:p>
        </p:txBody>
      </p:sp>
    </p:spTree>
    <p:extLst>
      <p:ext uri="{BB962C8B-B14F-4D97-AF65-F5344CB8AC3E}">
        <p14:creationId xmlns:p14="http://schemas.microsoft.com/office/powerpoint/2010/main" val="191181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extLst>
      <p:ext uri="{BB962C8B-B14F-4D97-AF65-F5344CB8AC3E}">
        <p14:creationId xmlns:p14="http://schemas.microsoft.com/office/powerpoint/2010/main" val="2280794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a:t>2/27/2025</a:t>
            </a:fld>
            <a:endParaRPr lang="en-US" dirty="0"/>
          </a:p>
        </p:txBody>
      </p:sp>
      <p:sp>
        <p:nvSpPr>
          <p:cNvPr id="5" name="Footer Placeholder 4"/>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6" name="Slide Number Placeholder 5"/>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a:t>2/27/2025</a:t>
            </a:fld>
            <a:endParaRPr lang="en-US" dirty="0"/>
          </a:p>
        </p:txBody>
      </p:sp>
      <p:sp>
        <p:nvSpPr>
          <p:cNvPr id="5" name="Footer Placeholder 4"/>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6" name="Slide Number Placeholder 5"/>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endParaRPr lang="en-US" dirty="0"/>
          </a:p>
        </p:txBody>
      </p:sp>
      <p:sp>
        <p:nvSpPr>
          <p:cNvPr id="5" name="Footer Placeholder 4"/>
          <p:cNvSpPr>
            <a:spLocks noGrp="1"/>
          </p:cNvSpPr>
          <p:nvPr>
            <p:ph type="ftr" sz="quarter" idx="11"/>
          </p:nvPr>
        </p:nvSpPr>
        <p:spPr/>
        <p:txBody>
          <a:bodyPr/>
          <a:lstStyle/>
          <a:p>
            <a:pPr lvl="0"/>
            <a:endParaRPr lang="en-US" dirty="0"/>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504"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54296" y="1600200"/>
            <a:ext cx="4032504"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a:t>2/27/2025</a:t>
            </a:fld>
            <a:endParaRPr lang="en-US" dirty="0"/>
          </a:p>
        </p:txBody>
      </p:sp>
      <p:sp>
        <p:nvSpPr>
          <p:cNvPr id="6" name="Footer Placeholder 5"/>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7" name="Slide Number Placeholder 6"/>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lvl="0"/>
            <a:endParaRPr lang="en-US" dirty="0"/>
          </a:p>
        </p:txBody>
      </p:sp>
      <p:sp>
        <p:nvSpPr>
          <p:cNvPr id="8" name="Footer Placeholder 7"/>
          <p:cNvSpPr>
            <a:spLocks noGrp="1"/>
          </p:cNvSpPr>
          <p:nvPr>
            <p:ph type="ftr" sz="quarter" idx="11"/>
          </p:nvPr>
        </p:nvSpPr>
        <p:spPr/>
        <p:txBody>
          <a:bodyPr/>
          <a:lstStyle/>
          <a:p>
            <a:pPr lvl="0"/>
            <a:endParaRPr lang="en-US" dirty="0"/>
          </a:p>
        </p:txBody>
      </p:sp>
      <p:sp>
        <p:nvSpPr>
          <p:cNvPr id="9" name="Slide Number Placeholder 8"/>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a:t>2/27/2025</a:t>
            </a:fld>
            <a:endParaRPr lang="en-US" dirty="0"/>
          </a:p>
        </p:txBody>
      </p:sp>
      <p:sp>
        <p:nvSpPr>
          <p:cNvPr id="4" name="Footer Placeholder 3"/>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5" name="Slide Number Placeholder 4"/>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a:t>2/27/2025</a:t>
            </a:fld>
            <a:endParaRPr lang="en-US" dirty="0"/>
          </a:p>
        </p:txBody>
      </p:sp>
      <p:sp>
        <p:nvSpPr>
          <p:cNvPr id="3" name="Footer Placeholder 2"/>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4" name="Slide Number Placeholder 3"/>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dirty="0"/>
          </a:p>
        </p:txBody>
      </p:sp>
      <p:sp>
        <p:nvSpPr>
          <p:cNvPr id="6" name="Footer Placeholder 5"/>
          <p:cNvSpPr>
            <a:spLocks noGrp="1"/>
          </p:cNvSpPr>
          <p:nvPr>
            <p:ph type="ftr" sz="quarter" idx="11"/>
          </p:nvPr>
        </p:nvSpPr>
        <p:spPr/>
        <p:txBody>
          <a:bodyPr/>
          <a:lstStyle/>
          <a:p>
            <a:pPr lvl="0"/>
            <a:endParaRPr lang="en-US" dirty="0"/>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dirty="0"/>
          </a:p>
        </p:txBody>
      </p:sp>
      <p:sp>
        <p:nvSpPr>
          <p:cNvPr id="6" name="Footer Placeholder 5"/>
          <p:cNvSpPr>
            <a:spLocks noGrp="1"/>
          </p:cNvSpPr>
          <p:nvPr>
            <p:ph type="ftr" sz="quarter" idx="11"/>
          </p:nvPr>
        </p:nvSpPr>
        <p:spPr/>
        <p:txBody>
          <a:bodyPr/>
          <a:lstStyle/>
          <a:p>
            <a:pPr lvl="0"/>
            <a:endParaRPr lang="en-US" dirty="0"/>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dirty="0"/>
          </a:p>
        </p:txBody>
      </p:sp>
      <p:sp>
        <p:nvSpPr>
          <p:cNvPr id="5" name="Footer Placeholder 4"/>
          <p:cNvSpPr>
            <a:spLocks noGrp="1"/>
          </p:cNvSpPr>
          <p:nvPr>
            <p:ph type="ftr" sz="quarter" idx="11"/>
          </p:nvPr>
        </p:nvSpPr>
        <p:spPr/>
        <p:txBody>
          <a:bodyPr/>
          <a:lstStyle/>
          <a:p>
            <a:pPr lvl="0"/>
            <a:endParaRPr lang="en-US" dirty="0"/>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dirty="0"/>
          </a:p>
        </p:txBody>
      </p:sp>
      <p:sp>
        <p:nvSpPr>
          <p:cNvPr id="5" name="Footer Placeholder 4"/>
          <p:cNvSpPr>
            <a:spLocks noGrp="1"/>
          </p:cNvSpPr>
          <p:nvPr>
            <p:ph type="ftr" sz="quarter" idx="11"/>
          </p:nvPr>
        </p:nvSpPr>
        <p:spPr/>
        <p:txBody>
          <a:bodyPr/>
          <a:lstStyle/>
          <a:p>
            <a:pPr lvl="0"/>
            <a:endParaRPr lang="en-US" dirty="0"/>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457200" y="274638"/>
            <a:ext cx="8229600" cy="114300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457200" y="1600200"/>
            <a:ext cx="82296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fld id="{1D8BD707-D9CF-40AE-B4C6-C98DA3205C09}" type="datetimeFigureOut">
              <a:rPr lang="en-US"/>
              <a:t>2/27/2025</a:t>
            </a:fld>
            <a:endParaRPr lang="en-US" dirty="0"/>
          </a:p>
        </p:txBody>
      </p:sp>
      <p:sp>
        <p:nvSpPr>
          <p:cNvPr id="1029" name="Footer Placeholder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marL="12700">
              <a:lnSpc>
                <a:spcPts val="1620"/>
              </a:lnSpc>
            </a:pPr>
            <a:r>
              <a:rPr spc="-30" dirty="0"/>
              <a:t>Yogendra</a:t>
            </a:r>
            <a:r>
              <a:rPr spc="45" dirty="0"/>
              <a:t> </a:t>
            </a:r>
            <a:r>
              <a:rPr spc="-10" dirty="0"/>
              <a:t>Prasad</a:t>
            </a:r>
            <a:r>
              <a:rPr spc="-25" dirty="0"/>
              <a:t> </a:t>
            </a:r>
            <a:r>
              <a:rPr spc="-5" dirty="0"/>
              <a:t>P</a:t>
            </a:r>
          </a:p>
        </p:txBody>
      </p:sp>
      <p:sp>
        <p:nvSpPr>
          <p:cNvPr id="1030" name="Slide Number Placeholder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fld id="{B6F15528-21DE-4FAA-801E-634DDDAF4B2B}" type="slidenum">
              <a:rPr/>
              <a:t>‹#›</a:t>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webp"/><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webp"/><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smtClean="0">
                <a:solidFill>
                  <a:srgbClr val="FF0000"/>
                </a:solidFill>
                <a:latin typeface="Times New Roman" panose="02020603050405020304" pitchFamily="18" charset="0"/>
                <a:cs typeface="Times New Roman" panose="02020603050405020304" pitchFamily="18" charset="0"/>
              </a:rPr>
              <a:t>MODULE-II</a:t>
            </a:r>
            <a:endParaRPr lang="en-IN" sz="3600" dirty="0">
              <a:solidFill>
                <a:srgbClr val="FF0000"/>
              </a:solidFill>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idx="1"/>
          </p:nvPr>
        </p:nvSpPr>
        <p:spPr>
          <a:xfrm>
            <a:off x="0" y="1600200"/>
            <a:ext cx="9144000" cy="4953000"/>
          </a:xfrm>
        </p:spPr>
        <p:txBody>
          <a:bodyPr/>
          <a:lstStyle/>
          <a:p>
            <a:pPr algn="just"/>
            <a:endParaRPr lang="en-IN" sz="28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038801150"/>
              </p:ext>
            </p:extLst>
          </p:nvPr>
        </p:nvGraphicFramePr>
        <p:xfrm>
          <a:off x="8823" y="1066800"/>
          <a:ext cx="8991599" cy="5791200"/>
        </p:xfrm>
        <a:graphic>
          <a:graphicData uri="http://schemas.openxmlformats.org/drawingml/2006/table">
            <a:tbl>
              <a:tblPr firstRow="1" firstCol="1" bandRow="1">
                <a:tableStyleId>{5C22544A-7EE6-4342-B048-85BDC9FD1C3A}</a:tableStyleId>
              </a:tblPr>
              <a:tblGrid>
                <a:gridCol w="1450069"/>
                <a:gridCol w="5915964"/>
                <a:gridCol w="1625566"/>
              </a:tblGrid>
              <a:tr h="1086732">
                <a:tc>
                  <a:txBody>
                    <a:bodyPr/>
                    <a:lstStyle/>
                    <a:p>
                      <a:pPr>
                        <a:lnSpc>
                          <a:spcPct val="115000"/>
                        </a:lnSpc>
                        <a:spcAft>
                          <a:spcPts val="600"/>
                        </a:spcAft>
                      </a:pPr>
                      <a:r>
                        <a:rPr lang="en-US" sz="2400" dirty="0">
                          <a:effectLst/>
                          <a:latin typeface="Times New Roman" panose="02020603050405020304" pitchFamily="18" charset="0"/>
                          <a:cs typeface="Times New Roman" panose="02020603050405020304" pitchFamily="18" charset="0"/>
                        </a:rPr>
                        <a:t>Module </a:t>
                      </a:r>
                      <a:r>
                        <a:rPr lang="en-US" sz="2400" dirty="0" smtClean="0">
                          <a:effectLst/>
                          <a:latin typeface="Times New Roman" panose="02020603050405020304" pitchFamily="18" charset="0"/>
                          <a:cs typeface="Times New Roman" panose="02020603050405020304" pitchFamily="18" charset="0"/>
                        </a:rPr>
                        <a:t>III</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indent="0" algn="just" defTabSz="914400" eaLnBrk="1" fontAlgn="base" latinLnBrk="0" hangingPunct="1">
                        <a:lnSpc>
                          <a:spcPct val="100000"/>
                        </a:lnSpc>
                        <a:spcBef>
                          <a:spcPct val="0"/>
                        </a:spcBef>
                        <a:spcAft>
                          <a:spcPct val="0"/>
                        </a:spcAft>
                        <a:buFont typeface="Arial" panose="020B0604020202020204" pitchFamily="34" charset="0"/>
                        <a:buNone/>
                      </a:pPr>
                      <a:r>
                        <a:rPr lang="en-US" sz="2400" b="0" i="0" u="none" kern="1200" baseline="0" dirty="0" smtClean="0">
                          <a:solidFill>
                            <a:schemeClr val="tx1"/>
                          </a:solidFill>
                          <a:latin typeface="Times New Roman" panose="02020603050405020304" pitchFamily="18" charset="0"/>
                          <a:ea typeface="+mn-ea"/>
                          <a:cs typeface="Times New Roman" panose="02020603050405020304" pitchFamily="18" charset="0"/>
                        </a:rPr>
                        <a:t>DESIGN ENGINEERING AND METRICS</a:t>
                      </a:r>
                      <a:endParaRPr lang="en-IN" sz="2400" b="0" i="0" u="none" kern="1200" baseline="0" dirty="0">
                        <a:solidFill>
                          <a:schemeClr val="tx1"/>
                        </a:solidFill>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algn="r">
                        <a:lnSpc>
                          <a:spcPct val="115000"/>
                        </a:lnSpc>
                        <a:spcAft>
                          <a:spcPts val="600"/>
                        </a:spcAft>
                      </a:pPr>
                      <a:r>
                        <a:rPr lang="en-US" sz="2400" dirty="0">
                          <a:effectLst/>
                          <a:latin typeface="Times New Roman" panose="02020603050405020304" pitchFamily="18" charset="0"/>
                          <a:cs typeface="Times New Roman" panose="02020603050405020304" pitchFamily="18" charset="0"/>
                        </a:rPr>
                        <a:t>(</a:t>
                      </a:r>
                      <a:r>
                        <a:rPr lang="en-US" sz="2400" dirty="0" smtClean="0">
                          <a:effectLst/>
                          <a:latin typeface="Times New Roman" panose="02020603050405020304" pitchFamily="18" charset="0"/>
                          <a:cs typeface="Times New Roman" panose="02020603050405020304" pitchFamily="18" charset="0"/>
                        </a:rPr>
                        <a:t>09Period)</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4704468">
                <a:tc gridSpan="3">
                  <a:txBody>
                    <a:bodyPr/>
                    <a:lstStyle/>
                    <a:p>
                      <a:pPr algn="just"/>
                      <a:r>
                        <a:rPr lang="en-US" sz="2400" b="0" i="0" u="none" kern="1200" baseline="0" dirty="0" smtClean="0">
                          <a:solidFill>
                            <a:schemeClr val="tx1"/>
                          </a:solidFill>
                          <a:latin typeface="Times New Roman" panose="02020603050405020304" pitchFamily="18" charset="0"/>
                          <a:ea typeface="+mn-ea"/>
                          <a:cs typeface="Times New Roman" panose="02020603050405020304" pitchFamily="18" charset="0"/>
                        </a:rPr>
                        <a:t>Design Engineering: Design within the context of Software Engineering, The Design process, Design concepts, Software Architecture, Architectural Styles, Architectural design, Pattern based Design-Design Patterns, Pattern based software design.</a:t>
                      </a:r>
                    </a:p>
                    <a:p>
                      <a:pPr algn="just"/>
                      <a:endParaRPr lang="en-IN" sz="2400" b="0" i="0" u="none" kern="1200" baseline="0" dirty="0" smtClean="0">
                        <a:solidFill>
                          <a:schemeClr val="tx1"/>
                        </a:solidFill>
                        <a:latin typeface="Times New Roman" panose="02020603050405020304" pitchFamily="18" charset="0"/>
                        <a:ea typeface="+mn-ea"/>
                        <a:cs typeface="Times New Roman" panose="02020603050405020304" pitchFamily="18" charset="0"/>
                      </a:endParaRPr>
                    </a:p>
                    <a:p>
                      <a:pPr algn="just"/>
                      <a:r>
                        <a:rPr lang="en-US" sz="2400" b="0" i="0" u="none" kern="1200" baseline="0" dirty="0" smtClean="0">
                          <a:solidFill>
                            <a:schemeClr val="tx1"/>
                          </a:solidFill>
                          <a:latin typeface="Times New Roman" panose="02020603050405020304" pitchFamily="18" charset="0"/>
                          <a:ea typeface="+mn-ea"/>
                          <a:cs typeface="Times New Roman" panose="02020603050405020304" pitchFamily="18" charset="0"/>
                        </a:rPr>
                        <a:t>Process and Project Metrics: Metrics in the process and project domains, Software Measurement, Metrics for software quality.</a:t>
                      </a:r>
                      <a:endParaRPr lang="en-IN" sz="2400" b="0" i="0" u="none" kern="1200" baseline="0" dirty="0">
                        <a:solidFill>
                          <a:schemeClr val="tx1"/>
                        </a:solidFill>
                        <a:latin typeface="Times New Roman" panose="02020603050405020304" pitchFamily="18" charset="0"/>
                        <a:ea typeface="+mn-ea"/>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DESIGN ENGINEERING</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algn="just"/>
            <a:r>
              <a:rPr lang="en-US" sz="2400" dirty="0">
                <a:latin typeface="Times New Roman" panose="02020603050405020304" pitchFamily="18" charset="0"/>
                <a:cs typeface="Times New Roman" panose="02020603050405020304" pitchFamily="18" charset="0"/>
              </a:rPr>
              <a:t>Beginning once software requirements have been analyzed and modeled, </a:t>
            </a:r>
            <a:r>
              <a:rPr lang="en-US" sz="2400" dirty="0" smtClean="0">
                <a:latin typeface="Times New Roman" panose="02020603050405020304" pitchFamily="18" charset="0"/>
                <a:cs typeface="Times New Roman" panose="02020603050405020304" pitchFamily="18" charset="0"/>
              </a:rPr>
              <a:t>software</a:t>
            </a:r>
            <a:r>
              <a:rPr lang="en-IN"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design </a:t>
            </a:r>
            <a:r>
              <a:rPr lang="en-US" sz="2400" dirty="0">
                <a:latin typeface="Times New Roman" panose="02020603050405020304" pitchFamily="18" charset="0"/>
                <a:cs typeface="Times New Roman" panose="02020603050405020304" pitchFamily="18" charset="0"/>
              </a:rPr>
              <a:t>is the last software engineering action within the modeling activity and sets the stage for </a:t>
            </a:r>
            <a:r>
              <a:rPr lang="en-US" sz="2400" dirty="0" smtClean="0">
                <a:latin typeface="Times New Roman" panose="02020603050405020304" pitchFamily="18" charset="0"/>
                <a:cs typeface="Times New Roman" panose="02020603050405020304" pitchFamily="18" charset="0"/>
              </a:rPr>
              <a:t>construction.</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architectural design defines the relationship between major structural elements of the software, the architectural styles and design patterns that can be used to achieve the requirements defined for the system, and the constraints that affect the way in which architecture can be implemented.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architectural design representation—the framework of a computer-based system—is derived from the requirements model.</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11923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DESIGN ENGINEERING</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algn="just"/>
            <a:r>
              <a:rPr lang="en-US" sz="2400" dirty="0">
                <a:latin typeface="Times New Roman" panose="02020603050405020304" pitchFamily="18" charset="0"/>
                <a:cs typeface="Times New Roman" panose="02020603050405020304" pitchFamily="18" charset="0"/>
              </a:rPr>
              <a:t>The interface design describes how the software communicates with systems that interoperate with it, and with humans who use it.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An </a:t>
            </a:r>
            <a:r>
              <a:rPr lang="en-US" sz="2400" dirty="0">
                <a:latin typeface="Times New Roman" panose="02020603050405020304" pitchFamily="18" charset="0"/>
                <a:cs typeface="Times New Roman" panose="02020603050405020304" pitchFamily="18" charset="0"/>
              </a:rPr>
              <a:t>interface implies a flow of information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 a specific type of behavior.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Therefore</a:t>
            </a:r>
            <a:r>
              <a:rPr lang="en-US" sz="2400" dirty="0">
                <a:latin typeface="Times New Roman" panose="02020603050405020304" pitchFamily="18" charset="0"/>
                <a:cs typeface="Times New Roman" panose="02020603050405020304" pitchFamily="18" charset="0"/>
              </a:rPr>
              <a:t>, usage scenarios and behavioral models provide much of the information required for interface design</a:t>
            </a:r>
            <a:r>
              <a:rPr lang="en-US" sz="2400" dirty="0" smtClean="0">
                <a:latin typeface="Times New Roman" panose="02020603050405020304" pitchFamily="18" charset="0"/>
                <a:cs typeface="Times New Roman" panose="02020603050405020304" pitchFamily="18" charset="0"/>
              </a:rPr>
              <a:t>.</a:t>
            </a: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importance of software design can be stated with a single word—quality.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Design </a:t>
            </a:r>
            <a:r>
              <a:rPr lang="en-US" sz="2400" dirty="0">
                <a:latin typeface="Times New Roman" panose="02020603050405020304" pitchFamily="18" charset="0"/>
                <a:cs typeface="Times New Roman" panose="02020603050405020304" pitchFamily="18" charset="0"/>
              </a:rPr>
              <a:t>is the place where quality is fostered in software engineering. Design provides you with representations of software that can be assessed for quality. Design is the only way that you can accurately translate stakeholder‘s requirements into a finished software product or system.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13732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DESIGN PROCESS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algn="just"/>
            <a:r>
              <a:rPr lang="en-US" sz="2400" dirty="0">
                <a:latin typeface="Times New Roman" panose="02020603050405020304" pitchFamily="18" charset="0"/>
                <a:cs typeface="Times New Roman" panose="02020603050405020304" pitchFamily="18" charset="0"/>
              </a:rPr>
              <a:t>Software design is an iterative process through which requirements are translated into a </a:t>
            </a:r>
            <a:r>
              <a:rPr lang="en-US" sz="2400" dirty="0" smtClean="0">
                <a:latin typeface="Times New Roman" panose="02020603050405020304" pitchFamily="18" charset="0"/>
                <a:cs typeface="Times New Roman" panose="02020603050405020304" pitchFamily="18" charset="0"/>
              </a:rPr>
              <a:t>blueprint for</a:t>
            </a:r>
            <a:r>
              <a:rPr lang="en-IN"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constructing </a:t>
            </a:r>
            <a:r>
              <a:rPr lang="en-US" sz="2400" dirty="0">
                <a:latin typeface="Times New Roman" panose="02020603050405020304" pitchFamily="18" charset="0"/>
                <a:cs typeface="Times New Roman" panose="02020603050405020304" pitchFamily="18" charset="0"/>
              </a:rPr>
              <a:t>the software. Initially, the blueprint depicts a holistic view of software.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design </a:t>
            </a:r>
            <a:r>
              <a:rPr lang="en-US" sz="2400" dirty="0" smtClean="0">
                <a:latin typeface="Times New Roman" panose="02020603050405020304" pitchFamily="18" charset="0"/>
                <a:cs typeface="Times New Roman" panose="02020603050405020304" pitchFamily="18" charset="0"/>
              </a:rPr>
              <a:t>is</a:t>
            </a:r>
            <a:r>
              <a:rPr lang="en-IN"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represented </a:t>
            </a:r>
            <a:r>
              <a:rPr lang="en-US" sz="2400" dirty="0">
                <a:latin typeface="Times New Roman" panose="02020603050405020304" pitchFamily="18" charset="0"/>
                <a:cs typeface="Times New Roman" panose="02020603050405020304" pitchFamily="18" charset="0"/>
              </a:rPr>
              <a:t>at a high level of </a:t>
            </a:r>
            <a:r>
              <a:rPr lang="en-US" sz="2400" dirty="0" smtClean="0">
                <a:latin typeface="Times New Roman" panose="02020603050405020304" pitchFamily="18" charset="0"/>
                <a:cs typeface="Times New Roman" panose="02020603050405020304" pitchFamily="18" charset="0"/>
              </a:rPr>
              <a:t>abstraction ,a </a:t>
            </a:r>
            <a:r>
              <a:rPr lang="en-US" sz="2400" dirty="0">
                <a:latin typeface="Times New Roman" panose="02020603050405020304" pitchFamily="18" charset="0"/>
                <a:cs typeface="Times New Roman" panose="02020603050405020304" pitchFamily="18" charset="0"/>
              </a:rPr>
              <a:t>level that can be directly traced to the specific system </a:t>
            </a:r>
            <a:r>
              <a:rPr lang="en-US" sz="2400" dirty="0" smtClean="0">
                <a:latin typeface="Times New Roman" panose="02020603050405020304" pitchFamily="18" charset="0"/>
                <a:cs typeface="Times New Roman" panose="02020603050405020304" pitchFamily="18" charset="0"/>
              </a:rPr>
              <a:t>objective</a:t>
            </a:r>
            <a:r>
              <a:rPr lang="en-IN"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and </a:t>
            </a:r>
            <a:r>
              <a:rPr lang="en-US" sz="2400" dirty="0">
                <a:latin typeface="Times New Roman" panose="02020603050405020304" pitchFamily="18" charset="0"/>
                <a:cs typeface="Times New Roman" panose="02020603050405020304" pitchFamily="18" charset="0"/>
              </a:rPr>
              <a:t>more detailed data, functional, and behavioral requirements.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As </a:t>
            </a:r>
            <a:r>
              <a:rPr lang="en-US" sz="2400" dirty="0">
                <a:latin typeface="Times New Roman" panose="02020603050405020304" pitchFamily="18" charset="0"/>
                <a:cs typeface="Times New Roman" panose="02020603050405020304" pitchFamily="18" charset="0"/>
              </a:rPr>
              <a:t>design iterations occur, </a:t>
            </a:r>
            <a:r>
              <a:rPr lang="en-US" sz="2400" dirty="0" smtClean="0">
                <a:latin typeface="Times New Roman" panose="02020603050405020304" pitchFamily="18" charset="0"/>
                <a:cs typeface="Times New Roman" panose="02020603050405020304" pitchFamily="18" charset="0"/>
              </a:rPr>
              <a:t>subsequent</a:t>
            </a:r>
            <a:r>
              <a:rPr lang="en-IN"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refinement </a:t>
            </a:r>
            <a:r>
              <a:rPr lang="en-US" sz="2400" dirty="0">
                <a:latin typeface="Times New Roman" panose="02020603050405020304" pitchFamily="18" charset="0"/>
                <a:cs typeface="Times New Roman" panose="02020603050405020304" pitchFamily="18" charset="0"/>
              </a:rPr>
              <a:t>leads to design representations at much lower levels of abstraction. These can still be traced </a:t>
            </a:r>
            <a:r>
              <a:rPr lang="en-US" sz="2400" dirty="0" smtClean="0">
                <a:latin typeface="Times New Roman" panose="02020603050405020304" pitchFamily="18" charset="0"/>
                <a:cs typeface="Times New Roman" panose="02020603050405020304" pitchFamily="18" charset="0"/>
              </a:rPr>
              <a:t>to</a:t>
            </a:r>
            <a:r>
              <a:rPr lang="en-IN"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requirements</a:t>
            </a:r>
            <a:r>
              <a:rPr lang="en-US" sz="2400" dirty="0">
                <a:latin typeface="Times New Roman" panose="02020603050405020304" pitchFamily="18" charset="0"/>
                <a:cs typeface="Times New Roman" panose="02020603050405020304" pitchFamily="18" charset="0"/>
              </a:rPr>
              <a:t>, but the connection is more </a:t>
            </a:r>
            <a:r>
              <a:rPr lang="en-US" sz="2400" dirty="0" smtClean="0">
                <a:latin typeface="Times New Roman" panose="02020603050405020304" pitchFamily="18" charset="0"/>
                <a:cs typeface="Times New Roman" panose="02020603050405020304" pitchFamily="18" charset="0"/>
              </a:rPr>
              <a:t>subtle.</a:t>
            </a:r>
          </a:p>
          <a:p>
            <a:pPr algn="just"/>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 design phase of software development deals with transforming the customer requirements as described in the SRS documents into a form implementable using a programming language.</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01350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DESIGN PROCESS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buNone/>
            </a:pPr>
            <a:r>
              <a:rPr lang="en-US" sz="2400" dirty="0">
                <a:latin typeface="Times New Roman" panose="02020603050405020304" pitchFamily="18" charset="0"/>
                <a:cs typeface="Times New Roman" panose="02020603050405020304" pitchFamily="18" charset="0"/>
              </a:rPr>
              <a:t>The software design process can be divided into the following three levels of phases of design:</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Interface Design</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Architectural Design</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Detailed Design</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66048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DESIGN PROCESS</a:t>
            </a:r>
            <a:endParaRPr lang="en-IN" sz="320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descr="Lightbox"/>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981075"/>
            <a:ext cx="8534400" cy="5353050"/>
          </a:xfrm>
          <a:prstGeom prst="rect">
            <a:avLst/>
          </a:prstGeom>
          <a:noFill/>
          <a:ln>
            <a:noFill/>
          </a:ln>
        </p:spPr>
      </p:pic>
    </p:spTree>
    <p:extLst>
      <p:ext uri="{BB962C8B-B14F-4D97-AF65-F5344CB8AC3E}">
        <p14:creationId xmlns:p14="http://schemas.microsoft.com/office/powerpoint/2010/main" val="3021305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DESIGN PROCESS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Interface Design:</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Interface design is the specification of the interaction between a system and its environment.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phase proceeds at a high level of abstraction with respect to the inner workings of the system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during interface design, the internal of the systems are completely ignored and the system is treated as a black box.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Attention </a:t>
            </a:r>
            <a:r>
              <a:rPr lang="en-US" sz="2400" dirty="0">
                <a:latin typeface="Times New Roman" panose="02020603050405020304" pitchFamily="18" charset="0"/>
                <a:cs typeface="Times New Roman" panose="02020603050405020304" pitchFamily="18" charset="0"/>
              </a:rPr>
              <a:t>is focused on the dialogue between the target system and the users, devices, and other systems with which it interacts.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design problem statement produced during the problem analysis step should identify the people, other systems, and devices which are collectively called agents</a:t>
            </a:r>
            <a:r>
              <a:rPr lang="en-US" sz="2400" dirty="0"/>
              <a:t>.</a:t>
            </a:r>
            <a:endParaRPr lang="en-IN" sz="2400" dirty="0"/>
          </a:p>
          <a:p>
            <a:pPr algn="just"/>
            <a:endParaRPr lang="en-IN" sz="2400" dirty="0"/>
          </a:p>
        </p:txBody>
      </p:sp>
    </p:spTree>
    <p:extLst>
      <p:ext uri="{BB962C8B-B14F-4D97-AF65-F5344CB8AC3E}">
        <p14:creationId xmlns:p14="http://schemas.microsoft.com/office/powerpoint/2010/main" val="35185020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DESIGN PROCESS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Architectural Design:</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Architectural design is the specification of the major components of a system, their responsibilities, properties, interfaces, and the relationships and interactions between them.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architectural design, the overall structure of the system is chosen, but the internal details of major components are ignored.</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Detailed Design:</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Design is the specification of the internal elements of all major system components, their properties, relationships, processing, and often their algorithms and the data structures.</a:t>
            </a:r>
            <a:endParaRPr lang="en-IN" sz="2400" dirty="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19502739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DESIGN CONCEPT</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algn="just"/>
            <a:r>
              <a:rPr lang="en-US" sz="2400" dirty="0">
                <a:latin typeface="Times New Roman" panose="02020603050405020304" pitchFamily="18" charset="0"/>
                <a:cs typeface="Times New Roman" panose="02020603050405020304" pitchFamily="18" charset="0"/>
              </a:rPr>
              <a:t>Concepts are defined as a </a:t>
            </a:r>
            <a:r>
              <a:rPr lang="en-US" sz="2400" dirty="0" smtClean="0">
                <a:latin typeface="Times New Roman" panose="02020603050405020304" pitchFamily="18" charset="0"/>
                <a:cs typeface="Times New Roman" panose="02020603050405020304" pitchFamily="18" charset="0"/>
              </a:rPr>
              <a:t>principle </a:t>
            </a:r>
            <a:r>
              <a:rPr lang="en-US" sz="2400" dirty="0">
                <a:latin typeface="Times New Roman" panose="02020603050405020304" pitchFamily="18" charset="0"/>
                <a:cs typeface="Times New Roman" panose="02020603050405020304" pitchFamily="18" charset="0"/>
              </a:rPr>
              <a:t>idea or invention that comes into our mind or in thought to understand something.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software design concept simply means the idea or principle behind the design. It describes how you plan to solve the problem of designing software, the logic, or thinking behind how you will design software.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allows the software engineer to create the model of the system or software or product that is to be developed or built</a:t>
            </a:r>
            <a:r>
              <a:rPr lang="en-US" sz="2400" dirty="0" smtClean="0">
                <a:latin typeface="Times New Roman" panose="02020603050405020304" pitchFamily="18" charset="0"/>
                <a:cs typeface="Times New Roman" panose="02020603050405020304" pitchFamily="18" charset="0"/>
              </a:rPr>
              <a:t>.</a:t>
            </a:r>
          </a:p>
          <a:p>
            <a:pPr algn="just"/>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 software design concept provides a supporting and essential structure or model for developing the right software.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87057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DESIGN CONCEPT</a:t>
            </a:r>
            <a:endParaRPr lang="en-IN" sz="320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descr="Lightbox"/>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533400"/>
            <a:ext cx="8153400" cy="5943600"/>
          </a:xfrm>
          <a:prstGeom prst="rect">
            <a:avLst/>
          </a:prstGeom>
          <a:noFill/>
          <a:ln>
            <a:noFill/>
          </a:ln>
        </p:spPr>
      </p:pic>
    </p:spTree>
    <p:extLst>
      <p:ext uri="{BB962C8B-B14F-4D97-AF65-F5344CB8AC3E}">
        <p14:creationId xmlns:p14="http://schemas.microsoft.com/office/powerpoint/2010/main" val="3984646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DESIGN CONCEPT</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buNone/>
            </a:pPr>
            <a:r>
              <a:rPr lang="en-US" sz="2400" dirty="0">
                <a:solidFill>
                  <a:srgbClr val="FF0000"/>
                </a:solidFill>
                <a:latin typeface="Times New Roman" panose="02020603050405020304" pitchFamily="18" charset="0"/>
                <a:cs typeface="Times New Roman" panose="02020603050405020304" pitchFamily="18" charset="0"/>
              </a:rPr>
              <a:t>Abstraction- hide Irrelevant data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Abstraction simply means to hide the details to reduce complexity and increases efficiency or quality.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Different </a:t>
            </a:r>
            <a:r>
              <a:rPr lang="en-US" sz="2400" dirty="0">
                <a:latin typeface="Times New Roman" panose="02020603050405020304" pitchFamily="18" charset="0"/>
                <a:cs typeface="Times New Roman" panose="02020603050405020304" pitchFamily="18" charset="0"/>
              </a:rPr>
              <a:t>levels of Abstraction are necessary and must be applied at each stage of the design process so that any error that is present can be removed to increase the efficiency of the software solution and to refine the </a:t>
            </a:r>
            <a:r>
              <a:rPr lang="en-US" sz="2400" dirty="0" smtClean="0">
                <a:latin typeface="Times New Roman" panose="02020603050405020304" pitchFamily="18" charset="0"/>
                <a:cs typeface="Times New Roman" panose="02020603050405020304" pitchFamily="18" charset="0"/>
              </a:rPr>
              <a:t>software </a:t>
            </a:r>
            <a:r>
              <a:rPr lang="en-US" sz="2400" dirty="0">
                <a:latin typeface="Times New Roman" panose="02020603050405020304" pitchFamily="18" charset="0"/>
                <a:cs typeface="Times New Roman" panose="02020603050405020304" pitchFamily="18" charset="0"/>
              </a:rPr>
              <a:t>solution.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solution should be described in broad ways that cover a wide range of different things at a higher level of abstraction and a more detailed description of a solution of software should be given at the lower level of abstraction.</a:t>
            </a:r>
            <a:endParaRPr lang="en-IN" sz="2400" dirty="0">
              <a:latin typeface="Times New Roman" panose="02020603050405020304" pitchFamily="18" charset="0"/>
              <a:cs typeface="Times New Roman" panose="02020603050405020304" pitchFamily="18" charset="0"/>
            </a:endParaRPr>
          </a:p>
          <a:p>
            <a:pPr algn="just"/>
            <a:endParaRPr lang="en-IN" sz="2400" dirty="0"/>
          </a:p>
        </p:txBody>
      </p:sp>
    </p:spTree>
    <p:extLst>
      <p:ext uri="{BB962C8B-B14F-4D97-AF65-F5344CB8AC3E}">
        <p14:creationId xmlns:p14="http://schemas.microsoft.com/office/powerpoint/2010/main" val="19379037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DESIGN CONCEPT</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Modularity- subdivide the system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Modularity simply means dividing the system or project into smaller parts to reduce the complexity of the system or project.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the same way, modularity in design means subdividing a system into smaller parts so that these parts can be created independently and then use these parts in different systems to perform different functions.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is necessary to divide the software into components known as modules because nowadays there are different software available like Monolithic software that is hard to grasp for software engineers.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So</a:t>
            </a:r>
            <a:r>
              <a:rPr lang="en-US" sz="2400" dirty="0">
                <a:latin typeface="Times New Roman" panose="02020603050405020304" pitchFamily="18" charset="0"/>
                <a:cs typeface="Times New Roman" panose="02020603050405020304" pitchFamily="18" charset="0"/>
              </a:rPr>
              <a:t>, modularity in design has now become a trend and is also important. If the system contains fewer components then it would mean the system is complex which requires a lot of effort (cost) but if we are able to divide the system into components then the cost would be small.</a:t>
            </a:r>
            <a:endParaRPr lang="en-IN" sz="2400" dirty="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1635131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DESIGN CONCEPT</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Architecture- design a structure of something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Architecture simply means a technique to design a structure of something.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Architecture </a:t>
            </a:r>
            <a:r>
              <a:rPr lang="en-US" sz="2400" dirty="0">
                <a:latin typeface="Times New Roman" panose="02020603050405020304" pitchFamily="18" charset="0"/>
                <a:cs typeface="Times New Roman" panose="02020603050405020304" pitchFamily="18" charset="0"/>
              </a:rPr>
              <a:t>in designing software is a concept that focuses on various elements and the data of the structure. These components interact with each other and use the data of the structure in architecture.</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Refinement- removes impurities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Refinement simply means to refine something to remove any impurities if present and increase the quality.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refinement concept of software design is actually a process of developing or presenting the software or system in a detailed manner that means to elaborate a system or software.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Refinement </a:t>
            </a:r>
            <a:r>
              <a:rPr lang="en-US" sz="2400" dirty="0">
                <a:latin typeface="Times New Roman" panose="02020603050405020304" pitchFamily="18" charset="0"/>
                <a:cs typeface="Times New Roman" panose="02020603050405020304" pitchFamily="18" charset="0"/>
              </a:rPr>
              <a:t>is very necessary to find out any error if present and then to reduce it.</a:t>
            </a:r>
            <a:endParaRPr lang="en-IN" sz="2400" dirty="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20594787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DESIGN CONCEPT</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Pattern- a repeated form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pattern simply means a repeated form or design in which the same shape is repeated several times to form a pattern.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pattern in the design process means the repetition of a solution to a common recurring problem within a certain context.</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Information </a:t>
            </a:r>
            <a:r>
              <a:rPr lang="en-US" sz="2400" dirty="0">
                <a:solidFill>
                  <a:srgbClr val="FF0000"/>
                </a:solidFill>
                <a:latin typeface="Times New Roman" panose="02020603050405020304" pitchFamily="18" charset="0"/>
                <a:cs typeface="Times New Roman" panose="02020603050405020304" pitchFamily="18" charset="0"/>
              </a:rPr>
              <a:t>Hiding- hide the information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Information hiding simply means to hide the information so that it cannot be accessed by an unwanted party.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software design, information hiding is achieved by designing the modules in a manner that the information gathered or contained in one module is hidden and can’t be accessed by any other modules.</a:t>
            </a:r>
            <a:endParaRPr lang="en-IN" sz="2400" dirty="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3195398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DESIGN CONCEPT</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Refactoring- reconstruct something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Refactoring simply means reconstructing something in such a way that it does not affect the behavior of any other features.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Refactoring </a:t>
            </a:r>
            <a:r>
              <a:rPr lang="en-US" sz="2400" dirty="0">
                <a:latin typeface="Times New Roman" panose="02020603050405020304" pitchFamily="18" charset="0"/>
                <a:cs typeface="Times New Roman" panose="02020603050405020304" pitchFamily="18" charset="0"/>
              </a:rPr>
              <a:t>in software design means reconstructing the design to reduce complexity and simplify it without affecting the behavior or its functions.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Fowler </a:t>
            </a:r>
            <a:r>
              <a:rPr lang="en-US" sz="2400" dirty="0">
                <a:latin typeface="Times New Roman" panose="02020603050405020304" pitchFamily="18" charset="0"/>
                <a:cs typeface="Times New Roman" panose="02020603050405020304" pitchFamily="18" charset="0"/>
              </a:rPr>
              <a:t>has defined refactoring as “the process of changing a software system in a way that it won’t affect the behavior of the design and improves the internal structure”.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03866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SOFTWARE ARCHITECTURE</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algn="just"/>
            <a:r>
              <a:rPr lang="en-US" sz="2400" dirty="0">
                <a:latin typeface="Times New Roman" panose="02020603050405020304" pitchFamily="18" charset="0"/>
                <a:cs typeface="Times New Roman" panose="02020603050405020304" pitchFamily="18" charset="0"/>
              </a:rPr>
              <a:t>The architecture of a system describes its major components, their relationships (structures), and how they interact with each </a:t>
            </a:r>
            <a:r>
              <a:rPr lang="en-US" sz="2400" dirty="0" smtClean="0">
                <a:latin typeface="Times New Roman" panose="02020603050405020304" pitchFamily="18" charset="0"/>
                <a:cs typeface="Times New Roman" panose="02020603050405020304" pitchFamily="18" charset="0"/>
              </a:rPr>
              <a:t>other.</a:t>
            </a:r>
          </a:p>
          <a:p>
            <a:pPr algn="just"/>
            <a:r>
              <a:rPr lang="en-US" sz="2400" dirty="0" smtClean="0">
                <a:latin typeface="Times New Roman" panose="02020603050405020304" pitchFamily="18" charset="0"/>
                <a:cs typeface="Times New Roman" panose="02020603050405020304" pitchFamily="18" charset="0"/>
              </a:rPr>
              <a:t>Software </a:t>
            </a:r>
            <a:r>
              <a:rPr lang="en-US" sz="2400" dirty="0">
                <a:latin typeface="Times New Roman" panose="02020603050405020304" pitchFamily="18" charset="0"/>
                <a:cs typeface="Times New Roman" panose="02020603050405020304" pitchFamily="18" charset="0"/>
              </a:rPr>
              <a:t>architecture and design includes several contributory factors such as Business strategy, quality attributes, human dynamics, design, and IT environment.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2450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SOFTWARE ARCHITECTURE</a:t>
            </a:r>
            <a:endParaRPr lang="en-IN" sz="320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descr="Software Architecture Types"/>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838200"/>
            <a:ext cx="8763000" cy="5562599"/>
          </a:xfrm>
          <a:prstGeom prst="rect">
            <a:avLst/>
          </a:prstGeom>
          <a:noFill/>
          <a:ln>
            <a:noFill/>
          </a:ln>
        </p:spPr>
      </p:pic>
    </p:spTree>
    <p:extLst>
      <p:ext uri="{BB962C8B-B14F-4D97-AF65-F5344CB8AC3E}">
        <p14:creationId xmlns:p14="http://schemas.microsoft.com/office/powerpoint/2010/main" val="34577109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SOFTWARE ARCHITECTURE</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algn="just"/>
            <a:r>
              <a:rPr lang="en-US" sz="2400" dirty="0" smtClean="0">
                <a:latin typeface="Times New Roman" panose="02020603050405020304" pitchFamily="18" charset="0"/>
                <a:cs typeface="Times New Roman" panose="02020603050405020304" pitchFamily="18" charset="0"/>
              </a:rPr>
              <a:t>Architecture serves as a blueprint for a system. It provides an abstraction to manage the system complexity and establish a communication and coordination mechanism among components.</a:t>
            </a:r>
            <a:endParaRPr lang="en-IN"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It defines a structured solution to meet all the technical and operational requirements, while optimizing the common quality attributes like performance and security. </a:t>
            </a:r>
            <a:endParaRPr lang="en-IN"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Further, it involves a set of significant decisions about the organization related </a:t>
            </a:r>
            <a:r>
              <a:rPr lang="en-US" sz="2400" dirty="0">
                <a:latin typeface="Times New Roman" panose="02020603050405020304" pitchFamily="18" charset="0"/>
                <a:cs typeface="Times New Roman" panose="02020603050405020304" pitchFamily="18" charset="0"/>
              </a:rPr>
              <a:t>to software development and each of these decisions can have a considerable impact on quality, maintainability, performance, and the overall success of the final product.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17794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SOFTWARE ARCHITECTURE</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buNone/>
            </a:pPr>
            <a:r>
              <a:rPr lang="en-US" sz="2400" dirty="0">
                <a:latin typeface="Times New Roman" panose="02020603050405020304" pitchFamily="18" charset="0"/>
                <a:cs typeface="Times New Roman" panose="02020603050405020304" pitchFamily="18" charset="0"/>
              </a:rPr>
              <a:t>Some of the other goals are as follows −</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Expose the structure of the system, but hide its implementation details</a:t>
            </a: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Realize all the use-cases and scenarios</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Try to address the requirements of various stakeholders</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Handle both functional and quality requirements</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Reduce the goal of ownership and improve the organization’s market position</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Improve quality and functionality offered by the system.</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92904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SOFTWARE ARCHITECTURE</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Limitations</a:t>
            </a:r>
            <a:endParaRPr lang="en-IN" sz="2400"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Software architecture is still an emerging discipline within software engineering. It has the following limitations −</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Lack of tools and standardized ways to represent architecture</a:t>
            </a: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Lack of analysis methods to predict whether architecture will result in an implementation that meets the requirements</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Lack of awareness of the importance of architectural design to software development</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Lack of understanding of the role of software architect and poor communication among stakeholders.</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97765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SOFTWARE ARCHITECTURE</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buNone/>
            </a:pPr>
            <a:r>
              <a:rPr lang="en-US" sz="2400" dirty="0">
                <a:solidFill>
                  <a:srgbClr val="FF0000"/>
                </a:solidFill>
                <a:latin typeface="Times New Roman" panose="02020603050405020304" pitchFamily="18" charset="0"/>
                <a:cs typeface="Times New Roman" panose="02020603050405020304" pitchFamily="18" charset="0"/>
              </a:rPr>
              <a:t>Role of Software Architect</a:t>
            </a:r>
            <a:endParaRPr lang="en-IN" sz="2400" dirty="0">
              <a:solidFill>
                <a:srgbClr val="FF000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 Software Architect provides a solution that the technical team can create and design for the entire application. A software architect should have expertise in the following areas −</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r>
              <a:rPr lang="en-US" sz="2400" dirty="0">
                <a:solidFill>
                  <a:srgbClr val="FF0000"/>
                </a:solidFill>
                <a:latin typeface="Times New Roman" panose="02020603050405020304" pitchFamily="18" charset="0"/>
                <a:cs typeface="Times New Roman" panose="02020603050405020304" pitchFamily="18" charset="0"/>
              </a:rPr>
              <a:t>Design Expertise</a:t>
            </a:r>
            <a:endParaRPr lang="en-IN" sz="2400" dirty="0">
              <a:solidFill>
                <a:srgbClr val="FF000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Expert in software design, including diverse methods and approaches such as object-oriented design, event-driven design, etc</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Lead the development team and coordinate the development efforts for the integrity of the design.</a:t>
            </a:r>
            <a:endParaRPr lang="en-IN" sz="2400" dirty="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110612418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SOFTWARE ARCHITECTURE</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Domain Expertise</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Expert on the system being developed and plan for software evolution</a:t>
            </a: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Assist in the requirement investigation process, assuring completeness and consistency</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Coordinate the definition of domain model for the system being developed.</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Technology Expertise</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Expert on available technologies that helps in the implementation of the system</a:t>
            </a: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Coordinate the selection of programming language, framework, platforms, databases, etc</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46125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SOFTWARE ARCHITECTURE</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Methodological </a:t>
            </a:r>
            <a:r>
              <a:rPr lang="en-US" sz="2400" dirty="0">
                <a:solidFill>
                  <a:srgbClr val="FF0000"/>
                </a:solidFill>
                <a:latin typeface="Times New Roman" panose="02020603050405020304" pitchFamily="18" charset="0"/>
                <a:cs typeface="Times New Roman" panose="02020603050405020304" pitchFamily="18" charset="0"/>
              </a:rPr>
              <a:t>Expertise</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Expert on software development methodologies that may be adopted during SDLC (Software Development Life Cycle</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Choose the appropriate approaches for development that helps the entire team</a:t>
            </a:r>
            <a:r>
              <a:rPr lang="en-US" sz="2400" dirty="0" smtClean="0">
                <a:latin typeface="Times New Roman" panose="02020603050405020304" pitchFamily="18" charset="0"/>
                <a:cs typeface="Times New Roman" panose="02020603050405020304" pitchFamily="18" charset="0"/>
              </a:rPr>
              <a:t>.</a:t>
            </a:r>
          </a:p>
          <a:p>
            <a:pPr marL="0" indent="0">
              <a:buNone/>
            </a:pP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dirty="0" smtClean="0">
                <a:solidFill>
                  <a:srgbClr val="FF0000"/>
                </a:solidFill>
                <a:latin typeface="Times New Roman" panose="02020603050405020304" pitchFamily="18" charset="0"/>
                <a:cs typeface="Times New Roman" panose="02020603050405020304" pitchFamily="18" charset="0"/>
              </a:rPr>
              <a:t>Hidden </a:t>
            </a:r>
            <a:r>
              <a:rPr lang="en-US" sz="2400" dirty="0">
                <a:solidFill>
                  <a:srgbClr val="FF0000"/>
                </a:solidFill>
                <a:latin typeface="Times New Roman" panose="02020603050405020304" pitchFamily="18" charset="0"/>
                <a:cs typeface="Times New Roman" panose="02020603050405020304" pitchFamily="18" charset="0"/>
              </a:rPr>
              <a:t>Role of Software Architect</a:t>
            </a:r>
            <a:endParaRPr lang="en-IN" sz="2400" dirty="0">
              <a:solidFill>
                <a:srgbClr val="FF000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Facilitates the technical work among team members and reinforcing the trust relationship in the team</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Information specialist who shares knowledge and has vast experience</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Protect the team members from external forces that would distract them and bring less value to the project.</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656667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3200" dirty="0" smtClean="0">
                <a:solidFill>
                  <a:srgbClr val="FF0000"/>
                </a:solidFill>
                <a:latin typeface="Times New Roman" panose="02020603050405020304" pitchFamily="18" charset="0"/>
                <a:cs typeface="Times New Roman" panose="02020603050405020304" pitchFamily="18" charset="0"/>
              </a:rPr>
              <a:t>SOFTWARE ARCHITECTURE</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Deliverables of the Architect</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clear, complete, consistent, and achievable set of functional goals</a:t>
            </a:r>
            <a:endParaRPr lang="en-IN"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functional description of the system, with at least two layers of </a:t>
            </a:r>
            <a:r>
              <a:rPr lang="en-US" sz="2400" dirty="0" smtClean="0">
                <a:latin typeface="Times New Roman" panose="02020603050405020304" pitchFamily="18" charset="0"/>
                <a:cs typeface="Times New Roman" panose="02020603050405020304" pitchFamily="18" charset="0"/>
              </a:rPr>
              <a:t>decomposition</a:t>
            </a:r>
            <a:r>
              <a:rPr lang="en-IN"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80574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solidFill>
                  <a:srgbClr val="FF0000"/>
                </a:solidFill>
                <a:latin typeface="Times New Roman" panose="02020603050405020304" pitchFamily="18" charset="0"/>
                <a:cs typeface="Times New Roman" panose="02020603050405020304" pitchFamily="18" charset="0"/>
              </a:rPr>
              <a:t>ARCHITECTURAL STYLES</a:t>
            </a:r>
            <a:endParaRPr lang="en-US" altLang="en-US"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600200"/>
            <a:ext cx="9144000" cy="5257800"/>
          </a:xfrm>
        </p:spPr>
        <p:txBody>
          <a:bodyPr/>
          <a:lstStyle/>
          <a:p>
            <a:pPr marL="0" indent="342900" algn="just">
              <a:buNone/>
            </a:pPr>
            <a:r>
              <a:rPr lang="en-US" altLang="en-US" sz="2800" dirty="0">
                <a:latin typeface="Times New Roman" panose="02020603050405020304" charset="0"/>
                <a:cs typeface="Times New Roman" panose="02020603050405020304" charset="0"/>
              </a:rPr>
              <a:t>A crucial component of software engineering is software architecture, which establishes the high-level organization of a system. It includes how parts are designed, how they work together, and the guiding ideas behind how they are put together. </a:t>
            </a:r>
            <a:endParaRPr lang="en-US" altLang="en-US" sz="2800" dirty="0" smtClean="0">
              <a:latin typeface="Times New Roman" panose="02020603050405020304" charset="0"/>
              <a:cs typeface="Times New Roman" panose="02020603050405020304" charset="0"/>
            </a:endParaRPr>
          </a:p>
          <a:p>
            <a:pPr marL="0" indent="342900" algn="just">
              <a:buNone/>
            </a:pPr>
            <a:r>
              <a:rPr lang="en-US" altLang="en-US" sz="2800" dirty="0" smtClean="0">
                <a:latin typeface="Times New Roman" panose="02020603050405020304" charset="0"/>
                <a:cs typeface="Times New Roman" panose="02020603050405020304" charset="0"/>
              </a:rPr>
              <a:t>Software </a:t>
            </a:r>
            <a:r>
              <a:rPr lang="en-US" altLang="en-US" sz="2800" dirty="0">
                <a:latin typeface="Times New Roman" panose="02020603050405020304" charset="0"/>
                <a:cs typeface="Times New Roman" panose="02020603050405020304" charset="0"/>
              </a:rPr>
              <a:t>system designers can use architectural styles as templates and guides while creating software. This investigation will examine several software engineering architectural styles in-depth, particularly their traits, applications, and historical development.</a:t>
            </a:r>
          </a:p>
        </p:txBody>
      </p:sp>
    </p:spTree>
    <p:extLst>
      <p:ext uri="{BB962C8B-B14F-4D97-AF65-F5344CB8AC3E}">
        <p14:creationId xmlns:p14="http://schemas.microsoft.com/office/powerpoint/2010/main" val="414002021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063"/>
            <a:ext cx="8229600" cy="1143000"/>
          </a:xfrm>
        </p:spPr>
        <p:txBody>
          <a:bodyPr/>
          <a:lstStyle/>
          <a:p>
            <a:r>
              <a:rPr lang="en-US" altLang="en-US" dirty="0">
                <a:solidFill>
                  <a:srgbClr val="FF0000"/>
                </a:solidFill>
                <a:latin typeface="Times New Roman" panose="02020603050405020304" pitchFamily="18" charset="0"/>
                <a:cs typeface="Times New Roman" panose="02020603050405020304" pitchFamily="18" charset="0"/>
              </a:rPr>
              <a:t>ARCHITECTURAL STYLES</a:t>
            </a:r>
            <a:endParaRPr lang="en-US" altLang="en-US" dirty="0"/>
          </a:p>
        </p:txBody>
      </p:sp>
      <p:sp>
        <p:nvSpPr>
          <p:cNvPr id="3" name="Content Placeholder 2"/>
          <p:cNvSpPr>
            <a:spLocks noGrp="1"/>
          </p:cNvSpPr>
          <p:nvPr>
            <p:ph idx="1"/>
          </p:nvPr>
        </p:nvSpPr>
        <p:spPr>
          <a:xfrm>
            <a:off x="0" y="914400"/>
            <a:ext cx="9144000" cy="5943600"/>
          </a:xfrm>
        </p:spPr>
        <p:txBody>
          <a:bodyPr/>
          <a:lstStyle/>
          <a:p>
            <a:pPr algn="just"/>
            <a:r>
              <a:rPr lang="en-US" sz="2400" dirty="0"/>
              <a:t>A set of components (</a:t>
            </a:r>
            <a:r>
              <a:rPr lang="en-US" sz="2400" dirty="0" err="1"/>
              <a:t>eg</a:t>
            </a:r>
            <a:r>
              <a:rPr lang="en-US" sz="2400" dirty="0"/>
              <a:t>: a database, computational modules) that will perform a function required by the system.</a:t>
            </a:r>
            <a:endParaRPr lang="en-IN" sz="2400" dirty="0"/>
          </a:p>
          <a:p>
            <a:pPr algn="just"/>
            <a:r>
              <a:rPr lang="en-US" sz="2400" dirty="0"/>
              <a:t>The set of connectors will help in coordination, communication, and cooperation between the components.</a:t>
            </a:r>
            <a:endParaRPr lang="en-IN" sz="2400" dirty="0"/>
          </a:p>
          <a:p>
            <a:pPr algn="just"/>
            <a:r>
              <a:rPr lang="en-US" sz="2400" dirty="0"/>
              <a:t>Conditions that how components can be integrated to form the system.</a:t>
            </a:r>
            <a:endParaRPr lang="en-IN" sz="2400" dirty="0"/>
          </a:p>
          <a:p>
            <a:pPr algn="just"/>
            <a:r>
              <a:rPr lang="en-US" sz="2400" dirty="0"/>
              <a:t>Semantic models that help the designer to understand the overall properties of the system.</a:t>
            </a:r>
            <a:endParaRPr lang="en-IN" sz="2400" dirty="0"/>
          </a:p>
          <a:p>
            <a:pPr algn="just"/>
            <a:r>
              <a:rPr lang="en-US" sz="2400" dirty="0"/>
              <a:t>The use of architectural styles is to establish a structure for all the components of the system. </a:t>
            </a:r>
            <a:endParaRPr lang="en-IN" sz="2400" dirty="0"/>
          </a:p>
          <a:p>
            <a:pPr marL="0" indent="342900" algn="just">
              <a:buNone/>
            </a:pPr>
            <a:endParaRPr lang="en-US" altLang="en-US" sz="2400" dirty="0">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319097647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a:t>
            </a:r>
          </a:p>
        </p:txBody>
      </p:sp>
      <p:sp>
        <p:nvSpPr>
          <p:cNvPr id="3" name="Content Placeholder 2"/>
          <p:cNvSpPr>
            <a:spLocks noGrp="1"/>
          </p:cNvSpPr>
          <p:nvPr>
            <p:ph idx="1"/>
          </p:nvPr>
        </p:nvSpPr>
        <p:spPr/>
        <p:txBody>
          <a:bodyPr>
            <a:normAutofit fontScale="85000" lnSpcReduction="20000"/>
          </a:bodyPr>
          <a:lstStyle/>
          <a:p>
            <a:r>
              <a:rPr lang="en-US" altLang="en-US"/>
              <a:t>Monolithic Architecture</a:t>
            </a:r>
          </a:p>
          <a:p>
            <a:r>
              <a:rPr lang="en-US" altLang="en-US"/>
              <a:t>Layered Architecture</a:t>
            </a:r>
          </a:p>
          <a:p>
            <a:r>
              <a:rPr lang="en-US" altLang="en-US"/>
              <a:t>Architecture of Client-Server</a:t>
            </a:r>
          </a:p>
          <a:p>
            <a:r>
              <a:rPr lang="en-US" altLang="en-US"/>
              <a:t>Microservices Foundation</a:t>
            </a:r>
          </a:p>
          <a:p>
            <a:r>
              <a:rPr lang="en-US" altLang="en-US"/>
              <a:t>Event-Driven Architecture</a:t>
            </a:r>
          </a:p>
          <a:p>
            <a:r>
              <a:rPr lang="en-US" altLang="en-US"/>
              <a:t>Service-Oriented Architecture</a:t>
            </a:r>
          </a:p>
          <a:p>
            <a:r>
              <a:rPr lang="en-US" altLang="en-US"/>
              <a:t>Architecture Based on Components</a:t>
            </a:r>
          </a:p>
          <a:p>
            <a:r>
              <a:rPr lang="en-US" altLang="en-US"/>
              <a:t>Peer-to-Peer Architecture</a:t>
            </a:r>
          </a:p>
          <a:p>
            <a:r>
              <a:rPr lang="en-US" altLang="en-US"/>
              <a:t>Architecture in N-Tiers</a:t>
            </a:r>
          </a:p>
          <a:p>
            <a:r>
              <a:rPr lang="en-US" altLang="en-US"/>
              <a:t>Cloud-Based Architecture</a:t>
            </a:r>
          </a:p>
          <a:p>
            <a:endParaRPr lang="en-US" altLang="en-US"/>
          </a:p>
          <a:p>
            <a:pPr marL="0" indent="0">
              <a:buNone/>
            </a:pPr>
            <a:endParaRPr lang="en-US" altLang="en-US"/>
          </a:p>
        </p:txBody>
      </p:sp>
    </p:spTree>
    <p:extLst>
      <p:ext uri="{BB962C8B-B14F-4D97-AF65-F5344CB8AC3E}">
        <p14:creationId xmlns:p14="http://schemas.microsoft.com/office/powerpoint/2010/main" val="274076116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solidFill>
                  <a:srgbClr val="FF0000"/>
                </a:solidFill>
              </a:rPr>
              <a:t>ARCHITECTURAL DESIGN</a:t>
            </a:r>
            <a:endParaRPr lang="en-US" altLang="en-US" dirty="0">
              <a:solidFill>
                <a:srgbClr val="FF0000"/>
              </a:solidFill>
            </a:endParaRPr>
          </a:p>
        </p:txBody>
      </p:sp>
      <p:sp>
        <p:nvSpPr>
          <p:cNvPr id="3" name="Content Placeholder 2"/>
          <p:cNvSpPr>
            <a:spLocks noGrp="1"/>
          </p:cNvSpPr>
          <p:nvPr>
            <p:ph idx="1"/>
          </p:nvPr>
        </p:nvSpPr>
        <p:spPr>
          <a:xfrm>
            <a:off x="76200" y="1891189"/>
            <a:ext cx="9220200" cy="4662011"/>
          </a:xfrm>
        </p:spPr>
        <p:txBody>
          <a:bodyPr>
            <a:normAutofit fontScale="75000" lnSpcReduction="20000"/>
          </a:bodyPr>
          <a:lstStyle/>
          <a:p>
            <a:pPr algn="just"/>
            <a:r>
              <a:rPr lang="en-US" altLang="en-US" dirty="0">
                <a:latin typeface="Times New Roman" panose="02020603050405020304" charset="0"/>
                <a:cs typeface="Times New Roman" panose="02020603050405020304" charset="0"/>
              </a:rPr>
              <a:t>The software needs an architectural design to represent the design of the software. IEEE defines architectural design as “the process of defining a collection of hardware and software components and their interfaces to establish the framework for the development of a computer system.” The software that is built for computer-based systems can exhibit one of these many architectural styles. </a:t>
            </a:r>
          </a:p>
          <a:p>
            <a:pPr marL="0" indent="0" algn="just">
              <a:buNone/>
            </a:pPr>
            <a:r>
              <a:rPr lang="en-US" altLang="en-US" b="1" dirty="0">
                <a:latin typeface="Times New Roman" panose="02020603050405020304" charset="0"/>
                <a:cs typeface="Times New Roman" panose="02020603050405020304" charset="0"/>
              </a:rPr>
              <a:t>Taxonomy of Architectural Styles</a:t>
            </a:r>
          </a:p>
          <a:p>
            <a:pPr algn="just"/>
            <a:r>
              <a:rPr lang="en-US" altLang="en-US" dirty="0">
                <a:latin typeface="Times New Roman" panose="02020603050405020304" charset="0"/>
                <a:cs typeface="Times New Roman" panose="02020603050405020304" charset="0"/>
              </a:rPr>
              <a:t>Data centered architectures </a:t>
            </a:r>
          </a:p>
          <a:p>
            <a:pPr algn="just"/>
            <a:r>
              <a:rPr lang="en-US" altLang="en-US" dirty="0">
                <a:latin typeface="Times New Roman" panose="02020603050405020304" charset="0"/>
                <a:cs typeface="Times New Roman" panose="02020603050405020304" charset="0"/>
              </a:rPr>
              <a:t>Data flow architectures</a:t>
            </a:r>
          </a:p>
          <a:p>
            <a:pPr algn="just"/>
            <a:r>
              <a:rPr lang="en-US" altLang="en-US" dirty="0">
                <a:latin typeface="Times New Roman" panose="02020603050405020304" charset="0"/>
                <a:cs typeface="Times New Roman" panose="02020603050405020304" charset="0"/>
              </a:rPr>
              <a:t>Call and Return architectures</a:t>
            </a:r>
          </a:p>
          <a:p>
            <a:pPr algn="just"/>
            <a:r>
              <a:rPr lang="en-US" altLang="en-US" dirty="0">
                <a:latin typeface="Times New Roman" panose="02020603050405020304" charset="0"/>
                <a:cs typeface="Times New Roman" panose="02020603050405020304" charset="0"/>
              </a:rPr>
              <a:t>Object Oriented architecture</a:t>
            </a:r>
          </a:p>
          <a:p>
            <a:pPr algn="just"/>
            <a:r>
              <a:rPr lang="en-US" altLang="en-US" dirty="0">
                <a:latin typeface="Times New Roman" panose="02020603050405020304" charset="0"/>
                <a:cs typeface="Times New Roman" panose="02020603050405020304" charset="0"/>
              </a:rPr>
              <a:t>Layered architecture</a:t>
            </a:r>
          </a:p>
        </p:txBody>
      </p:sp>
    </p:spTree>
    <p:extLst>
      <p:ext uri="{BB962C8B-B14F-4D97-AF65-F5344CB8AC3E}">
        <p14:creationId xmlns:p14="http://schemas.microsoft.com/office/powerpoint/2010/main" val="110662757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latin typeface="Times New Roman" panose="02020603050405020304" charset="0"/>
                <a:cs typeface="Times New Roman" panose="02020603050405020304" charset="0"/>
                <a:sym typeface="+mn-ea"/>
              </a:rPr>
              <a:t>Data centered architectures </a:t>
            </a:r>
            <a:endParaRPr lang="en-US"/>
          </a:p>
        </p:txBody>
      </p:sp>
      <p:pic>
        <p:nvPicPr>
          <p:cNvPr id="4" name="Picture 3"/>
          <p:cNvPicPr/>
          <p:nvPr/>
        </p:nvPicPr>
        <p:blipFill>
          <a:blip r:embed="rId2"/>
          <a:stretch>
            <a:fillRect/>
          </a:stretch>
        </p:blipFill>
        <p:spPr>
          <a:xfrm>
            <a:off x="857727" y="2125028"/>
            <a:ext cx="7469981" cy="3565684"/>
          </a:xfrm>
          <a:prstGeom prst="rect">
            <a:avLst/>
          </a:prstGeom>
        </p:spPr>
      </p:pic>
    </p:spTree>
    <p:extLst>
      <p:ext uri="{BB962C8B-B14F-4D97-AF65-F5344CB8AC3E}">
        <p14:creationId xmlns:p14="http://schemas.microsoft.com/office/powerpoint/2010/main" val="24911881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Data flow architectures</a:t>
            </a:r>
          </a:p>
        </p:txBody>
      </p:sp>
      <p:pic>
        <p:nvPicPr>
          <p:cNvPr id="4" name="Picture 3"/>
          <p:cNvPicPr/>
          <p:nvPr/>
        </p:nvPicPr>
        <p:blipFill>
          <a:blip r:embed="rId2"/>
          <a:stretch>
            <a:fillRect/>
          </a:stretch>
        </p:blipFill>
        <p:spPr>
          <a:xfrm>
            <a:off x="841534" y="2125028"/>
            <a:ext cx="7674293" cy="3037999"/>
          </a:xfrm>
          <a:prstGeom prst="rect">
            <a:avLst/>
          </a:prstGeom>
        </p:spPr>
      </p:pic>
    </p:spTree>
    <p:extLst>
      <p:ext uri="{BB962C8B-B14F-4D97-AF65-F5344CB8AC3E}">
        <p14:creationId xmlns:p14="http://schemas.microsoft.com/office/powerpoint/2010/main" val="125360344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Call and Return architectures</a:t>
            </a:r>
          </a:p>
        </p:txBody>
      </p:sp>
      <p:pic>
        <p:nvPicPr>
          <p:cNvPr id="4" name="Picture 3"/>
          <p:cNvPicPr/>
          <p:nvPr/>
        </p:nvPicPr>
        <p:blipFill>
          <a:blip r:embed="rId2"/>
          <a:stretch>
            <a:fillRect/>
          </a:stretch>
        </p:blipFill>
        <p:spPr>
          <a:xfrm>
            <a:off x="1014413" y="2239804"/>
            <a:ext cx="6829425" cy="3155156"/>
          </a:xfrm>
          <a:prstGeom prst="rect">
            <a:avLst/>
          </a:prstGeom>
        </p:spPr>
      </p:pic>
    </p:spTree>
    <p:extLst>
      <p:ext uri="{BB962C8B-B14F-4D97-AF65-F5344CB8AC3E}">
        <p14:creationId xmlns:p14="http://schemas.microsoft.com/office/powerpoint/2010/main" val="346356392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Layered architecture</a:t>
            </a:r>
          </a:p>
        </p:txBody>
      </p:sp>
      <p:pic>
        <p:nvPicPr>
          <p:cNvPr id="5" name="Picture 4"/>
          <p:cNvPicPr/>
          <p:nvPr/>
        </p:nvPicPr>
        <p:blipFill>
          <a:blip r:embed="rId2"/>
          <a:stretch>
            <a:fillRect/>
          </a:stretch>
        </p:blipFill>
        <p:spPr>
          <a:xfrm>
            <a:off x="4743450" y="1294924"/>
            <a:ext cx="4188143" cy="4499134"/>
          </a:xfrm>
          <a:prstGeom prst="rect">
            <a:avLst/>
          </a:prstGeom>
        </p:spPr>
      </p:pic>
      <p:sp>
        <p:nvSpPr>
          <p:cNvPr id="6" name="Text Box 5"/>
          <p:cNvSpPr txBox="1"/>
          <p:nvPr/>
        </p:nvSpPr>
        <p:spPr>
          <a:xfrm>
            <a:off x="628174" y="1918812"/>
            <a:ext cx="4055745" cy="3798094"/>
          </a:xfrm>
          <a:prstGeom prst="rect">
            <a:avLst/>
          </a:prstGeom>
          <a:noFill/>
        </p:spPr>
        <p:txBody>
          <a:bodyPr wrap="square" rtlCol="0">
            <a:noAutofit/>
          </a:bodyPr>
          <a:lstStyle/>
          <a:p>
            <a:pPr marL="257175" indent="-257175" algn="just">
              <a:buFont typeface="Arial" panose="020B0604020202020204" pitchFamily="34" charset="0"/>
              <a:buChar char="•"/>
            </a:pPr>
            <a:r>
              <a:rPr lang="en-US" altLang="en-US" sz="1500" dirty="0">
                <a:latin typeface="Times New Roman" panose="02020603050405020304" charset="0"/>
                <a:cs typeface="Times New Roman" panose="02020603050405020304" charset="0"/>
              </a:rPr>
              <a:t>A number of different layers are defined with each layer performing a well-defined set of operations. Each layer will do some operations that becomes closer to machine instruction set progressively.</a:t>
            </a:r>
          </a:p>
          <a:p>
            <a:pPr marL="257175" indent="-257175" algn="just">
              <a:buFont typeface="Arial" panose="020B0604020202020204" pitchFamily="34" charset="0"/>
              <a:buChar char="•"/>
            </a:pPr>
            <a:r>
              <a:rPr lang="en-US" altLang="en-US" sz="1500" dirty="0">
                <a:latin typeface="Times New Roman" panose="02020603050405020304" charset="0"/>
                <a:cs typeface="Times New Roman" panose="02020603050405020304" charset="0"/>
              </a:rPr>
              <a:t>At the outer layer, components will receive the user interface operations and at the inner layers, components will perform the operating system interfacing(communication and coordination with OS)</a:t>
            </a:r>
          </a:p>
          <a:p>
            <a:pPr marL="257175" indent="-257175" algn="just">
              <a:buFont typeface="Arial" panose="020B0604020202020204" pitchFamily="34" charset="0"/>
              <a:buChar char="•"/>
            </a:pPr>
            <a:r>
              <a:rPr lang="en-US" altLang="en-US" sz="1500" dirty="0">
                <a:latin typeface="Times New Roman" panose="02020603050405020304" charset="0"/>
                <a:cs typeface="Times New Roman" panose="02020603050405020304" charset="0"/>
              </a:rPr>
              <a:t>Intermediate layers to utility services and application software functions.</a:t>
            </a:r>
          </a:p>
          <a:p>
            <a:pPr marL="257175" indent="-257175" algn="just">
              <a:buFont typeface="Arial" panose="020B0604020202020204" pitchFamily="34" charset="0"/>
              <a:buChar char="•"/>
            </a:pPr>
            <a:r>
              <a:rPr lang="en-US" altLang="en-US" sz="1500" dirty="0">
                <a:latin typeface="Times New Roman" panose="02020603050405020304" charset="0"/>
                <a:cs typeface="Times New Roman" panose="02020603050405020304" charset="0"/>
              </a:rPr>
              <a:t>One common example of this architectural style is OSI-ISO (Open Systems Interconnection-International </a:t>
            </a:r>
            <a:r>
              <a:rPr lang="en-US" altLang="en-US" sz="1500" dirty="0" err="1">
                <a:latin typeface="Times New Roman" panose="02020603050405020304" charset="0"/>
                <a:cs typeface="Times New Roman" panose="02020603050405020304" charset="0"/>
              </a:rPr>
              <a:t>Organisation</a:t>
            </a:r>
            <a:r>
              <a:rPr lang="en-US" altLang="en-US" sz="1500" dirty="0">
                <a:latin typeface="Times New Roman" panose="02020603050405020304" charset="0"/>
                <a:cs typeface="Times New Roman" panose="02020603050405020304" charset="0"/>
              </a:rPr>
              <a:t> for </a:t>
            </a:r>
            <a:r>
              <a:rPr lang="en-US" altLang="en-US" sz="1500" dirty="0" err="1">
                <a:latin typeface="Times New Roman" panose="02020603050405020304" charset="0"/>
                <a:cs typeface="Times New Roman" panose="02020603050405020304" charset="0"/>
              </a:rPr>
              <a:t>Standardisation</a:t>
            </a:r>
            <a:r>
              <a:rPr lang="en-US" altLang="en-US" sz="1500" dirty="0">
                <a:latin typeface="Times New Roman" panose="02020603050405020304" charset="0"/>
                <a:cs typeface="Times New Roman" panose="02020603050405020304" charset="0"/>
              </a:rPr>
              <a:t>) communication system.</a:t>
            </a:r>
          </a:p>
          <a:p>
            <a:pPr algn="just"/>
            <a:endParaRPr lang="en-US" altLang="en-US" sz="1500" dirty="0">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125616060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886700" cy="475298"/>
          </a:xfrm>
        </p:spPr>
        <p:txBody>
          <a:bodyPr>
            <a:noAutofit/>
          </a:bodyPr>
          <a:lstStyle/>
          <a:p>
            <a:r>
              <a:rPr lang="en-US" altLang="en-US" sz="3600" dirty="0" smtClean="0">
                <a:solidFill>
                  <a:srgbClr val="FF0000"/>
                </a:solidFill>
                <a:latin typeface="Times New Roman" panose="02020603050405020304" pitchFamily="18" charset="0"/>
                <a:cs typeface="Times New Roman" panose="02020603050405020304" pitchFamily="18" charset="0"/>
              </a:rPr>
              <a:t>SOFTWARE DESIGN PATTERNS </a:t>
            </a:r>
            <a:endParaRPr lang="en-US" alt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2400" y="627698"/>
            <a:ext cx="9448800" cy="6230302"/>
          </a:xfrm>
        </p:spPr>
        <p:txBody>
          <a:bodyPr>
            <a:normAutofit fontScale="82500" lnSpcReduction="10000"/>
          </a:bodyPr>
          <a:lstStyle/>
          <a:p>
            <a:pPr marL="0" indent="342900" algn="just">
              <a:buNone/>
            </a:pPr>
            <a:r>
              <a:rPr lang="en-US" altLang="en-US" dirty="0">
                <a:latin typeface="Times New Roman" panose="02020603050405020304" charset="0"/>
                <a:cs typeface="Times New Roman" panose="02020603050405020304" charset="0"/>
              </a:rPr>
              <a:t>Software design patterns are important tools developers, </a:t>
            </a:r>
            <a:r>
              <a:rPr lang="en-US" altLang="en-US" u="sng" dirty="0">
                <a:latin typeface="Times New Roman" panose="02020603050405020304" charset="0"/>
                <a:cs typeface="Times New Roman" panose="02020603050405020304" charset="0"/>
              </a:rPr>
              <a:t>providing proven solutions to common problems encountered during software development</a:t>
            </a:r>
            <a:r>
              <a:rPr lang="en-US" altLang="en-US" dirty="0">
                <a:latin typeface="Times New Roman" panose="02020603050405020304" charset="0"/>
                <a:cs typeface="Times New Roman" panose="02020603050405020304" charset="0"/>
              </a:rPr>
              <a:t>. Developers can create more </a:t>
            </a:r>
            <a:r>
              <a:rPr lang="en-US" altLang="en-US" u="sng" dirty="0">
                <a:latin typeface="Times New Roman" panose="02020603050405020304" charset="0"/>
                <a:cs typeface="Times New Roman" panose="02020603050405020304" charset="0"/>
              </a:rPr>
              <a:t>robust, maintainable, and scalable </a:t>
            </a:r>
            <a:r>
              <a:rPr lang="en-US" altLang="en-US" dirty="0">
                <a:latin typeface="Times New Roman" panose="02020603050405020304" charset="0"/>
                <a:cs typeface="Times New Roman" panose="02020603050405020304" charset="0"/>
              </a:rPr>
              <a:t>software systems by understanding and applying these patterns.</a:t>
            </a:r>
          </a:p>
          <a:p>
            <a:pPr marL="0" indent="0" algn="just">
              <a:buNone/>
            </a:pPr>
            <a:r>
              <a:rPr lang="en-US" altLang="en-US" b="1" dirty="0">
                <a:latin typeface="Times New Roman" panose="02020603050405020304" charset="0"/>
                <a:cs typeface="Times New Roman" panose="02020603050405020304" charset="0"/>
              </a:rPr>
              <a:t>Key Characteristics of Design Patterns</a:t>
            </a:r>
            <a:endParaRPr lang="en-US" altLang="en-US" dirty="0">
              <a:latin typeface="Times New Roman" panose="02020603050405020304" charset="0"/>
              <a:cs typeface="Times New Roman" panose="02020603050405020304" charset="0"/>
            </a:endParaRPr>
          </a:p>
          <a:p>
            <a:pPr algn="just"/>
            <a:r>
              <a:rPr lang="en-US" altLang="en-US" b="1" dirty="0">
                <a:latin typeface="Times New Roman" panose="02020603050405020304" charset="0"/>
                <a:cs typeface="Times New Roman" panose="02020603050405020304" charset="0"/>
              </a:rPr>
              <a:t>Reusability</a:t>
            </a:r>
            <a:r>
              <a:rPr lang="en-US" altLang="en-US" dirty="0">
                <a:latin typeface="Times New Roman" panose="02020603050405020304" charset="0"/>
                <a:cs typeface="Times New Roman" panose="02020603050405020304" charset="0"/>
              </a:rPr>
              <a:t>: Patterns can be applied to different projects and problems, saving time and effort in solving similar issues.</a:t>
            </a:r>
          </a:p>
          <a:p>
            <a:pPr algn="just"/>
            <a:r>
              <a:rPr lang="en-US" altLang="en-US" b="1" dirty="0">
                <a:latin typeface="Times New Roman" panose="02020603050405020304" charset="0"/>
                <a:cs typeface="Times New Roman" panose="02020603050405020304" charset="0"/>
              </a:rPr>
              <a:t>Standardization</a:t>
            </a:r>
            <a:r>
              <a:rPr lang="en-US" altLang="en-US" dirty="0">
                <a:latin typeface="Times New Roman" panose="02020603050405020304" charset="0"/>
                <a:cs typeface="Times New Roman" panose="02020603050405020304" charset="0"/>
              </a:rPr>
              <a:t>: They provide a shared language and understanding among developers, helping in communication and collaboration.</a:t>
            </a:r>
          </a:p>
          <a:p>
            <a:pPr algn="just"/>
            <a:r>
              <a:rPr lang="en-US" altLang="en-US" b="1" dirty="0">
                <a:latin typeface="Times New Roman" panose="02020603050405020304" charset="0"/>
                <a:cs typeface="Times New Roman" panose="02020603050405020304" charset="0"/>
              </a:rPr>
              <a:t>Efficiency</a:t>
            </a:r>
            <a:r>
              <a:rPr lang="en-US" altLang="en-US" dirty="0">
                <a:latin typeface="Times New Roman" panose="02020603050405020304" charset="0"/>
                <a:cs typeface="Times New Roman" panose="02020603050405020304" charset="0"/>
              </a:rPr>
              <a:t>: By using these popular patterns, developers can avoid finding the solution to same recurring problems, which leads to faster development.</a:t>
            </a:r>
          </a:p>
          <a:p>
            <a:pPr algn="just"/>
            <a:r>
              <a:rPr lang="en-US" altLang="en-US" b="1" dirty="0">
                <a:latin typeface="Times New Roman" panose="02020603050405020304" charset="0"/>
                <a:cs typeface="Times New Roman" panose="02020603050405020304" charset="0"/>
              </a:rPr>
              <a:t>Flexibility</a:t>
            </a:r>
            <a:r>
              <a:rPr lang="en-US" altLang="en-US" dirty="0">
                <a:latin typeface="Times New Roman" panose="02020603050405020304" charset="0"/>
                <a:cs typeface="Times New Roman" panose="02020603050405020304" charset="0"/>
              </a:rPr>
              <a:t>: Patterns are abstract solutions/templates that can be adapted to fit various scenarios and requirements.</a:t>
            </a:r>
          </a:p>
        </p:txBody>
      </p:sp>
    </p:spTree>
    <p:extLst>
      <p:ext uri="{BB962C8B-B14F-4D97-AF65-F5344CB8AC3E}">
        <p14:creationId xmlns:p14="http://schemas.microsoft.com/office/powerpoint/2010/main" val="152522645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Types of Software Design Patterns</a:t>
            </a:r>
          </a:p>
        </p:txBody>
      </p:sp>
      <p:sp>
        <p:nvSpPr>
          <p:cNvPr id="3" name="Content Placeholder 2"/>
          <p:cNvSpPr>
            <a:spLocks noGrp="1"/>
          </p:cNvSpPr>
          <p:nvPr>
            <p:ph idx="1"/>
          </p:nvPr>
        </p:nvSpPr>
        <p:spPr/>
        <p:txBody>
          <a:bodyPr/>
          <a:lstStyle/>
          <a:p>
            <a:r>
              <a:rPr lang="en-US" altLang="en-US" dirty="0">
                <a:latin typeface="Times New Roman" panose="02020603050405020304" pitchFamily="18" charset="0"/>
                <a:cs typeface="Times New Roman" panose="02020603050405020304" pitchFamily="18" charset="0"/>
              </a:rPr>
              <a:t>Creational Design Pattern</a:t>
            </a:r>
          </a:p>
          <a:p>
            <a:r>
              <a:rPr lang="en-US" altLang="en-US" dirty="0">
                <a:latin typeface="Times New Roman" panose="02020603050405020304" pitchFamily="18" charset="0"/>
                <a:cs typeface="Times New Roman" panose="02020603050405020304" pitchFamily="18" charset="0"/>
              </a:rPr>
              <a:t>Structural Design Pattern</a:t>
            </a:r>
          </a:p>
          <a:p>
            <a:r>
              <a:rPr lang="en-US" altLang="en-US" dirty="0">
                <a:latin typeface="Times New Roman" panose="02020603050405020304" pitchFamily="18" charset="0"/>
                <a:cs typeface="Times New Roman" panose="02020603050405020304" pitchFamily="18" charset="0"/>
              </a:rPr>
              <a:t>Behavioral Design Pattern</a:t>
            </a:r>
          </a:p>
        </p:txBody>
      </p:sp>
    </p:spTree>
    <p:extLst>
      <p:ext uri="{BB962C8B-B14F-4D97-AF65-F5344CB8AC3E}">
        <p14:creationId xmlns:p14="http://schemas.microsoft.com/office/powerpoint/2010/main" val="142142438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FF0000"/>
                </a:solidFill>
              </a:rPr>
              <a:t>Creational Design Patterns</a:t>
            </a:r>
          </a:p>
        </p:txBody>
      </p:sp>
      <p:sp>
        <p:nvSpPr>
          <p:cNvPr id="3" name="Content Placeholder 2"/>
          <p:cNvSpPr>
            <a:spLocks noGrp="1"/>
          </p:cNvSpPr>
          <p:nvPr>
            <p:ph idx="1"/>
          </p:nvPr>
        </p:nvSpPr>
        <p:spPr>
          <a:xfrm>
            <a:off x="76200" y="1834992"/>
            <a:ext cx="4566285" cy="4794408"/>
          </a:xfrm>
        </p:spPr>
        <p:txBody>
          <a:bodyPr>
            <a:normAutofit fontScale="82500" lnSpcReduction="10000"/>
          </a:bodyPr>
          <a:lstStyle/>
          <a:p>
            <a:pPr marL="0" indent="342900" algn="just">
              <a:buNone/>
            </a:pPr>
            <a:r>
              <a:rPr lang="en-US" altLang="en-US" dirty="0">
                <a:latin typeface="Times New Roman" panose="02020603050405020304" charset="0"/>
                <a:cs typeface="Times New Roman" panose="02020603050405020304" charset="0"/>
              </a:rPr>
              <a:t>Creational Design Patterns focus on the </a:t>
            </a:r>
            <a:r>
              <a:rPr lang="en-US" altLang="en-US" b="1" dirty="0">
                <a:latin typeface="Times New Roman" panose="02020603050405020304" charset="0"/>
                <a:cs typeface="Times New Roman" panose="02020603050405020304" charset="0"/>
              </a:rPr>
              <a:t>process of object creation</a:t>
            </a:r>
            <a:r>
              <a:rPr lang="en-US" altLang="en-US" dirty="0">
                <a:latin typeface="Times New Roman" panose="02020603050405020304" charset="0"/>
                <a:cs typeface="Times New Roman" panose="02020603050405020304" charset="0"/>
              </a:rPr>
              <a:t> or problems related to object creation. They help in making a system independent of how its objects are created, composed and represented.</a:t>
            </a:r>
          </a:p>
          <a:p>
            <a:pPr marL="0" indent="0" algn="just">
              <a:buNone/>
            </a:pPr>
            <a:r>
              <a:rPr lang="en-US" altLang="en-US" b="1" dirty="0">
                <a:latin typeface="Times New Roman" panose="02020603050405020304" charset="0"/>
                <a:cs typeface="Times New Roman" panose="02020603050405020304" charset="0"/>
              </a:rPr>
              <a:t>Types:</a:t>
            </a:r>
          </a:p>
          <a:p>
            <a:pPr algn="just"/>
            <a:r>
              <a:rPr lang="en-US" altLang="en-US" dirty="0">
                <a:latin typeface="Times New Roman" panose="02020603050405020304" charset="0"/>
                <a:cs typeface="Times New Roman" panose="02020603050405020304" charset="0"/>
              </a:rPr>
              <a:t>Factory Method</a:t>
            </a:r>
          </a:p>
          <a:p>
            <a:pPr algn="just"/>
            <a:r>
              <a:rPr lang="en-US" altLang="en-US" dirty="0">
                <a:latin typeface="Times New Roman" panose="02020603050405020304" charset="0"/>
                <a:cs typeface="Times New Roman" panose="02020603050405020304" charset="0"/>
              </a:rPr>
              <a:t>Abstract Factory Method </a:t>
            </a:r>
          </a:p>
          <a:p>
            <a:pPr algn="just"/>
            <a:r>
              <a:rPr lang="en-US" altLang="en-US" dirty="0">
                <a:latin typeface="Times New Roman" panose="02020603050405020304" charset="0"/>
                <a:cs typeface="Times New Roman" panose="02020603050405020304" charset="0"/>
              </a:rPr>
              <a:t>Singleton Method </a:t>
            </a:r>
          </a:p>
          <a:p>
            <a:pPr algn="just"/>
            <a:r>
              <a:rPr lang="en-US" altLang="en-US" dirty="0">
                <a:latin typeface="Times New Roman" panose="02020603050405020304" charset="0"/>
                <a:cs typeface="Times New Roman" panose="02020603050405020304" charset="0"/>
              </a:rPr>
              <a:t>Builder Method </a:t>
            </a:r>
          </a:p>
        </p:txBody>
      </p:sp>
      <p:pic>
        <p:nvPicPr>
          <p:cNvPr id="4" name="Picture 3"/>
          <p:cNvPicPr/>
          <p:nvPr/>
        </p:nvPicPr>
        <p:blipFill>
          <a:blip r:embed="rId2"/>
          <a:stretch>
            <a:fillRect/>
          </a:stretch>
        </p:blipFill>
        <p:spPr>
          <a:xfrm>
            <a:off x="4642009" y="1909286"/>
            <a:ext cx="4141946" cy="4643913"/>
          </a:xfrm>
          <a:prstGeom prst="rect">
            <a:avLst/>
          </a:prstGeom>
        </p:spPr>
      </p:pic>
    </p:spTree>
    <p:extLst>
      <p:ext uri="{BB962C8B-B14F-4D97-AF65-F5344CB8AC3E}">
        <p14:creationId xmlns:p14="http://schemas.microsoft.com/office/powerpoint/2010/main" val="130472998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altLang="en-US" dirty="0">
                <a:solidFill>
                  <a:srgbClr val="FF0000"/>
                </a:solidFill>
                <a:latin typeface="Times New Roman" panose="02020603050405020304" pitchFamily="18" charset="0"/>
                <a:cs typeface="Times New Roman" panose="02020603050405020304" pitchFamily="18" charset="0"/>
              </a:rPr>
              <a:t>Structural Design Patterns</a:t>
            </a:r>
          </a:p>
        </p:txBody>
      </p:sp>
      <p:sp>
        <p:nvSpPr>
          <p:cNvPr id="3" name="Content Placeholder 2"/>
          <p:cNvSpPr>
            <a:spLocks noGrp="1"/>
          </p:cNvSpPr>
          <p:nvPr>
            <p:ph idx="1"/>
          </p:nvPr>
        </p:nvSpPr>
        <p:spPr>
          <a:xfrm>
            <a:off x="0" y="1219200"/>
            <a:ext cx="4953000" cy="5943600"/>
          </a:xfrm>
        </p:spPr>
        <p:txBody>
          <a:bodyPr/>
          <a:lstStyle/>
          <a:p>
            <a:pPr marL="0" indent="342900">
              <a:buNone/>
            </a:pPr>
            <a:r>
              <a:rPr lang="en-US" altLang="en-US" dirty="0">
                <a:latin typeface="Times New Roman" panose="02020603050405020304" charset="0"/>
                <a:cs typeface="Times New Roman" panose="02020603050405020304" charset="0"/>
              </a:rPr>
              <a:t>Structural Design Patterns </a:t>
            </a:r>
            <a:r>
              <a:rPr lang="en-US" altLang="en-US" dirty="0" smtClean="0">
                <a:latin typeface="Times New Roman" panose="02020603050405020304" charset="0"/>
                <a:cs typeface="Times New Roman" panose="02020603050405020304" charset="0"/>
              </a:rPr>
              <a:t>solves problems </a:t>
            </a:r>
            <a:r>
              <a:rPr lang="en-US" altLang="en-US" dirty="0">
                <a:latin typeface="Times New Roman" panose="02020603050405020304" charset="0"/>
                <a:cs typeface="Times New Roman" panose="02020603050405020304" charset="0"/>
              </a:rPr>
              <a:t>related to how classes and objects are composed/assembled to form larger structures which are efficient and flexible in nature. Structural class patterns use </a:t>
            </a:r>
            <a:r>
              <a:rPr lang="en-US" altLang="en-US" dirty="0" smtClean="0">
                <a:latin typeface="Times New Roman" panose="02020603050405020304" charset="0"/>
                <a:cs typeface="Times New Roman" panose="02020603050405020304" charset="0"/>
              </a:rPr>
              <a:t>inheritance</a:t>
            </a:r>
            <a:r>
              <a:rPr lang="en-US" altLang="en-US" dirty="0" smtClean="0">
                <a:latin typeface="Times New Roman" panose="02020603050405020304" charset="0"/>
                <a:cs typeface="Times New Roman" panose="02020603050405020304" charset="0"/>
              </a:rPr>
              <a:t> </a:t>
            </a:r>
            <a:r>
              <a:rPr lang="en-US" altLang="en-US" dirty="0" smtClean="0">
                <a:latin typeface="Times New Roman" panose="02020603050405020304" charset="0"/>
                <a:cs typeface="Times New Roman" panose="02020603050405020304" charset="0"/>
              </a:rPr>
              <a:t>to </a:t>
            </a:r>
            <a:r>
              <a:rPr lang="en-US" altLang="en-US" dirty="0">
                <a:latin typeface="Times New Roman" panose="02020603050405020304" charset="0"/>
                <a:cs typeface="Times New Roman" panose="02020603050405020304" charset="0"/>
              </a:rPr>
              <a:t>compose interfaces or implementations. </a:t>
            </a:r>
          </a:p>
        </p:txBody>
      </p:sp>
      <p:pic>
        <p:nvPicPr>
          <p:cNvPr id="4" name="Picture 3"/>
          <p:cNvPicPr/>
          <p:nvPr/>
        </p:nvPicPr>
        <p:blipFill>
          <a:blip r:embed="rId2"/>
          <a:stretch>
            <a:fillRect/>
          </a:stretch>
        </p:blipFill>
        <p:spPr>
          <a:xfrm>
            <a:off x="4800599" y="1854041"/>
            <a:ext cx="4343877" cy="3878580"/>
          </a:xfrm>
          <a:prstGeom prst="rect">
            <a:avLst/>
          </a:prstGeom>
        </p:spPr>
      </p:pic>
    </p:spTree>
    <p:extLst>
      <p:ext uri="{BB962C8B-B14F-4D97-AF65-F5344CB8AC3E}">
        <p14:creationId xmlns:p14="http://schemas.microsoft.com/office/powerpoint/2010/main" val="369363971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28600"/>
            <a:ext cx="7886700" cy="380048"/>
          </a:xfrm>
        </p:spPr>
        <p:txBody>
          <a:bodyPr>
            <a:normAutofit fontScale="90000"/>
          </a:bodyPr>
          <a:lstStyle/>
          <a:p>
            <a:r>
              <a:rPr lang="en-US" altLang="en-US" dirty="0">
                <a:solidFill>
                  <a:srgbClr val="FF0000"/>
                </a:solidFill>
              </a:rPr>
              <a:t>Behavioral Design Patterns</a:t>
            </a:r>
          </a:p>
        </p:txBody>
      </p:sp>
      <p:sp>
        <p:nvSpPr>
          <p:cNvPr id="3" name="Content Placeholder 2"/>
          <p:cNvSpPr>
            <a:spLocks noGrp="1"/>
          </p:cNvSpPr>
          <p:nvPr>
            <p:ph idx="1"/>
          </p:nvPr>
        </p:nvSpPr>
        <p:spPr>
          <a:xfrm>
            <a:off x="0" y="762000"/>
            <a:ext cx="9144000" cy="5791200"/>
          </a:xfrm>
        </p:spPr>
        <p:txBody>
          <a:bodyPr/>
          <a:lstStyle/>
          <a:p>
            <a:pPr algn="just"/>
            <a:r>
              <a:rPr lang="en-US" altLang="en-US" sz="2400" dirty="0">
                <a:latin typeface="Times New Roman" panose="02020603050405020304" charset="0"/>
                <a:cs typeface="Times New Roman" panose="02020603050405020304" charset="0"/>
              </a:rPr>
              <a:t>Behavioral Patterns are concerned with algorithms and the assignment of responsibilities between objects. Behavioral patterns describe not just </a:t>
            </a:r>
            <a:r>
              <a:rPr lang="en-US" altLang="en-US" sz="2400" b="1" dirty="0">
                <a:latin typeface="Times New Roman" panose="02020603050405020304" charset="0"/>
                <a:cs typeface="Times New Roman" panose="02020603050405020304" charset="0"/>
              </a:rPr>
              <a:t>patterns of objects or classes</a:t>
            </a:r>
            <a:r>
              <a:rPr lang="en-US" altLang="en-US" sz="2400" dirty="0">
                <a:latin typeface="Times New Roman" panose="02020603050405020304" charset="0"/>
                <a:cs typeface="Times New Roman" panose="02020603050405020304" charset="0"/>
              </a:rPr>
              <a:t> but also the </a:t>
            </a:r>
            <a:r>
              <a:rPr lang="en-US" altLang="en-US" sz="2400" b="1" u="sng" dirty="0">
                <a:latin typeface="Times New Roman" panose="02020603050405020304" charset="0"/>
                <a:cs typeface="Times New Roman" panose="02020603050405020304" charset="0"/>
              </a:rPr>
              <a:t>patterns of communication</a:t>
            </a:r>
            <a:r>
              <a:rPr lang="en-US" altLang="en-US" sz="2400" dirty="0">
                <a:latin typeface="Times New Roman" panose="02020603050405020304" charset="0"/>
                <a:cs typeface="Times New Roman" panose="02020603050405020304" charset="0"/>
              </a:rPr>
              <a:t> between them. These patterns characterize complex control flow that’s difficult to follow at run-time. </a:t>
            </a:r>
          </a:p>
        </p:txBody>
      </p:sp>
      <p:pic>
        <p:nvPicPr>
          <p:cNvPr id="4" name="Picture 3"/>
          <p:cNvPicPr/>
          <p:nvPr/>
        </p:nvPicPr>
        <p:blipFill>
          <a:blip r:embed="rId2"/>
          <a:stretch>
            <a:fillRect/>
          </a:stretch>
        </p:blipFill>
        <p:spPr>
          <a:xfrm>
            <a:off x="628650" y="2942749"/>
            <a:ext cx="8111014" cy="3077051"/>
          </a:xfrm>
          <a:prstGeom prst="rect">
            <a:avLst/>
          </a:prstGeom>
        </p:spPr>
      </p:pic>
    </p:spTree>
    <p:extLst>
      <p:ext uri="{BB962C8B-B14F-4D97-AF65-F5344CB8AC3E}">
        <p14:creationId xmlns:p14="http://schemas.microsoft.com/office/powerpoint/2010/main" val="176977618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886700" cy="491014"/>
          </a:xfrm>
        </p:spPr>
        <p:txBody>
          <a:bodyPr>
            <a:normAutofit fontScale="90000"/>
          </a:bodyPr>
          <a:lstStyle/>
          <a:p>
            <a:r>
              <a:rPr lang="en-US" altLang="en-US" dirty="0">
                <a:solidFill>
                  <a:srgbClr val="FF0000"/>
                </a:solidFill>
              </a:rPr>
              <a:t>Advantages of Pattern Designing</a:t>
            </a:r>
          </a:p>
        </p:txBody>
      </p:sp>
      <p:sp>
        <p:nvSpPr>
          <p:cNvPr id="3" name="Content Placeholder 2"/>
          <p:cNvSpPr>
            <a:spLocks noGrp="1"/>
          </p:cNvSpPr>
          <p:nvPr>
            <p:ph idx="1"/>
          </p:nvPr>
        </p:nvSpPr>
        <p:spPr>
          <a:xfrm>
            <a:off x="0" y="643414"/>
            <a:ext cx="9144000" cy="6138385"/>
          </a:xfrm>
        </p:spPr>
        <p:txBody>
          <a:bodyPr>
            <a:noAutofit/>
          </a:bodyPr>
          <a:lstStyle/>
          <a:p>
            <a:pPr algn="just"/>
            <a:r>
              <a:rPr lang="en-US" altLang="en-US" sz="2000" b="1" dirty="0">
                <a:latin typeface="Times New Roman" panose="02020603050405020304" charset="0"/>
                <a:cs typeface="Times New Roman" panose="02020603050405020304" charset="0"/>
              </a:rPr>
              <a:t>Reusable Solutions:</a:t>
            </a:r>
            <a:r>
              <a:rPr lang="en-US" altLang="en-US" sz="2000" dirty="0">
                <a:latin typeface="Times New Roman" panose="02020603050405020304" charset="0"/>
                <a:cs typeface="Times New Roman" panose="02020603050405020304" charset="0"/>
              </a:rPr>
              <a:t> Pattern designing emphasizes creating solutions that are not specific to a particular project but can be reused across various projects. This promotes code reusability and consistency.</a:t>
            </a:r>
          </a:p>
          <a:p>
            <a:pPr algn="just"/>
            <a:r>
              <a:rPr lang="en-US" altLang="en-US" sz="2000" b="1" dirty="0">
                <a:latin typeface="Times New Roman" panose="02020603050405020304" charset="0"/>
                <a:cs typeface="Times New Roman" panose="02020603050405020304" charset="0"/>
              </a:rPr>
              <a:t>Scalability:</a:t>
            </a:r>
            <a:r>
              <a:rPr lang="en-US" altLang="en-US" sz="2000" dirty="0">
                <a:latin typeface="Times New Roman" panose="02020603050405020304" charset="0"/>
                <a:cs typeface="Times New Roman" panose="02020603050405020304" charset="0"/>
              </a:rPr>
              <a:t> Patterns provide a structured approach to design, making it easier to scale a system by applying well-defined solutions to new components or modules. This promotes a consistent architecture across the entire application.</a:t>
            </a:r>
          </a:p>
          <a:p>
            <a:pPr algn="just"/>
            <a:r>
              <a:rPr lang="en-US" altLang="en-US" sz="2000" b="1" dirty="0">
                <a:latin typeface="Times New Roman" panose="02020603050405020304" charset="0"/>
                <a:cs typeface="Times New Roman" panose="02020603050405020304" charset="0"/>
              </a:rPr>
              <a:t>Abstraction and Communication:</a:t>
            </a:r>
            <a:r>
              <a:rPr lang="en-US" altLang="en-US" sz="2000" dirty="0">
                <a:latin typeface="Times New Roman" panose="02020603050405020304" charset="0"/>
                <a:cs typeface="Times New Roman" panose="02020603050405020304" charset="0"/>
              </a:rPr>
              <a:t> Patterns use a common vocabulary and abstraction level, making it easier for developers to communicate and understand design decisions. This facilitates collaboration within a development team.</a:t>
            </a:r>
          </a:p>
          <a:p>
            <a:pPr algn="just"/>
            <a:r>
              <a:rPr lang="en-US" altLang="en-US" sz="2000" b="1" dirty="0">
                <a:latin typeface="Times New Roman" panose="02020603050405020304" charset="0"/>
                <a:cs typeface="Times New Roman" panose="02020603050405020304" charset="0"/>
              </a:rPr>
              <a:t>Maintainability:</a:t>
            </a:r>
            <a:r>
              <a:rPr lang="en-US" altLang="en-US" sz="2000" dirty="0">
                <a:latin typeface="Times New Roman" panose="02020603050405020304" charset="0"/>
                <a:cs typeface="Times New Roman" panose="02020603050405020304" charset="0"/>
              </a:rPr>
              <a:t> Design patterns contribute to a modular and organized codebase, making it easier to maintain and update. Changes to specific patterns can be localized without affecting the entire system.</a:t>
            </a:r>
          </a:p>
          <a:p>
            <a:pPr algn="just"/>
            <a:r>
              <a:rPr lang="en-US" altLang="en-US" sz="2000" b="1" dirty="0">
                <a:latin typeface="Times New Roman" panose="02020603050405020304" charset="0"/>
                <a:cs typeface="Times New Roman" panose="02020603050405020304" charset="0"/>
              </a:rPr>
              <a:t>Speeds Up Development: </a:t>
            </a:r>
            <a:r>
              <a:rPr lang="en-US" altLang="en-US" sz="2000" dirty="0">
                <a:latin typeface="Times New Roman" panose="02020603050405020304" charset="0"/>
                <a:cs typeface="Times New Roman" panose="02020603050405020304" charset="0"/>
              </a:rPr>
              <a:t>Patterns offer ready-made solutions to common problems, speeding up the development process. Developers can focus on application-specific logic rather than spending time on low-level design challenges.</a:t>
            </a:r>
          </a:p>
          <a:p>
            <a:pPr algn="just"/>
            <a:r>
              <a:rPr lang="en-US" altLang="en-US" sz="2000" b="1" dirty="0">
                <a:latin typeface="Times New Roman" panose="02020603050405020304" charset="0"/>
                <a:cs typeface="Times New Roman" panose="02020603050405020304" charset="0"/>
              </a:rPr>
              <a:t>Tool for Problem Solving: </a:t>
            </a:r>
            <a:r>
              <a:rPr lang="en-US" altLang="en-US" sz="2000" dirty="0">
                <a:latin typeface="Times New Roman" panose="02020603050405020304" charset="0"/>
                <a:cs typeface="Times New Roman" panose="02020603050405020304" charset="0"/>
              </a:rPr>
              <a:t>Pattern designing serves as a tool for problem-solving in software development. It provides a set of proven strategies that developers can apply to overcome challenges encountered in various stages of the development lifecycle.</a:t>
            </a:r>
          </a:p>
        </p:txBody>
      </p:sp>
    </p:spTree>
    <p:extLst>
      <p:ext uri="{BB962C8B-B14F-4D97-AF65-F5344CB8AC3E}">
        <p14:creationId xmlns:p14="http://schemas.microsoft.com/office/powerpoint/2010/main" val="358492730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6513" y="228600"/>
            <a:ext cx="7886700" cy="691039"/>
          </a:xfrm>
        </p:spPr>
        <p:txBody>
          <a:bodyPr/>
          <a:lstStyle/>
          <a:p>
            <a:r>
              <a:rPr lang="en-US" altLang="en-US" sz="3600" dirty="0">
                <a:solidFill>
                  <a:srgbClr val="FF0000"/>
                </a:solidFill>
                <a:latin typeface="Times New Roman" panose="02020603050405020304" pitchFamily="18" charset="0"/>
                <a:cs typeface="Times New Roman" panose="02020603050405020304" pitchFamily="18" charset="0"/>
                <a:sym typeface="+mn-ea"/>
              </a:rPr>
              <a:t>Disadvantages of Pattern Designing</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042083" cy="6172199"/>
          </a:xfrm>
        </p:spPr>
        <p:txBody>
          <a:bodyPr>
            <a:noAutofit/>
          </a:bodyPr>
          <a:lstStyle/>
          <a:p>
            <a:pPr algn="just"/>
            <a:r>
              <a:rPr lang="en-US" altLang="en-US" sz="2200" b="1" dirty="0">
                <a:latin typeface="Times New Roman" panose="02020603050405020304" charset="0"/>
                <a:cs typeface="Times New Roman" panose="02020603050405020304" charset="0"/>
              </a:rPr>
              <a:t>Learning Curve: </a:t>
            </a:r>
            <a:r>
              <a:rPr lang="en-US" altLang="en-US" sz="2200" dirty="0">
                <a:latin typeface="Times New Roman" panose="02020603050405020304" charset="0"/>
                <a:cs typeface="Times New Roman" panose="02020603050405020304" charset="0"/>
              </a:rPr>
              <a:t>Understanding and correctly applying design patterns require experience and knowledge. Developers new to design patterns may find it challenging to grasp the concepts initially.</a:t>
            </a:r>
          </a:p>
          <a:p>
            <a:pPr algn="just"/>
            <a:r>
              <a:rPr lang="en-US" altLang="en-US" sz="2200" b="1" dirty="0" smtClean="0">
                <a:latin typeface="Times New Roman" panose="02020603050405020304" charset="0"/>
                <a:cs typeface="Times New Roman" panose="02020603050405020304" charset="0"/>
              </a:rPr>
              <a:t>Over engineering</a:t>
            </a:r>
            <a:r>
              <a:rPr lang="en-US" altLang="en-US" sz="2200" b="1" dirty="0">
                <a:latin typeface="Times New Roman" panose="02020603050405020304" charset="0"/>
                <a:cs typeface="Times New Roman" panose="02020603050405020304" charset="0"/>
              </a:rPr>
              <a:t>:</a:t>
            </a:r>
            <a:r>
              <a:rPr lang="en-US" altLang="en-US" sz="2200" dirty="0">
                <a:latin typeface="Times New Roman" panose="02020603050405020304" charset="0"/>
                <a:cs typeface="Times New Roman" panose="02020603050405020304" charset="0"/>
              </a:rPr>
              <a:t> In some cases, applying design patterns without a clear need or understanding of the problem may result in </a:t>
            </a:r>
            <a:r>
              <a:rPr lang="en-US" altLang="en-US" sz="2200" dirty="0" err="1">
                <a:latin typeface="Times New Roman" panose="02020603050405020304" charset="0"/>
                <a:cs typeface="Times New Roman" panose="02020603050405020304" charset="0"/>
              </a:rPr>
              <a:t>overengineering</a:t>
            </a:r>
            <a:r>
              <a:rPr lang="en-US" altLang="en-US" sz="2200" dirty="0">
                <a:latin typeface="Times New Roman" panose="02020603050405020304" charset="0"/>
                <a:cs typeface="Times New Roman" panose="02020603050405020304" charset="0"/>
              </a:rPr>
              <a:t>. This can lead to unnecessary complexity in the code.</a:t>
            </a:r>
          </a:p>
          <a:p>
            <a:pPr algn="just"/>
            <a:r>
              <a:rPr lang="en-US" altLang="en-US" sz="2200" b="1" dirty="0">
                <a:latin typeface="Times New Roman" panose="02020603050405020304" charset="0"/>
                <a:cs typeface="Times New Roman" panose="02020603050405020304" charset="0"/>
              </a:rPr>
              <a:t>Rigidity:</a:t>
            </a:r>
            <a:r>
              <a:rPr lang="en-US" altLang="en-US" sz="2200" dirty="0">
                <a:latin typeface="Times New Roman" panose="02020603050405020304" charset="0"/>
                <a:cs typeface="Times New Roman" panose="02020603050405020304" charset="0"/>
              </a:rPr>
              <a:t> In certain situations, design patterns may introduce rigidity to the code, making it less adaptable to changes. Overreliance on patterns without considering the specific context can hinder flexibility.</a:t>
            </a:r>
          </a:p>
          <a:p>
            <a:pPr algn="just"/>
            <a:r>
              <a:rPr lang="en-US" altLang="en-US" sz="2200" b="1" dirty="0">
                <a:latin typeface="Times New Roman" panose="02020603050405020304" charset="0"/>
                <a:cs typeface="Times New Roman" panose="02020603050405020304" charset="0"/>
              </a:rPr>
              <a:t>Applicability Concerns:</a:t>
            </a:r>
            <a:r>
              <a:rPr lang="en-US" altLang="en-US" sz="2200" dirty="0">
                <a:latin typeface="Times New Roman" panose="02020603050405020304" charset="0"/>
                <a:cs typeface="Times New Roman" panose="02020603050405020304" charset="0"/>
              </a:rPr>
              <a:t> Not all design patterns are applicable to every situation. Some patterns may not fit well with the architecture or requirements of a particular system, leading to suboptimal solutions.</a:t>
            </a:r>
          </a:p>
          <a:p>
            <a:pPr algn="just"/>
            <a:r>
              <a:rPr lang="en-US" altLang="en-US" sz="2200" b="1" dirty="0">
                <a:latin typeface="Times New Roman" panose="02020603050405020304" charset="0"/>
                <a:cs typeface="Times New Roman" panose="02020603050405020304" charset="0"/>
              </a:rPr>
              <a:t>Maintenance Challenges:</a:t>
            </a:r>
            <a:r>
              <a:rPr lang="en-US" altLang="en-US" sz="2200" dirty="0">
                <a:latin typeface="Times New Roman" panose="02020603050405020304" charset="0"/>
                <a:cs typeface="Times New Roman" panose="02020603050405020304" charset="0"/>
              </a:rPr>
              <a:t> While design patterns promote maintainability, they can also introduce challenges. Over time, if patterns are not applied consistently or if the system evolves in unexpected ways, maintenance may become difficult.</a:t>
            </a:r>
          </a:p>
        </p:txBody>
      </p:sp>
    </p:spTree>
    <p:extLst>
      <p:ext uri="{BB962C8B-B14F-4D97-AF65-F5344CB8AC3E}">
        <p14:creationId xmlns:p14="http://schemas.microsoft.com/office/powerpoint/2010/main" val="170442745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b="1" dirty="0" smtClean="0">
                <a:solidFill>
                  <a:srgbClr val="FF0000"/>
                </a:solidFill>
                <a:sym typeface="+mn-ea"/>
              </a:rPr>
              <a:t>PROCESS AND PROJECT METRICS</a:t>
            </a:r>
            <a:endParaRPr lang="en-US" sz="3600" dirty="0">
              <a:solidFill>
                <a:srgbClr val="FF0000"/>
              </a:solidFill>
            </a:endParaRPr>
          </a:p>
        </p:txBody>
      </p:sp>
      <p:sp>
        <p:nvSpPr>
          <p:cNvPr id="3" name="Content Placeholder 2"/>
          <p:cNvSpPr>
            <a:spLocks noGrp="1"/>
          </p:cNvSpPr>
          <p:nvPr>
            <p:ph idx="1"/>
          </p:nvPr>
        </p:nvSpPr>
        <p:spPr>
          <a:xfrm>
            <a:off x="-76200" y="1600200"/>
            <a:ext cx="9220200" cy="5029200"/>
          </a:xfrm>
        </p:spPr>
        <p:txBody>
          <a:bodyPr>
            <a:normAutofit fontScale="82500" lnSpcReduction="20000"/>
          </a:bodyPr>
          <a:lstStyle/>
          <a:p>
            <a:pPr algn="just"/>
            <a:r>
              <a:rPr lang="en-US" altLang="en-US" dirty="0">
                <a:latin typeface="Times New Roman" panose="02020603050405020304" charset="0"/>
                <a:cs typeface="Times New Roman" panose="02020603050405020304" charset="0"/>
              </a:rPr>
              <a:t>Measurement enables us to gain insight into the process and the project by providing a mechanism for objective evaluation. </a:t>
            </a:r>
          </a:p>
          <a:p>
            <a:pPr algn="just"/>
            <a:r>
              <a:rPr lang="en-US" altLang="en-US" dirty="0">
                <a:latin typeface="Times New Roman" panose="02020603050405020304" charset="0"/>
                <a:cs typeface="Times New Roman" panose="02020603050405020304" charset="0"/>
              </a:rPr>
              <a:t>Measurement can be applied to the software process with the intent of improving it on a continuous basis.</a:t>
            </a:r>
          </a:p>
          <a:p>
            <a:pPr algn="just"/>
            <a:r>
              <a:rPr lang="en-US" altLang="en-US" dirty="0">
                <a:latin typeface="Times New Roman" panose="02020603050405020304" charset="0"/>
                <a:cs typeface="Times New Roman" panose="02020603050405020304" charset="0"/>
              </a:rPr>
              <a:t>Measurement can be used throughout a software project to assist in estimation</a:t>
            </a:r>
            <a:r>
              <a:rPr lang="en-US" altLang="en-US" dirty="0" smtClean="0">
                <a:latin typeface="Times New Roman" panose="02020603050405020304" charset="0"/>
                <a:cs typeface="Times New Roman" panose="02020603050405020304" charset="0"/>
              </a:rPr>
              <a:t>, quality </a:t>
            </a:r>
            <a:r>
              <a:rPr lang="en-US" altLang="en-US" dirty="0">
                <a:latin typeface="Times New Roman" panose="02020603050405020304" charset="0"/>
                <a:cs typeface="Times New Roman" panose="02020603050405020304" charset="0"/>
              </a:rPr>
              <a:t>control, productivity assessment, and project control.</a:t>
            </a:r>
          </a:p>
          <a:p>
            <a:pPr algn="just"/>
            <a:r>
              <a:rPr lang="en-US" altLang="en-US" dirty="0">
                <a:latin typeface="Times New Roman" panose="02020603050405020304" charset="0"/>
                <a:cs typeface="Times New Roman" panose="02020603050405020304" charset="0"/>
              </a:rPr>
              <a:t>Software process and project metrics are quantitative measures that enable you to gain insight into the efficacy of the software process and the projects that are conducted using the process as a framework</a:t>
            </a:r>
          </a:p>
          <a:p>
            <a:pPr algn="just"/>
            <a:r>
              <a:rPr lang="en-US" altLang="en-US" dirty="0">
                <a:latin typeface="Times New Roman" panose="02020603050405020304" charset="0"/>
                <a:cs typeface="Times New Roman" panose="02020603050405020304" charset="0"/>
              </a:rPr>
              <a:t>Metrics are also used to pinpoint problem areas so that remedies can be developed and the software process can be improved.</a:t>
            </a:r>
          </a:p>
        </p:txBody>
      </p:sp>
    </p:spTree>
    <p:extLst>
      <p:ext uri="{BB962C8B-B14F-4D97-AF65-F5344CB8AC3E}">
        <p14:creationId xmlns:p14="http://schemas.microsoft.com/office/powerpoint/2010/main" val="301317411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Autofit/>
          </a:bodyPr>
          <a:lstStyle/>
          <a:p>
            <a:r>
              <a:rPr lang="en-US" altLang="en-US" sz="3200" dirty="0" smtClean="0">
                <a:solidFill>
                  <a:srgbClr val="FF0000"/>
                </a:solidFill>
                <a:sym typeface="+mn-ea"/>
              </a:rPr>
              <a:t>METRICS IN THE PROCESS AND PROJECT DOMAINS</a:t>
            </a:r>
            <a:endParaRPr lang="en-US" sz="3200" dirty="0">
              <a:solidFill>
                <a:srgbClr val="FF0000"/>
              </a:solidFill>
            </a:endParaRPr>
          </a:p>
        </p:txBody>
      </p:sp>
      <p:sp>
        <p:nvSpPr>
          <p:cNvPr id="3" name="Content Placeholder 2"/>
          <p:cNvSpPr>
            <a:spLocks noGrp="1"/>
          </p:cNvSpPr>
          <p:nvPr>
            <p:ph idx="1"/>
          </p:nvPr>
        </p:nvSpPr>
        <p:spPr>
          <a:xfrm>
            <a:off x="-152400" y="1600200"/>
            <a:ext cx="9220200" cy="5257800"/>
          </a:xfrm>
        </p:spPr>
        <p:txBody>
          <a:bodyPr>
            <a:normAutofit lnSpcReduction="10000"/>
          </a:bodyPr>
          <a:lstStyle/>
          <a:p>
            <a:pPr marL="0" indent="0" algn="just">
              <a:buNone/>
            </a:pPr>
            <a:r>
              <a:rPr lang="en-US" altLang="en-US" dirty="0">
                <a:latin typeface="Times New Roman" panose="02020603050405020304" charset="0"/>
                <a:cs typeface="Times New Roman" panose="02020603050405020304" charset="0"/>
              </a:rPr>
              <a:t>Project metric intention is to provide a set of process indicators that lead to long-term software process improvement. Project metrics enable a software project manager to</a:t>
            </a:r>
          </a:p>
          <a:p>
            <a:pPr marL="0" indent="0" algn="just">
              <a:buNone/>
            </a:pPr>
            <a:r>
              <a:rPr lang="en-US" altLang="en-US" dirty="0">
                <a:latin typeface="Times New Roman" panose="02020603050405020304" charset="0"/>
                <a:cs typeface="Times New Roman" panose="02020603050405020304" charset="0"/>
              </a:rPr>
              <a:t>(1) Assess the status of an ongoing project,</a:t>
            </a:r>
          </a:p>
          <a:p>
            <a:pPr marL="0" indent="0" algn="just">
              <a:buNone/>
            </a:pPr>
            <a:r>
              <a:rPr lang="en-US" altLang="en-US" dirty="0">
                <a:latin typeface="Times New Roman" panose="02020603050405020304" charset="0"/>
                <a:cs typeface="Times New Roman" panose="02020603050405020304" charset="0"/>
              </a:rPr>
              <a:t>(2) track potential risks,</a:t>
            </a:r>
          </a:p>
          <a:p>
            <a:pPr marL="0" indent="0" algn="just">
              <a:buNone/>
            </a:pPr>
            <a:r>
              <a:rPr lang="en-US" altLang="en-US" dirty="0">
                <a:latin typeface="Times New Roman" panose="02020603050405020304" charset="0"/>
                <a:cs typeface="Times New Roman" panose="02020603050405020304" charset="0"/>
              </a:rPr>
              <a:t>(3) uncover problem areas before they go “critical,”</a:t>
            </a:r>
          </a:p>
          <a:p>
            <a:pPr marL="0" indent="0" algn="just">
              <a:buNone/>
            </a:pPr>
            <a:r>
              <a:rPr lang="en-US" altLang="en-US" dirty="0">
                <a:latin typeface="Times New Roman" panose="02020603050405020304" charset="0"/>
                <a:cs typeface="Times New Roman" panose="02020603050405020304" charset="0"/>
              </a:rPr>
              <a:t>(4) Adjust work flow or tasks, and</a:t>
            </a:r>
          </a:p>
          <a:p>
            <a:pPr marL="0" indent="0" algn="just">
              <a:buNone/>
            </a:pPr>
            <a:r>
              <a:rPr lang="en-US" altLang="en-US" dirty="0">
                <a:latin typeface="Times New Roman" panose="02020603050405020304" charset="0"/>
                <a:cs typeface="Times New Roman" panose="02020603050405020304" charset="0"/>
              </a:rPr>
              <a:t>(5) Evaluate the project team’s ability to control quality of software work products.</a:t>
            </a:r>
          </a:p>
        </p:txBody>
      </p:sp>
    </p:spTree>
    <p:extLst>
      <p:ext uri="{BB962C8B-B14F-4D97-AF65-F5344CB8AC3E}">
        <p14:creationId xmlns:p14="http://schemas.microsoft.com/office/powerpoint/2010/main" val="25681824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People Metrics</a:t>
            </a:r>
          </a:p>
        </p:txBody>
      </p:sp>
      <p:sp>
        <p:nvSpPr>
          <p:cNvPr id="3" name="Content Placeholder 2"/>
          <p:cNvSpPr>
            <a:spLocks noGrp="1"/>
          </p:cNvSpPr>
          <p:nvPr>
            <p:ph idx="1"/>
          </p:nvPr>
        </p:nvSpPr>
        <p:spPr>
          <a:xfrm>
            <a:off x="-152400" y="1398387"/>
            <a:ext cx="9296400" cy="3670935"/>
          </a:xfrm>
        </p:spPr>
        <p:txBody>
          <a:bodyPr/>
          <a:lstStyle/>
          <a:p>
            <a:pPr algn="just"/>
            <a:r>
              <a:rPr lang="en-US" altLang="en-US" dirty="0">
                <a:latin typeface="Times New Roman" panose="02020603050405020304" charset="0"/>
                <a:cs typeface="Times New Roman" panose="02020603050405020304" charset="0"/>
              </a:rPr>
              <a:t>People metrics quantify useful attributes of those </a:t>
            </a:r>
            <a:r>
              <a:rPr lang="en-US" altLang="en-US" u="sng" dirty="0">
                <a:latin typeface="Times New Roman" panose="02020603050405020304" charset="0"/>
                <a:cs typeface="Times New Roman" panose="02020603050405020304" charset="0"/>
              </a:rPr>
              <a:t>generating the products using the available processes, methods, and tools. </a:t>
            </a:r>
          </a:p>
          <a:p>
            <a:pPr algn="just"/>
            <a:r>
              <a:rPr lang="en-US" altLang="en-US" dirty="0">
                <a:latin typeface="Times New Roman" panose="02020603050405020304" charset="0"/>
                <a:cs typeface="Times New Roman" panose="02020603050405020304" charset="0"/>
              </a:rPr>
              <a:t>These metrics tell you about the attributes like </a:t>
            </a:r>
            <a:r>
              <a:rPr lang="en-US" altLang="en-US" u="sng" dirty="0">
                <a:latin typeface="Times New Roman" panose="02020603050405020304" charset="0"/>
                <a:cs typeface="Times New Roman" panose="02020603050405020304" charset="0"/>
              </a:rPr>
              <a:t>turnover rates, productivity, and absenteeism.</a:t>
            </a:r>
          </a:p>
        </p:txBody>
      </p:sp>
      <p:pic>
        <p:nvPicPr>
          <p:cNvPr id="5" name="Picture 4"/>
          <p:cNvPicPr/>
          <p:nvPr/>
        </p:nvPicPr>
        <p:blipFill>
          <a:blip r:embed="rId2"/>
          <a:stretch>
            <a:fillRect/>
          </a:stretch>
        </p:blipFill>
        <p:spPr>
          <a:xfrm>
            <a:off x="801767" y="4073909"/>
            <a:ext cx="7540466" cy="2118360"/>
          </a:xfrm>
          <a:prstGeom prst="rect">
            <a:avLst/>
          </a:prstGeom>
        </p:spPr>
      </p:pic>
    </p:spTree>
    <p:extLst>
      <p:ext uri="{BB962C8B-B14F-4D97-AF65-F5344CB8AC3E}">
        <p14:creationId xmlns:p14="http://schemas.microsoft.com/office/powerpoint/2010/main" val="4722848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Process Metrics</a:t>
            </a:r>
          </a:p>
        </p:txBody>
      </p:sp>
      <p:sp>
        <p:nvSpPr>
          <p:cNvPr id="3" name="Content Placeholder 2"/>
          <p:cNvSpPr>
            <a:spLocks noGrp="1"/>
          </p:cNvSpPr>
          <p:nvPr>
            <p:ph idx="1"/>
          </p:nvPr>
        </p:nvSpPr>
        <p:spPr>
          <a:xfrm>
            <a:off x="-152400" y="1219200"/>
            <a:ext cx="9448800" cy="4525963"/>
          </a:xfrm>
        </p:spPr>
        <p:txBody>
          <a:bodyPr/>
          <a:lstStyle/>
          <a:p>
            <a:pPr algn="just"/>
            <a:r>
              <a:rPr lang="en-US" altLang="en-US" dirty="0">
                <a:latin typeface="Times New Roman" panose="02020603050405020304" charset="0"/>
                <a:cs typeface="Times New Roman" panose="02020603050405020304" charset="0"/>
              </a:rPr>
              <a:t>Process Metrics are the </a:t>
            </a:r>
            <a:r>
              <a:rPr lang="en-US" altLang="en-US" u="sng" dirty="0">
                <a:latin typeface="Times New Roman" panose="02020603050405020304" charset="0"/>
                <a:cs typeface="Times New Roman" panose="02020603050405020304" charset="0"/>
              </a:rPr>
              <a:t>measures of the development process that create a body of software</a:t>
            </a:r>
            <a:r>
              <a:rPr lang="en-US" altLang="en-US" dirty="0">
                <a:latin typeface="Times New Roman" panose="02020603050405020304" charset="0"/>
                <a:cs typeface="Times New Roman" panose="02020603050405020304" charset="0"/>
              </a:rPr>
              <a:t>. </a:t>
            </a:r>
          </a:p>
          <a:p>
            <a:pPr algn="just"/>
            <a:r>
              <a:rPr lang="en-US" altLang="en-US" dirty="0">
                <a:latin typeface="Times New Roman" panose="02020603050405020304" charset="0"/>
                <a:cs typeface="Times New Roman" panose="02020603050405020304" charset="0"/>
              </a:rPr>
              <a:t>A common example of a process metric is the length of time that the process of software creation tasks.</a:t>
            </a:r>
          </a:p>
          <a:p>
            <a:pPr algn="just"/>
            <a:r>
              <a:rPr lang="en-US" altLang="en-US" dirty="0">
                <a:latin typeface="Times New Roman" panose="02020603050405020304" charset="0"/>
                <a:cs typeface="Times New Roman" panose="02020603050405020304" charset="0"/>
              </a:rPr>
              <a:t>process metrics can be used to estimate, monitor, and improve the reliability and quality of software. </a:t>
            </a:r>
          </a:p>
          <a:p>
            <a:pPr algn="just"/>
            <a:r>
              <a:rPr lang="en-US" altLang="en-US" dirty="0">
                <a:latin typeface="Times New Roman" panose="02020603050405020304" charset="0"/>
                <a:cs typeface="Times New Roman" panose="02020603050405020304" charset="0"/>
              </a:rPr>
              <a:t> ISO- 9000 certification, or </a:t>
            </a:r>
            <a:r>
              <a:rPr lang="en-US" altLang="en-US" b="1" dirty="0">
                <a:latin typeface="Times New Roman" panose="02020603050405020304" charset="0"/>
                <a:cs typeface="Times New Roman" panose="02020603050405020304" charset="0"/>
              </a:rPr>
              <a:t>“Quality Management Standards“,</a:t>
            </a:r>
            <a:r>
              <a:rPr lang="en-US" altLang="en-US" dirty="0">
                <a:latin typeface="Times New Roman" panose="02020603050405020304" charset="0"/>
                <a:cs typeface="Times New Roman" panose="02020603050405020304" charset="0"/>
              </a:rPr>
              <a:t> is the generic reference for a family of standards developed by the </a:t>
            </a:r>
            <a:r>
              <a:rPr lang="en-US" altLang="en-US" b="1" dirty="0">
                <a:latin typeface="Times New Roman" panose="02020603050405020304" charset="0"/>
                <a:cs typeface="Times New Roman" panose="02020603050405020304" charset="0"/>
              </a:rPr>
              <a:t>International Standard Organization (ISO)</a:t>
            </a:r>
            <a:r>
              <a:rPr lang="en-US" altLang="en-US" dirty="0">
                <a:latin typeface="Times New Roman" panose="02020603050405020304" charset="0"/>
                <a:cs typeface="Times New Roman" panose="02020603050405020304" charset="0"/>
              </a:rPr>
              <a:t>.</a:t>
            </a:r>
          </a:p>
        </p:txBody>
      </p:sp>
    </p:spTree>
    <p:extLst>
      <p:ext uri="{BB962C8B-B14F-4D97-AF65-F5344CB8AC3E}">
        <p14:creationId xmlns:p14="http://schemas.microsoft.com/office/powerpoint/2010/main" val="5681520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solidFill>
                  <a:srgbClr val="FF0000"/>
                </a:solidFill>
              </a:rPr>
              <a:t>SOFTWARE MEASUREMENT </a:t>
            </a:r>
            <a:endParaRPr lang="en-US" altLang="en-US" dirty="0">
              <a:solidFill>
                <a:srgbClr val="FF0000"/>
              </a:solidFill>
            </a:endParaRPr>
          </a:p>
        </p:txBody>
      </p:sp>
      <p:sp>
        <p:nvSpPr>
          <p:cNvPr id="3" name="Content Placeholder 2"/>
          <p:cNvSpPr>
            <a:spLocks noGrp="1"/>
          </p:cNvSpPr>
          <p:nvPr>
            <p:ph idx="1"/>
          </p:nvPr>
        </p:nvSpPr>
        <p:spPr>
          <a:xfrm>
            <a:off x="0" y="1600200"/>
            <a:ext cx="9144000" cy="4525963"/>
          </a:xfrm>
        </p:spPr>
        <p:txBody>
          <a:bodyPr>
            <a:normAutofit fontScale="82500" lnSpcReduction="10000"/>
          </a:bodyPr>
          <a:lstStyle/>
          <a:p>
            <a:pPr algn="just"/>
            <a:r>
              <a:rPr lang="en-US" altLang="en-US" dirty="0">
                <a:latin typeface="Times New Roman" panose="02020603050405020304" charset="0"/>
                <a:cs typeface="Times New Roman" panose="02020603050405020304" charset="0"/>
              </a:rPr>
              <a:t>A measurement is a manifestation of the size, quantity, amount, or dimension of a particular attribute of a product or process. </a:t>
            </a:r>
          </a:p>
          <a:p>
            <a:pPr algn="just"/>
            <a:r>
              <a:rPr lang="en-US" altLang="en-US" dirty="0">
                <a:latin typeface="Times New Roman" panose="02020603050405020304" charset="0"/>
                <a:cs typeface="Times New Roman" panose="02020603050405020304" charset="0"/>
              </a:rPr>
              <a:t>Software measurement is a titrate impute of a characteristic of a software product or the software process.</a:t>
            </a:r>
          </a:p>
          <a:p>
            <a:pPr marL="0" indent="0" algn="just">
              <a:buNone/>
            </a:pPr>
            <a:r>
              <a:rPr lang="en-US" altLang="en-US" b="1" dirty="0">
                <a:latin typeface="Times New Roman" panose="02020603050405020304" charset="0"/>
                <a:cs typeface="Times New Roman" panose="02020603050405020304" charset="0"/>
              </a:rPr>
              <a:t>Classification of Software Measurement:</a:t>
            </a:r>
          </a:p>
          <a:p>
            <a:pPr marL="0" indent="0" algn="just">
              <a:buNone/>
            </a:pPr>
            <a:r>
              <a:rPr lang="en-US" altLang="en-US" dirty="0">
                <a:latin typeface="Times New Roman" panose="02020603050405020304" charset="0"/>
                <a:cs typeface="Times New Roman" panose="02020603050405020304" charset="0"/>
              </a:rPr>
              <a:t>There are 2 types of software measurement: </a:t>
            </a:r>
          </a:p>
          <a:p>
            <a:pPr algn="just"/>
            <a:r>
              <a:rPr lang="en-US" altLang="en-US" b="1" dirty="0">
                <a:latin typeface="Times New Roman" panose="02020603050405020304" charset="0"/>
                <a:cs typeface="Times New Roman" panose="02020603050405020304" charset="0"/>
              </a:rPr>
              <a:t>Direct Measurement: </a:t>
            </a:r>
            <a:r>
              <a:rPr lang="en-US" altLang="en-US" dirty="0">
                <a:latin typeface="Times New Roman" panose="02020603050405020304" charset="0"/>
                <a:cs typeface="Times New Roman" panose="02020603050405020304" charset="0"/>
              </a:rPr>
              <a:t>In direct measurement, the product, process, or thing is measured directly using a standard scale.</a:t>
            </a:r>
          </a:p>
          <a:p>
            <a:pPr algn="just"/>
            <a:r>
              <a:rPr lang="en-US" altLang="en-US" b="1" dirty="0">
                <a:latin typeface="Times New Roman" panose="02020603050405020304" charset="0"/>
                <a:cs typeface="Times New Roman" panose="02020603050405020304" charset="0"/>
              </a:rPr>
              <a:t>Indirect Measurement: </a:t>
            </a:r>
            <a:r>
              <a:rPr lang="en-US" altLang="en-US" dirty="0">
                <a:latin typeface="Times New Roman" panose="02020603050405020304" charset="0"/>
                <a:cs typeface="Times New Roman" panose="02020603050405020304" charset="0"/>
              </a:rPr>
              <a:t>In indirect measurement, the quantity or quality to be measured is measured using related parameters i.e. by use of reference.</a:t>
            </a:r>
          </a:p>
        </p:txBody>
      </p:sp>
    </p:spTree>
    <p:extLst>
      <p:ext uri="{BB962C8B-B14F-4D97-AF65-F5344CB8AC3E}">
        <p14:creationId xmlns:p14="http://schemas.microsoft.com/office/powerpoint/2010/main" val="24126454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686800" cy="1143000"/>
          </a:xfrm>
        </p:spPr>
        <p:txBody>
          <a:bodyPr/>
          <a:lstStyle/>
          <a:p>
            <a:r>
              <a:rPr lang="en-US" altLang="en-US" dirty="0"/>
              <a:t>Software Measurement Principles</a:t>
            </a:r>
          </a:p>
        </p:txBody>
      </p:sp>
      <p:sp>
        <p:nvSpPr>
          <p:cNvPr id="3" name="Content Placeholder 2"/>
          <p:cNvSpPr>
            <a:spLocks noGrp="1"/>
          </p:cNvSpPr>
          <p:nvPr>
            <p:ph idx="1"/>
          </p:nvPr>
        </p:nvSpPr>
        <p:spPr>
          <a:xfrm>
            <a:off x="0" y="1600200"/>
            <a:ext cx="9144000" cy="5257800"/>
          </a:xfrm>
        </p:spPr>
        <p:txBody>
          <a:bodyPr>
            <a:normAutofit fontScale="92500" lnSpcReduction="20000"/>
          </a:bodyPr>
          <a:lstStyle/>
          <a:p>
            <a:pPr algn="just"/>
            <a:r>
              <a:rPr lang="en-US" altLang="en-US" b="1" dirty="0">
                <a:latin typeface="Times New Roman" panose="02020603050405020304" charset="0"/>
                <a:cs typeface="Times New Roman" panose="02020603050405020304" charset="0"/>
              </a:rPr>
              <a:t>Formulation</a:t>
            </a:r>
            <a:r>
              <a:rPr lang="en-US" altLang="en-US" dirty="0">
                <a:latin typeface="Times New Roman" panose="02020603050405020304" charset="0"/>
                <a:cs typeface="Times New Roman" panose="02020603050405020304" charset="0"/>
              </a:rPr>
              <a:t>: The derivation of software measures and metrics appropriate for the representation of the software that is being considered.</a:t>
            </a:r>
          </a:p>
          <a:p>
            <a:pPr algn="just"/>
            <a:r>
              <a:rPr lang="en-US" altLang="en-US" b="1" dirty="0">
                <a:latin typeface="Times New Roman" panose="02020603050405020304" charset="0"/>
                <a:cs typeface="Times New Roman" panose="02020603050405020304" charset="0"/>
              </a:rPr>
              <a:t>Collection:</a:t>
            </a:r>
            <a:r>
              <a:rPr lang="en-US" altLang="en-US" dirty="0">
                <a:latin typeface="Times New Roman" panose="02020603050405020304" charset="0"/>
                <a:cs typeface="Times New Roman" panose="02020603050405020304" charset="0"/>
              </a:rPr>
              <a:t> The mechanism used to accumulate data required to derive the formulated metrics.</a:t>
            </a:r>
          </a:p>
          <a:p>
            <a:pPr algn="just"/>
            <a:r>
              <a:rPr lang="en-US" altLang="en-US" b="1" dirty="0">
                <a:latin typeface="Times New Roman" panose="02020603050405020304" charset="0"/>
                <a:cs typeface="Times New Roman" panose="02020603050405020304" charset="0"/>
              </a:rPr>
              <a:t>Analysis:</a:t>
            </a:r>
            <a:r>
              <a:rPr lang="en-US" altLang="en-US" dirty="0">
                <a:latin typeface="Times New Roman" panose="02020603050405020304" charset="0"/>
                <a:cs typeface="Times New Roman" panose="02020603050405020304" charset="0"/>
              </a:rPr>
              <a:t> The computation of metrics and the application of mathematical tools.</a:t>
            </a:r>
          </a:p>
          <a:p>
            <a:pPr algn="just"/>
            <a:r>
              <a:rPr lang="en-US" altLang="en-US" b="1" dirty="0">
                <a:latin typeface="Times New Roman" panose="02020603050405020304" charset="0"/>
                <a:cs typeface="Times New Roman" panose="02020603050405020304" charset="0"/>
              </a:rPr>
              <a:t>Interpretation:</a:t>
            </a:r>
            <a:r>
              <a:rPr lang="en-US" altLang="en-US" dirty="0">
                <a:latin typeface="Times New Roman" panose="02020603050405020304" charset="0"/>
                <a:cs typeface="Times New Roman" panose="02020603050405020304" charset="0"/>
              </a:rPr>
              <a:t> The evaluation of metrics results in insight into the quality of the representation.</a:t>
            </a:r>
          </a:p>
          <a:p>
            <a:pPr algn="just"/>
            <a:r>
              <a:rPr lang="en-US" altLang="en-US" b="1" dirty="0">
                <a:latin typeface="Times New Roman" panose="02020603050405020304" charset="0"/>
                <a:cs typeface="Times New Roman" panose="02020603050405020304" charset="0"/>
              </a:rPr>
              <a:t>Feedback:</a:t>
            </a:r>
            <a:r>
              <a:rPr lang="en-US" altLang="en-US" dirty="0">
                <a:latin typeface="Times New Roman" panose="02020603050405020304" charset="0"/>
                <a:cs typeface="Times New Roman" panose="02020603050405020304" charset="0"/>
              </a:rPr>
              <a:t> Recommendation derived from the interpretation of product metrics transmitted to the software team.</a:t>
            </a:r>
          </a:p>
        </p:txBody>
      </p:sp>
    </p:spTree>
    <p:extLst>
      <p:ext uri="{BB962C8B-B14F-4D97-AF65-F5344CB8AC3E}">
        <p14:creationId xmlns:p14="http://schemas.microsoft.com/office/powerpoint/2010/main" val="10259677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solidFill>
                  <a:srgbClr val="FF0000"/>
                </a:solidFill>
              </a:rPr>
              <a:t>QUALITY METRICS</a:t>
            </a:r>
            <a:endParaRPr lang="en-US" altLang="en-US" dirty="0">
              <a:solidFill>
                <a:srgbClr val="FF0000"/>
              </a:solidFill>
            </a:endParaRPr>
          </a:p>
        </p:txBody>
      </p:sp>
      <p:sp>
        <p:nvSpPr>
          <p:cNvPr id="3" name="Content Placeholder 2"/>
          <p:cNvSpPr>
            <a:spLocks noGrp="1"/>
          </p:cNvSpPr>
          <p:nvPr>
            <p:ph idx="1"/>
          </p:nvPr>
        </p:nvSpPr>
        <p:spPr>
          <a:xfrm>
            <a:off x="0" y="1947386"/>
            <a:ext cx="9144000" cy="4605814"/>
          </a:xfrm>
        </p:spPr>
        <p:txBody>
          <a:bodyPr>
            <a:normAutofit fontScale="82500" lnSpcReduction="20000"/>
          </a:bodyPr>
          <a:lstStyle/>
          <a:p>
            <a:pPr marL="0" indent="342900" algn="just">
              <a:buNone/>
            </a:pPr>
            <a:r>
              <a:rPr lang="en-US" altLang="en-US" dirty="0">
                <a:latin typeface="Times New Roman" panose="02020603050405020304" charset="0"/>
                <a:cs typeface="Times New Roman" panose="02020603050405020304" charset="0"/>
              </a:rPr>
              <a:t>In Software engineering Software Quality Assurance (SAQ) assures the quality of the software. A set of activities in SAQ is continuously applied throughout the software process. </a:t>
            </a:r>
          </a:p>
          <a:p>
            <a:pPr algn="just"/>
            <a:r>
              <a:rPr lang="en-US" altLang="en-US" dirty="0">
                <a:latin typeface="Times New Roman" panose="02020603050405020304" charset="0"/>
                <a:cs typeface="Times New Roman" panose="02020603050405020304" charset="0"/>
              </a:rPr>
              <a:t>Code Quality</a:t>
            </a:r>
          </a:p>
          <a:p>
            <a:pPr algn="just"/>
            <a:r>
              <a:rPr lang="en-US" altLang="en-US" dirty="0">
                <a:latin typeface="Times New Roman" panose="02020603050405020304" charset="0"/>
                <a:cs typeface="Times New Roman" panose="02020603050405020304" charset="0"/>
              </a:rPr>
              <a:t>Reliability</a:t>
            </a:r>
          </a:p>
          <a:p>
            <a:pPr algn="just"/>
            <a:r>
              <a:rPr lang="en-US" altLang="en-US" dirty="0">
                <a:latin typeface="Times New Roman" panose="02020603050405020304" charset="0"/>
                <a:cs typeface="Times New Roman" panose="02020603050405020304" charset="0"/>
              </a:rPr>
              <a:t>Performance</a:t>
            </a:r>
          </a:p>
          <a:p>
            <a:pPr algn="just"/>
            <a:r>
              <a:rPr lang="en-US" altLang="en-US" dirty="0">
                <a:latin typeface="Times New Roman" panose="02020603050405020304" charset="0"/>
                <a:cs typeface="Times New Roman" panose="02020603050405020304" charset="0"/>
              </a:rPr>
              <a:t>Usability</a:t>
            </a:r>
          </a:p>
          <a:p>
            <a:pPr algn="just"/>
            <a:r>
              <a:rPr lang="en-US" altLang="en-US" dirty="0">
                <a:latin typeface="Times New Roman" panose="02020603050405020304" charset="0"/>
                <a:cs typeface="Times New Roman" panose="02020603050405020304" charset="0"/>
              </a:rPr>
              <a:t>Correctness</a:t>
            </a:r>
          </a:p>
          <a:p>
            <a:pPr algn="just"/>
            <a:r>
              <a:rPr lang="en-US" altLang="en-US" dirty="0">
                <a:latin typeface="Times New Roman" panose="02020603050405020304" charset="0"/>
                <a:cs typeface="Times New Roman" panose="02020603050405020304" charset="0"/>
              </a:rPr>
              <a:t>Maintainability</a:t>
            </a:r>
          </a:p>
          <a:p>
            <a:pPr algn="just"/>
            <a:r>
              <a:rPr lang="en-US" altLang="en-US" dirty="0">
                <a:latin typeface="Times New Roman" panose="02020603050405020304" charset="0"/>
                <a:cs typeface="Times New Roman" panose="02020603050405020304" charset="0"/>
              </a:rPr>
              <a:t>Integrity</a:t>
            </a:r>
          </a:p>
          <a:p>
            <a:pPr algn="just"/>
            <a:r>
              <a:rPr lang="en-US" altLang="en-US" dirty="0">
                <a:latin typeface="Times New Roman" panose="02020603050405020304" charset="0"/>
                <a:cs typeface="Times New Roman" panose="02020603050405020304" charset="0"/>
              </a:rPr>
              <a:t>Security</a:t>
            </a:r>
          </a:p>
        </p:txBody>
      </p:sp>
    </p:spTree>
    <p:extLst>
      <p:ext uri="{BB962C8B-B14F-4D97-AF65-F5344CB8AC3E}">
        <p14:creationId xmlns:p14="http://schemas.microsoft.com/office/powerpoint/2010/main" val="576232469"/>
      </p:ext>
    </p:extLst>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27189</TotalTime>
  <Words>3282</Words>
  <Application>Microsoft Office PowerPoint</Application>
  <PresentationFormat>On-screen Show (4:3)</PresentationFormat>
  <Paragraphs>250</Paragraphs>
  <Slides>46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Times New Roman</vt:lpstr>
      <vt:lpstr>Default Design</vt:lpstr>
      <vt:lpstr>MODULE-II</vt:lpstr>
      <vt:lpstr>DESIGN ENGINEERING</vt:lpstr>
      <vt:lpstr>DESIGN ENGINEERING</vt:lpstr>
      <vt:lpstr>DESIGN PROCESS</vt:lpstr>
      <vt:lpstr>DESIGN PROCESS</vt:lpstr>
      <vt:lpstr>DESIGN PROCESS</vt:lpstr>
      <vt:lpstr>DESIGN PROCESS</vt:lpstr>
      <vt:lpstr>DESIGN PROCESS</vt:lpstr>
      <vt:lpstr>DESIGN CONCEPT</vt:lpstr>
      <vt:lpstr>DESIGN CONCEPT</vt:lpstr>
      <vt:lpstr>DESIGN CONCEPT</vt:lpstr>
      <vt:lpstr>DESIGN CONCEPT</vt:lpstr>
      <vt:lpstr>DESIGN CONCEPT</vt:lpstr>
      <vt:lpstr>DESIGN CONCEPT</vt:lpstr>
      <vt:lpstr>DESIGN CONCEPT</vt:lpstr>
      <vt:lpstr>SOFTWARE ARCHITECTURE</vt:lpstr>
      <vt:lpstr>SOFTWARE ARCHITECTURE</vt:lpstr>
      <vt:lpstr>SOFTWARE ARCHITECTURE</vt:lpstr>
      <vt:lpstr>SOFTWARE ARCHITECTURE</vt:lpstr>
      <vt:lpstr>SOFTWARE ARCHITECTURE</vt:lpstr>
      <vt:lpstr>SOFTWARE ARCHITECTURE</vt:lpstr>
      <vt:lpstr>SOFTWARE ARCHITECTURE</vt:lpstr>
      <vt:lpstr>SOFTWARE ARCHITECTURE</vt:lpstr>
      <vt:lpstr>SOFTWARE ARCHITECTURE</vt:lpstr>
      <vt:lpstr>ARCHITECTURAL STYLES</vt:lpstr>
      <vt:lpstr>ARCHITECTURAL STYLES</vt:lpstr>
      <vt:lpstr>Types</vt:lpstr>
      <vt:lpstr>ARCHITECTURAL DESIGN</vt:lpstr>
      <vt:lpstr>Data centered architectures </vt:lpstr>
      <vt:lpstr>Data flow architectures</vt:lpstr>
      <vt:lpstr>Call and Return architectures</vt:lpstr>
      <vt:lpstr>Layered architecture</vt:lpstr>
      <vt:lpstr>SOFTWARE DESIGN PATTERNS </vt:lpstr>
      <vt:lpstr>Types of Software Design Patterns</vt:lpstr>
      <vt:lpstr>Creational Design Patterns</vt:lpstr>
      <vt:lpstr>Structural Design Patterns</vt:lpstr>
      <vt:lpstr>Behavioral Design Patterns</vt:lpstr>
      <vt:lpstr>Advantages of Pattern Designing</vt:lpstr>
      <vt:lpstr>Disadvantages of Pattern Designing</vt:lpstr>
      <vt:lpstr>PROCESS AND PROJECT METRICS</vt:lpstr>
      <vt:lpstr>METRICS IN THE PROCESS AND PROJECT DOMAINS</vt:lpstr>
      <vt:lpstr>People Metrics</vt:lpstr>
      <vt:lpstr>Process Metrics</vt:lpstr>
      <vt:lpstr>SOFTWARE MEASUREMENT </vt:lpstr>
      <vt:lpstr>Software Measurement Principles</vt:lpstr>
      <vt:lpstr>QUALITY METRICS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 I_x000d_HTML &amp; HTML5</dc:title>
  <dc:creator/>
  <cp:lastModifiedBy>user</cp:lastModifiedBy>
  <cp:revision>171</cp:revision>
  <dcterms:created xsi:type="dcterms:W3CDTF">2024-07-22T04:35:57Z</dcterms:created>
  <dcterms:modified xsi:type="dcterms:W3CDTF">2025-03-04T08:05:47Z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2022-11-08T05:30:00Z</vt:filetime>
  </property>
  <property fmtid="{D5CDD505-2E9C-101B-9397-08002B2CF9AE}" pid="3" name="Creator">
    <vt:lpwstr>Microsoft® PowerPoint® 2016</vt:lpwstr>
  </property>
  <property fmtid="{D5CDD505-2E9C-101B-9397-08002B2CF9AE}" pid="4" name="LastSaved">
    <vt:filetime>2024-07-22T05:30:00Z</vt:filetime>
  </property>
  <property fmtid="{D5CDD505-2E9C-101B-9397-08002B2CF9AE}" pid="5" name="ICV">
    <vt:lpwstr>B0E253D2F3914CB4A85D038B697BABD4_13</vt:lpwstr>
  </property>
  <property fmtid="{D5CDD505-2E9C-101B-9397-08002B2CF9AE}" pid="6" name="KSOProductBuildVer">
    <vt:lpwstr>1033-12.2.0.17153</vt:lpwstr>
  </property>
</Properties>
</file>