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0" r:id="rId45"/>
    <p:sldId id="307" r:id="rId46"/>
    <p:sldId id="301" r:id="rId47"/>
    <p:sldId id="302" r:id="rId48"/>
    <p:sldId id="303" r:id="rId49"/>
    <p:sldId id="306" r:id="rId50"/>
    <p:sldId id="304" r:id="rId51"/>
    <p:sldId id="305" r:id="rId52"/>
  </p:sldIdLst>
  <p:sldSz cx="9144000" cy="6858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280" y="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a:t>1/25/2025</a:t>
            </a:fld>
            <a:endParaRPr lang="en-US"/>
          </a:p>
        </p:txBody>
      </p:sp>
      <p:sp>
        <p:nvSpPr>
          <p:cNvPr id="5" name="Footer Placeholder 4"/>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6" name="Slide Number Placeholder 5"/>
          <p:cNvSpPr>
            <a:spLocks noGrp="1"/>
          </p:cNvSpPr>
          <p:nvPr>
            <p:ph type="sldNum" sz="quarter" idx="12"/>
          </p:nvPr>
        </p:nvSpPr>
        <p:spPr/>
        <p:txBody>
          <a:bodyPr/>
          <a:lstStyle/>
          <a:p>
            <a:fld id="{B6F15528-21DE-4FAA-801E-634DDDAF4B2B}" type="slidenum">
              <a:rPr/>
              <a:t>‹#›</a:t>
            </a:fld>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t>1/25/2025</a:t>
            </a:fld>
            <a:endParaRPr lang="en-US"/>
          </a:p>
        </p:txBody>
      </p:sp>
      <p:sp>
        <p:nvSpPr>
          <p:cNvPr id="5" name="Footer Placeholder 4"/>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6" name="Slide Number Placeholder 5"/>
          <p:cNvSpPr>
            <a:spLocks noGrp="1"/>
          </p:cNvSpPr>
          <p:nvPr>
            <p:ph type="sldNum" sz="quarter" idx="12"/>
          </p:nvPr>
        </p:nvSpPr>
        <p:spPr/>
        <p:txBody>
          <a:bodyPr/>
          <a:lstStyle/>
          <a:p>
            <a:fld id="{B6F15528-21DE-4FAA-801E-634DDDAF4B2B}" type="slidenum">
              <a:rPr/>
              <a:t>‹#›</a:t>
            </a:fld>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a:t>1/25/2025</a:t>
            </a:fld>
            <a:endParaRPr lang="en-US"/>
          </a:p>
        </p:txBody>
      </p:sp>
      <p:sp>
        <p:nvSpPr>
          <p:cNvPr id="6" name="Footer Placeholder 5"/>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7" name="Slide Number Placeholder 6"/>
          <p:cNvSpPr>
            <a:spLocks noGrp="1"/>
          </p:cNvSpPr>
          <p:nvPr>
            <p:ph type="sldNum" sz="quarter" idx="12"/>
          </p:nvPr>
        </p:nvSpPr>
        <p:spPr/>
        <p:txBody>
          <a:bodyPr/>
          <a:lstStyle/>
          <a:p>
            <a:fld id="{B6F15528-21DE-4FAA-801E-634DDDAF4B2B}" type="slidenum">
              <a:rPr/>
              <a:t>‹#›</a:t>
            </a:fld>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a:t>1/25/2025</a:t>
            </a:fld>
            <a:endParaRPr lang="en-US"/>
          </a:p>
        </p:txBody>
      </p:sp>
      <p:sp>
        <p:nvSpPr>
          <p:cNvPr id="4" name="Footer Placeholder 3"/>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5" name="Slide Number Placeholder 4"/>
          <p:cNvSpPr>
            <a:spLocks noGrp="1"/>
          </p:cNvSpPr>
          <p:nvPr>
            <p:ph type="sldNum" sz="quarter" idx="12"/>
          </p:nvPr>
        </p:nvSpPr>
        <p:spPr/>
        <p:txBody>
          <a:bodyPr/>
          <a:lstStyle/>
          <a:p>
            <a:fld id="{B6F15528-21DE-4FAA-801E-634DDDAF4B2B}" type="slidenum">
              <a:rPr/>
              <a:t>‹#›</a:t>
            </a:fld>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a:t>1/25/2025</a:t>
            </a:fld>
            <a:endParaRPr lang="en-US"/>
          </a:p>
        </p:txBody>
      </p:sp>
      <p:sp>
        <p:nvSpPr>
          <p:cNvPr id="3" name="Footer Placeholder 2"/>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4" name="Slide Number Placeholder 3"/>
          <p:cNvSpPr>
            <a:spLocks noGrp="1"/>
          </p:cNvSpPr>
          <p:nvPr>
            <p:ph type="sldNum" sz="quarter" idx="12"/>
          </p:nvPr>
        </p:nvSpPr>
        <p:spPr/>
        <p:txBody>
          <a:bodyPr/>
          <a:lstStyle/>
          <a:p>
            <a:fld id="{B6F15528-21DE-4FAA-801E-634DDDAF4B2B}" type="slidenum">
              <a:rPr/>
              <a:t>‹#›</a:t>
            </a:fld>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457200" y="274638"/>
            <a:ext cx="82296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457200" y="1600200"/>
            <a:ext cx="82296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fld id="{1D8BD707-D9CF-40AE-B4C6-C98DA3205C09}" type="datetimeFigureOut">
              <a:rPr lang="en-US"/>
              <a:t>1/25/2025</a:t>
            </a:fld>
            <a:endParaRPr lang="en-US"/>
          </a:p>
        </p:txBody>
      </p:sp>
      <p:sp>
        <p:nvSpPr>
          <p:cNvPr id="1029" name="Footer Placeholder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marL="12700">
              <a:lnSpc>
                <a:spcPts val="1620"/>
              </a:lnSpc>
            </a:pPr>
            <a:r>
              <a:rPr spc="-30" dirty="0"/>
              <a:t>Yogendra</a:t>
            </a:r>
            <a:r>
              <a:rPr spc="45" dirty="0"/>
              <a:t> </a:t>
            </a:r>
            <a:r>
              <a:rPr spc="-10" dirty="0"/>
              <a:t>Prasad</a:t>
            </a:r>
            <a:r>
              <a:rPr spc="-25" dirty="0"/>
              <a:t> </a:t>
            </a:r>
            <a:r>
              <a:rPr spc="-5" dirty="0"/>
              <a:t>P</a:t>
            </a:r>
          </a:p>
        </p:txBody>
      </p:sp>
      <p:sp>
        <p:nvSpPr>
          <p:cNvPr id="1030" name="Slide Number Placeholder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solidFill>
                  <a:srgbClr val="FF0000"/>
                </a:solidFill>
                <a:latin typeface="Times New Roman" panose="02020603050405020304" pitchFamily="18" charset="0"/>
                <a:cs typeface="Times New Roman" panose="02020603050405020304" pitchFamily="18" charset="0"/>
              </a:rPr>
              <a:t>MODULE-I</a:t>
            </a: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0" y="1600200"/>
            <a:ext cx="9144000" cy="4953000"/>
          </a:xfrm>
        </p:spPr>
        <p:txBody>
          <a:bodyPr/>
          <a:lstStyle/>
          <a:p>
            <a:pPr algn="just"/>
            <a:endParaRPr lang="en-IN" sz="28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178760067"/>
              </p:ext>
            </p:extLst>
          </p:nvPr>
        </p:nvGraphicFramePr>
        <p:xfrm>
          <a:off x="8823" y="1066800"/>
          <a:ext cx="8991599" cy="5791200"/>
        </p:xfrm>
        <a:graphic>
          <a:graphicData uri="http://schemas.openxmlformats.org/drawingml/2006/table">
            <a:tbl>
              <a:tblPr firstRow="1" firstCol="1" bandRow="1">
                <a:tableStyleId>{5C22544A-7EE6-4342-B048-85BDC9FD1C3A}</a:tableStyleId>
              </a:tblPr>
              <a:tblGrid>
                <a:gridCol w="1450069"/>
                <a:gridCol w="5915964"/>
                <a:gridCol w="1625566"/>
              </a:tblGrid>
              <a:tr h="1086732">
                <a:tc>
                  <a:txBody>
                    <a:bodyPr/>
                    <a:lstStyle/>
                    <a:p>
                      <a:pPr>
                        <a:lnSpc>
                          <a:spcPct val="115000"/>
                        </a:lnSpc>
                        <a:spcAft>
                          <a:spcPts val="600"/>
                        </a:spcAft>
                      </a:pPr>
                      <a:r>
                        <a:rPr lang="en-US" sz="2400" dirty="0">
                          <a:effectLst/>
                          <a:latin typeface="Times New Roman" panose="02020603050405020304" pitchFamily="18" charset="0"/>
                          <a:cs typeface="Times New Roman" panose="02020603050405020304" pitchFamily="18" charset="0"/>
                        </a:rPr>
                        <a:t>Module </a:t>
                      </a:r>
                      <a:r>
                        <a:rPr lang="en-US" sz="2400" dirty="0" smtClean="0">
                          <a:effectLst/>
                          <a:latin typeface="Times New Roman" panose="02020603050405020304" pitchFamily="18" charset="0"/>
                          <a:cs typeface="Times New Roman" panose="02020603050405020304" pitchFamily="18" charset="0"/>
                        </a:rPr>
                        <a:t>I</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600"/>
                        </a:spcAft>
                      </a:pPr>
                      <a:r>
                        <a:rPr lang="en-US" sz="2400" dirty="0">
                          <a:effectLst/>
                          <a:latin typeface="Times New Roman" panose="02020603050405020304" pitchFamily="18" charset="0"/>
                          <a:cs typeface="Times New Roman" panose="02020603050405020304" pitchFamily="18" charset="0"/>
                        </a:rPr>
                        <a:t>SOFTWARE ENGINEERING AND SOFTWARE PROCESS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600"/>
                        </a:spcAft>
                      </a:pPr>
                      <a:r>
                        <a:rPr lang="en-US" sz="2400" dirty="0">
                          <a:effectLst/>
                          <a:latin typeface="Times New Roman" panose="02020603050405020304" pitchFamily="18" charset="0"/>
                          <a:cs typeface="Times New Roman" panose="02020603050405020304" pitchFamily="18" charset="0"/>
                        </a:rPr>
                        <a:t>(</a:t>
                      </a:r>
                      <a:r>
                        <a:rPr lang="en-US" sz="2400" dirty="0" smtClean="0">
                          <a:effectLst/>
                          <a:latin typeface="Times New Roman" panose="02020603050405020304" pitchFamily="18" charset="0"/>
                          <a:cs typeface="Times New Roman" panose="02020603050405020304" pitchFamily="18" charset="0"/>
                        </a:rPr>
                        <a:t>09Period)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4704468">
                <a:tc gridSpan="3">
                  <a:txBody>
                    <a:bodyPr/>
                    <a:lstStyle/>
                    <a:p>
                      <a:pPr algn="just">
                        <a:lnSpc>
                          <a:spcPct val="107000"/>
                        </a:lnSpc>
                        <a:spcAft>
                          <a:spcPts val="0"/>
                        </a:spcAft>
                      </a:pPr>
                      <a:r>
                        <a:rPr lang="en-US" sz="2400" dirty="0">
                          <a:effectLst/>
                          <a:latin typeface="Times New Roman" panose="02020603050405020304" pitchFamily="18" charset="0"/>
                          <a:cs typeface="Times New Roman" panose="02020603050405020304" pitchFamily="18" charset="0"/>
                        </a:rPr>
                        <a:t>Engineering Layers; The Software Process, Software Engineering Practice, Software myths. </a:t>
                      </a:r>
                      <a:endParaRPr lang="en-IN" sz="2000" dirty="0">
                        <a:effectLst/>
                        <a:latin typeface="Times New Roman" panose="02020603050405020304" pitchFamily="18" charset="0"/>
                        <a:cs typeface="Times New Roman" panose="02020603050405020304" pitchFamily="18" charset="0"/>
                      </a:endParaRPr>
                    </a:p>
                    <a:p>
                      <a:pPr algn="just">
                        <a:lnSpc>
                          <a:spcPct val="107000"/>
                        </a:lnSpc>
                        <a:spcAft>
                          <a:spcPts val="0"/>
                        </a:spcAft>
                      </a:pPr>
                      <a:r>
                        <a:rPr lang="en-US" sz="2400" dirty="0">
                          <a:effectLst/>
                          <a:latin typeface="Times New Roman" panose="02020603050405020304" pitchFamily="18" charset="0"/>
                          <a:cs typeface="Times New Roman" panose="02020603050405020304" pitchFamily="18" charset="0"/>
                        </a:rPr>
                        <a:t>Process models: A Generic Process Model, Prescriptive Process Models-The Waterfall Model, Incremental Process Models, Specialized Process Models; The Unified Process, Agile Development-Agility, Agile Process, Extreme Programming (XP), Scrum, Lean Software Development (LSD), Dynamic System Development Method</a:t>
                      </a:r>
                      <a:r>
                        <a:rPr lang="en-US" sz="2400" dirty="0" smtClean="0">
                          <a:effectLst/>
                          <a:latin typeface="Times New Roman" panose="02020603050405020304" pitchFamily="18" charset="0"/>
                          <a:cs typeface="Times New Roman" panose="02020603050405020304" pitchFamily="18" charset="0"/>
                        </a:rPr>
                        <a:t>, Agile </a:t>
                      </a:r>
                      <a:r>
                        <a:rPr lang="en-US" sz="2400" dirty="0">
                          <a:effectLst/>
                          <a:latin typeface="Times New Roman" panose="02020603050405020304" pitchFamily="18" charset="0"/>
                          <a:cs typeface="Times New Roman" panose="02020603050405020304" pitchFamily="18" charset="0"/>
                        </a:rPr>
                        <a:t>Modeling (AM), Agile Unified Process (AUP), The Cleanroom strategy.</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ENGINEERING LAYERS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1. A quality focus: It defines the continuous process improvement principles of software. It provides integrity that means providing security to the software so that data can be accessed by only an authorized person, no outsider can access the data. It also focuses on maintainability and usability.</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Process: It is the foundation or base layer of software engineering. It is key that binds all the layers together which enables the development of software before the deadline or on time.  Process defines a framework that must be established for the effective delivery of software engineering technology. The software process covers all the activities, actions, and tasks required to be carried out for software development.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ENGINEERING LAYERS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buNone/>
            </a:pPr>
            <a:r>
              <a:rPr lang="en-US" sz="2400" dirty="0">
                <a:latin typeface="Times New Roman" panose="02020603050405020304" pitchFamily="18" charset="0"/>
                <a:cs typeface="Times New Roman" panose="02020603050405020304" pitchFamily="18" charset="0"/>
              </a:rPr>
              <a:t>Process activities are listed below:-</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Communication: It is the first and foremost thing for the development of software. Communication is necessary to know the actual demand of the client.</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Planning: It basically means drawing a map for reduced the complication of development.</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Modeling: In this process, a model is created according to the client for better understanding.</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Construction: It includes the coding and testing of the problem.</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Deployment:- It includes the delivery of software to the client for evaluation and feedback.</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7552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 calcmode="lin" valueType="num">
                                      <p:cBhvr additive="base">
                                        <p:cTn id="4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ENGINEERING LAYERS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a:latin typeface="Times New Roman" panose="02020603050405020304" pitchFamily="18" charset="0"/>
                <a:cs typeface="Times New Roman" panose="02020603050405020304" pitchFamily="18" charset="0"/>
              </a:rPr>
              <a:t>3. Method: During the process of software development the answers to all “how-to-do” questions are given by method. It has the information of all the tasks which includes communication, requirement analysis, design modeling, program construction, testing, and support</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4. Tools:  Software engineering tools provide a self-operating system for processes and methods. Tools are integrated which means information created by one tool can be used by another</a:t>
            </a:r>
            <a:r>
              <a:rPr lang="en-US" sz="2400" dirty="0"/>
              <a:t>.</a:t>
            </a:r>
            <a:endParaRPr lang="en-IN" sz="2400" dirty="0"/>
          </a:p>
        </p:txBody>
      </p:sp>
    </p:spTree>
    <p:extLst>
      <p:ext uri="{BB962C8B-B14F-4D97-AF65-F5344CB8AC3E}">
        <p14:creationId xmlns:p14="http://schemas.microsoft.com/office/powerpoint/2010/main" val="258957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ENGINEERING LAYERS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endParaRPr lang="en-IN" sz="2400" dirty="0"/>
          </a:p>
        </p:txBody>
      </p:sp>
      <p:pic>
        <p:nvPicPr>
          <p:cNvPr id="5" name="Picture 4" descr="SOFTWARE ENGINEERING - A LAYERED TECHNOLOGY"/>
          <p:cNvPicPr/>
          <p:nvPr/>
        </p:nvPicPr>
        <p:blipFill>
          <a:blip r:embed="rId2">
            <a:extLst>
              <a:ext uri="{28A0092B-C50C-407E-A947-70E740481C1C}">
                <a14:useLocalDpi xmlns:a14="http://schemas.microsoft.com/office/drawing/2010/main" val="0"/>
              </a:ext>
            </a:extLst>
          </a:blip>
          <a:srcRect/>
          <a:stretch>
            <a:fillRect/>
          </a:stretch>
        </p:blipFill>
        <p:spPr bwMode="auto">
          <a:xfrm>
            <a:off x="228600" y="1100222"/>
            <a:ext cx="8229599" cy="5757778"/>
          </a:xfrm>
          <a:prstGeom prst="rect">
            <a:avLst/>
          </a:prstGeom>
          <a:noFill/>
          <a:ln>
            <a:noFill/>
          </a:ln>
        </p:spPr>
      </p:pic>
    </p:spTree>
    <p:extLst>
      <p:ext uri="{BB962C8B-B14F-4D97-AF65-F5344CB8AC3E}">
        <p14:creationId xmlns:p14="http://schemas.microsoft.com/office/powerpoint/2010/main" val="307018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nodePh="1">
                                  <p:stCondLst>
                                    <p:cond delay="0"/>
                                  </p:stCondLst>
                                  <p:endCondLst>
                                    <p:cond evt="begin" delay="0">
                                      <p:tn val="9"/>
                                    </p:cond>
                                  </p:end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THE SOFTWARE PROCESS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a:latin typeface="Times New Roman" panose="02020603050405020304" pitchFamily="18" charset="0"/>
                <a:cs typeface="Times New Roman" panose="02020603050405020304" pitchFamily="18" charset="0"/>
              </a:rPr>
              <a:t>A software process (also knows as software methodology) is a set of related activities that leads to the production of the software. These activities may involve the development of the software from the scratch, or, modifying an existing system.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Any software process must include the following four activities:</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Software specification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Define the main functionalities of the software and the constrains around them. </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2. Software design and implementation: The software is to be designed and programmed. </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3. Software verification and validation: The software must conforms to it’s specification and meets the customer needs.</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p>
        </p:txBody>
      </p:sp>
    </p:spTree>
    <p:extLst>
      <p:ext uri="{BB962C8B-B14F-4D97-AF65-F5344CB8AC3E}">
        <p14:creationId xmlns:p14="http://schemas.microsoft.com/office/powerpoint/2010/main" val="1779364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 calcmode="lin" valueType="num">
                                      <p:cBhvr additive="base">
                                        <p:cTn id="3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THE SOFTWARE PROCESS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4. Software </a:t>
            </a:r>
            <a:r>
              <a:rPr lang="en-US" sz="2400" dirty="0" smtClean="0">
                <a:latin typeface="Times New Roman" panose="02020603050405020304" pitchFamily="18" charset="0"/>
                <a:cs typeface="Times New Roman" panose="02020603050405020304" pitchFamily="18" charset="0"/>
              </a:rPr>
              <a:t>evolution : </a:t>
            </a:r>
            <a:r>
              <a:rPr lang="en-US" sz="2400" dirty="0">
                <a:latin typeface="Times New Roman" panose="02020603050405020304" pitchFamily="18" charset="0"/>
                <a:cs typeface="Times New Roman" panose="02020603050405020304" pitchFamily="18" charset="0"/>
              </a:rPr>
              <a:t>The software is being modified to meet customer and market requirements changes. In practice, they include sub-activities such as requirements validation, architectural design, unit testing, …etc. </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endParaRPr lang="en-IN" sz="2400" dirty="0"/>
          </a:p>
        </p:txBody>
      </p:sp>
    </p:spTree>
    <p:extLst>
      <p:ext uri="{BB962C8B-B14F-4D97-AF65-F5344CB8AC3E}">
        <p14:creationId xmlns:p14="http://schemas.microsoft.com/office/powerpoint/2010/main" val="338328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SOFTWARE ENGINEERING PRACTICE</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a:latin typeface="Times New Roman" panose="02020603050405020304" pitchFamily="18" charset="0"/>
                <a:cs typeface="Times New Roman" panose="02020603050405020304" pitchFamily="18" charset="0"/>
              </a:rPr>
              <a:t>The process encompasses the entire range of activities, from initial customer inception to software production and maintenance. It's also known as the Software Development Life Cycle (SDLC</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Step 1: Understanding Customer Requirements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step is also known as the ''requirements collection'' step. It's all about communicating with the customer before building a software, so you get to know their requirements thoroughly. It's usually conducted by a business analyst or product analyst. A Customer Requirement Specification (CRS) document is written from a customer's perspective and describes, in a simple way, what the software is going to do.</a:t>
            </a:r>
            <a:endParaRPr lang="en-IN" sz="2400" dirty="0">
              <a:latin typeface="Times New Roman" panose="02020603050405020304" pitchFamily="18" charset="0"/>
              <a:cs typeface="Times New Roman" panose="02020603050405020304" pitchFamily="18" charset="0"/>
            </a:endParaRPr>
          </a:p>
          <a:p>
            <a:pPr algn="just"/>
            <a:endParaRPr lang="en-IN" sz="2400" dirty="0"/>
          </a:p>
        </p:txBody>
      </p:sp>
    </p:spTree>
    <p:extLst>
      <p:ext uri="{BB962C8B-B14F-4D97-AF65-F5344CB8AC3E}">
        <p14:creationId xmlns:p14="http://schemas.microsoft.com/office/powerpoint/2010/main" val="449871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SOFTWARE ENGINEERING PRACTICE</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Step 2: Requirement Analysis: Is the Project Feasible?</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stage involves exploring issues related to the financial, technical, operational, and time management aspects of software development. It's an essential step towards creating functional specifications and design. It's usually done by a team of product managers, business analysts, software architects, developers, HR, and finance managers.</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Step 3: Creating a Design</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Once the analysis stage is over, it's time to create a blueprint for the software. Architects and senior developers create a high-level design of the software architecture, along with a low-level design describing how each and every component in the software should work.</a:t>
            </a:r>
            <a:endParaRPr lang="en-IN" sz="2400" dirty="0">
              <a:latin typeface="Times New Roman" panose="02020603050405020304" pitchFamily="18" charset="0"/>
              <a:cs typeface="Times New Roman" panose="02020603050405020304" pitchFamily="18" charset="0"/>
            </a:endParaRPr>
          </a:p>
          <a:p>
            <a:pPr algn="just"/>
            <a:endParaRPr lang="en-IN" sz="2400" dirty="0"/>
          </a:p>
        </p:txBody>
      </p:sp>
    </p:spTree>
    <p:extLst>
      <p:ext uri="{BB962C8B-B14F-4D97-AF65-F5344CB8AC3E}">
        <p14:creationId xmlns:p14="http://schemas.microsoft.com/office/powerpoint/2010/main" val="410728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SOFTWARE ENGINEERING PRACTICE</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Step 4: Coding, Testing, and Installation</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Next, software developers implement the design by writing code. After all the code developed by different teams is integrated, test engineers check if the software meets the required specifications, so that developers can debug code. </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Step 5: Keeping it Going: Maintenance</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Maintenance is the application of each of the previous steps to the existing modules in the software in order to modify or add new features, depending on what the customer needs.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0693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SOFTWARE ENGINEERING PRACTICE</a:t>
            </a:r>
            <a:endParaRPr lang="en-US" sz="3600"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0" y="1295400"/>
            <a:ext cx="9143999" cy="4952999"/>
          </a:xfrm>
          <a:prstGeom prst="rect">
            <a:avLst/>
          </a:prstGeom>
        </p:spPr>
      </p:pic>
    </p:spTree>
    <p:extLst>
      <p:ext uri="{BB962C8B-B14F-4D97-AF65-F5344CB8AC3E}">
        <p14:creationId xmlns:p14="http://schemas.microsoft.com/office/powerpoint/2010/main" val="309400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SOFTWARE MYTHS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Software Myths- beliefs about software and the process used to build it - can be traced to the earliest days of computing.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457200" indent="-457200" algn="just">
              <a:buAutoNum type="arabicPeriod"/>
            </a:pPr>
            <a:r>
              <a:rPr lang="en-US" sz="2400" dirty="0" smtClean="0">
                <a:latin typeface="Times New Roman" panose="02020603050405020304" pitchFamily="18" charset="0"/>
                <a:cs typeface="Times New Roman" panose="02020603050405020304" pitchFamily="18" charset="0"/>
              </a:rPr>
              <a:t>Management </a:t>
            </a:r>
            <a:r>
              <a:rPr lang="en-US" sz="2400" dirty="0">
                <a:latin typeface="Times New Roman" panose="02020603050405020304" pitchFamily="18" charset="0"/>
                <a:cs typeface="Times New Roman" panose="02020603050405020304" pitchFamily="18" charset="0"/>
              </a:rPr>
              <a:t>Myths : Managers with software responsibility, like managers in most disciplines, are often under pressure to maintain budgets, keep schedules from slipping, and improve quality. Like a drowning person who grasps at a straw, a software manager often grasps at belief in a software myth.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Myth</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We already have a book that’s full of standards and procedures for building software. Won’t that provide my people with everything they need to know?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Reality </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book of standards may very well exist, but is it used? </a:t>
            </a:r>
            <a:r>
              <a:rPr lang="en-US" sz="2400" dirty="0" smtClean="0">
                <a:latin typeface="Times New Roman" panose="02020603050405020304" pitchFamily="18" charset="0"/>
                <a:cs typeface="Times New Roman" panose="02020603050405020304" pitchFamily="18" charset="0"/>
              </a:rPr>
              <a:t>Are </a:t>
            </a:r>
            <a:r>
              <a:rPr lang="en-US" sz="2400" dirty="0">
                <a:latin typeface="Times New Roman" panose="02020603050405020304" pitchFamily="18" charset="0"/>
                <a:cs typeface="Times New Roman" panose="02020603050405020304" pitchFamily="18" charset="0"/>
              </a:rPr>
              <a:t>software practitioners aware of its existence? </a:t>
            </a:r>
            <a:r>
              <a:rPr lang="en-US" sz="2400" dirty="0" smtClean="0">
                <a:latin typeface="Times New Roman" panose="02020603050405020304" pitchFamily="18" charset="0"/>
                <a:cs typeface="Times New Roman" panose="02020603050405020304" pitchFamily="18" charset="0"/>
              </a:rPr>
              <a:t>Does </a:t>
            </a:r>
            <a:r>
              <a:rPr lang="en-US" sz="2400" dirty="0">
                <a:latin typeface="Times New Roman" panose="02020603050405020304" pitchFamily="18" charset="0"/>
                <a:cs typeface="Times New Roman" panose="02020603050405020304" pitchFamily="18" charset="0"/>
              </a:rPr>
              <a:t>it reflect modern software engineering practice? </a:t>
            </a:r>
            <a:r>
              <a:rPr lang="en-US" sz="2400" dirty="0" smtClean="0">
                <a:latin typeface="Times New Roman" panose="02020603050405020304" pitchFamily="18" charset="0"/>
                <a:cs typeface="Times New Roman" panose="02020603050405020304" pitchFamily="18" charset="0"/>
              </a:rPr>
              <a:t>Is </a:t>
            </a:r>
            <a:r>
              <a:rPr lang="en-US" sz="2400" dirty="0">
                <a:latin typeface="Times New Roman" panose="02020603050405020304" pitchFamily="18" charset="0"/>
                <a:cs typeface="Times New Roman" panose="02020603050405020304" pitchFamily="18" charset="0"/>
              </a:rPr>
              <a:t>it complete?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7279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SOFTWARE MYTHS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Myth:</a:t>
            </a:r>
            <a:r>
              <a:rPr lang="en-US" sz="2400" dirty="0">
                <a:latin typeface="Times New Roman" panose="02020603050405020304" pitchFamily="18" charset="0"/>
                <a:cs typeface="Times New Roman" panose="02020603050405020304" pitchFamily="18" charset="0"/>
              </a:rPr>
              <a:t> My people have state-of-the-art software development tools, after all, we buy them the newest computers.</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Reality:</a:t>
            </a:r>
            <a:r>
              <a:rPr lang="en-US" sz="2400" dirty="0">
                <a:latin typeface="Times New Roman" panose="02020603050405020304" pitchFamily="18" charset="0"/>
                <a:cs typeface="Times New Roman" panose="02020603050405020304" pitchFamily="18" charset="0"/>
              </a:rPr>
              <a:t> It takes much more than the latest model mainframe, workstation, or PC to do high-quality software development. Computer-aided software engineering (CASE) </a:t>
            </a:r>
            <a:r>
              <a:rPr lang="en-US" sz="2400" dirty="0" smtClean="0">
                <a:latin typeface="Times New Roman" panose="02020603050405020304" pitchFamily="18" charset="0"/>
                <a:cs typeface="Times New Roman" panose="02020603050405020304" pitchFamily="18" charset="0"/>
              </a:rPr>
              <a:t>tools</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are </a:t>
            </a:r>
            <a:r>
              <a:rPr lang="en-US" sz="2400" dirty="0">
                <a:latin typeface="Times New Roman" panose="02020603050405020304" pitchFamily="18" charset="0"/>
                <a:cs typeface="Times New Roman" panose="02020603050405020304" pitchFamily="18" charset="0"/>
              </a:rPr>
              <a:t>more important than hardware for achieving good quality and productivity, yet the majority of </a:t>
            </a:r>
            <a:r>
              <a:rPr lang="en-US" sz="2400" dirty="0" smtClean="0">
                <a:latin typeface="Times New Roman" panose="02020603050405020304" pitchFamily="18" charset="0"/>
                <a:cs typeface="Times New Roman" panose="02020603050405020304" pitchFamily="18" charset="0"/>
              </a:rPr>
              <a:t>software </a:t>
            </a:r>
            <a:r>
              <a:rPr lang="en-US" sz="2400" dirty="0">
                <a:latin typeface="Times New Roman" panose="02020603050405020304" pitchFamily="18" charset="0"/>
                <a:cs typeface="Times New Roman" panose="02020603050405020304" pitchFamily="18" charset="0"/>
              </a:rPr>
              <a:t>developers still do not use them effectively</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Myth:</a:t>
            </a:r>
            <a:r>
              <a:rPr lang="en-US" sz="2400" dirty="0">
                <a:latin typeface="Times New Roman" panose="02020603050405020304" pitchFamily="18" charset="0"/>
                <a:cs typeface="Times New Roman" panose="02020603050405020304" pitchFamily="18" charset="0"/>
              </a:rPr>
              <a:t> If I decide to outsource the software project to a third party, I can just relax and let that firm build it.</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Reality:</a:t>
            </a:r>
            <a:r>
              <a:rPr lang="en-US" sz="2400" dirty="0">
                <a:latin typeface="Times New Roman" panose="02020603050405020304" pitchFamily="18" charset="0"/>
                <a:cs typeface="Times New Roman" panose="02020603050405020304" pitchFamily="18" charset="0"/>
              </a:rPr>
              <a:t> If an organization does not understand how to manage and control software projects internally, it will invariably struggle when it outsources software projects.</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9988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SOFTWARE MYTHS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2) Customer myths: Customer myths lead to false </a:t>
            </a:r>
            <a:r>
              <a:rPr lang="en-US" sz="2400" dirty="0" smtClean="0">
                <a:latin typeface="Times New Roman" panose="02020603050405020304" pitchFamily="18" charset="0"/>
                <a:cs typeface="Times New Roman" panose="02020603050405020304" pitchFamily="18" charset="0"/>
              </a:rPr>
              <a:t>expectations </a:t>
            </a:r>
            <a:r>
              <a:rPr lang="en-US" sz="2400" dirty="0">
                <a:latin typeface="Times New Roman" panose="02020603050405020304" pitchFamily="18" charset="0"/>
                <a:cs typeface="Times New Roman" panose="02020603050405020304" pitchFamily="18" charset="0"/>
              </a:rPr>
              <a:t>and ultimately, dissatisfaction with the developer. Following are the customer myths:</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Myth:</a:t>
            </a:r>
            <a:r>
              <a:rPr lang="en-US" sz="2400" dirty="0">
                <a:latin typeface="Times New Roman" panose="02020603050405020304" pitchFamily="18" charset="0"/>
                <a:cs typeface="Times New Roman" panose="02020603050405020304" pitchFamily="18" charset="0"/>
              </a:rPr>
              <a:t> A general statement of objectives is sufficient to begin writing programs-we can fill in the details later.</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Reality:</a:t>
            </a:r>
            <a:r>
              <a:rPr lang="en-US" sz="2400" dirty="0">
                <a:latin typeface="Times New Roman" panose="02020603050405020304" pitchFamily="18" charset="0"/>
                <a:cs typeface="Times New Roman" panose="02020603050405020304" pitchFamily="18" charset="0"/>
              </a:rPr>
              <a:t> A poor up-front definition is the major cause of failed software efforts. A formal and detailed description of the functions, behavior, performance, interfaces, design constraints, and validation criteria is essential.</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5487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SOFTWARE MYTHS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Myth:</a:t>
            </a:r>
            <a:r>
              <a:rPr lang="en-US" sz="2400" dirty="0">
                <a:latin typeface="Times New Roman" panose="02020603050405020304" pitchFamily="18" charset="0"/>
                <a:cs typeface="Times New Roman" panose="02020603050405020304" pitchFamily="18" charset="0"/>
              </a:rPr>
              <a:t> Project requirements continually change, but change can be easily accommodated because software is flexible.</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Reality:</a:t>
            </a:r>
            <a:r>
              <a:rPr lang="en-US" sz="2400" dirty="0">
                <a:latin typeface="Times New Roman" panose="02020603050405020304" pitchFamily="18" charset="0"/>
                <a:cs typeface="Times New Roman" panose="02020603050405020304" pitchFamily="18" charset="0"/>
              </a:rPr>
              <a:t> It is true that software requirements change, but the impact of change varies with the time at which it is introduced. When changes are requested during software design, the cost impact grows rapidly. Resources have been committed and a design framework has been established. Change can cause heavy additional costs. Change, when requested after software is in production, can be much more expensive than the same change requested earlier.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185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SOFTWARE MYTHS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3) Practitioner’s myths:  Practitioners have following myths</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Myth</a:t>
            </a:r>
            <a:r>
              <a:rPr lang="en-US" sz="2400" dirty="0">
                <a:latin typeface="Times New Roman" panose="02020603050405020304" pitchFamily="18" charset="0"/>
                <a:cs typeface="Times New Roman" panose="02020603050405020304" pitchFamily="18" charset="0"/>
              </a:rPr>
              <a:t>: Once we write the program and get it to work, our job is done.</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Reality:</a:t>
            </a:r>
            <a:r>
              <a:rPr lang="en-US" sz="2400" dirty="0">
                <a:latin typeface="Times New Roman" panose="02020603050405020304" pitchFamily="18" charset="0"/>
                <a:cs typeface="Times New Roman" panose="02020603050405020304" pitchFamily="18" charset="0"/>
              </a:rPr>
              <a:t> Industry data indicate that between 60 and 80 percent of all effort expended on software will be expended after it is delivered to the customer for the first time</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Myth</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Until I get the program “running” I have no way of assessing its quality.</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Reality:</a:t>
            </a:r>
            <a:r>
              <a:rPr lang="en-US" sz="2400" dirty="0">
                <a:latin typeface="Times New Roman" panose="02020603050405020304" pitchFamily="18" charset="0"/>
                <a:cs typeface="Times New Roman" panose="02020603050405020304" pitchFamily="18" charset="0"/>
              </a:rPr>
              <a:t> One of the most effective software quality assurance mechanisms can be applied from the inception of a project—the formal technical review.</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7638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 calcmode="lin" valueType="num">
                                      <p:cBhvr additive="base">
                                        <p:cTn id="3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A GENERIC PROCESS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a:latin typeface="Times New Roman" panose="02020603050405020304" pitchFamily="18" charset="0"/>
                <a:cs typeface="Times New Roman" panose="02020603050405020304" pitchFamily="18" charset="0"/>
              </a:rPr>
              <a:t>The generic process model is an abstraction of the software development process. It is used in most software since it provides a base for them</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generic process model encompasses the following five steps:</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Communication</a:t>
            </a:r>
            <a:endParaRPr lang="en-IN"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Planning</a:t>
            </a:r>
            <a:endParaRPr lang="en-IN"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Modelling</a:t>
            </a:r>
            <a:endParaRPr lang="en-IN"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Construction</a:t>
            </a:r>
            <a:endParaRPr lang="en-IN"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Deployment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1228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 calcmode="lin" valueType="num">
                                      <p:cBhvr additive="base">
                                        <p:cTn id="3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anim calcmode="lin" valueType="num">
                                      <p:cBhvr additive="base">
                                        <p:cTn id="4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anim calcmode="lin" valueType="num">
                                      <p:cBhvr additive="base">
                                        <p:cTn id="4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A GENERIC PROCESS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endParaRPr lang="en-IN" sz="24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228600" y="1637998"/>
            <a:ext cx="8610600" cy="4839001"/>
          </a:xfrm>
          <a:prstGeom prst="rect">
            <a:avLst/>
          </a:prstGeom>
        </p:spPr>
      </p:pic>
    </p:spTree>
    <p:extLst>
      <p:ext uri="{BB962C8B-B14F-4D97-AF65-F5344CB8AC3E}">
        <p14:creationId xmlns:p14="http://schemas.microsoft.com/office/powerpoint/2010/main" val="4192373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nodePh="1">
                                  <p:stCondLst>
                                    <p:cond delay="0"/>
                                  </p:stCondLst>
                                  <p:endCondLst>
                                    <p:cond evt="begin" delay="0">
                                      <p:tn val="9"/>
                                    </p:cond>
                                  </p:end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A GENERIC PROCESS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Communication</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step, we communicate with the clients and </a:t>
            </a:r>
            <a:r>
              <a:rPr lang="en-US" sz="2400" dirty="0" smtClean="0">
                <a:latin typeface="Times New Roman" panose="02020603050405020304" pitchFamily="18" charset="0"/>
                <a:cs typeface="Times New Roman" panose="02020603050405020304" pitchFamily="18" charset="0"/>
              </a:rPr>
              <a:t>end-users.</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We </a:t>
            </a:r>
            <a:r>
              <a:rPr lang="en-US" sz="2400" dirty="0">
                <a:latin typeface="Times New Roman" panose="02020603050405020304" pitchFamily="18" charset="0"/>
                <a:cs typeface="Times New Roman" panose="02020603050405020304" pitchFamily="18" charset="0"/>
              </a:rPr>
              <a:t>discuss the requirements of the project with the </a:t>
            </a:r>
            <a:r>
              <a:rPr lang="en-US" sz="2400" dirty="0" smtClean="0">
                <a:latin typeface="Times New Roman" panose="02020603050405020304" pitchFamily="18" charset="0"/>
                <a:cs typeface="Times New Roman" panose="02020603050405020304" pitchFamily="18" charset="0"/>
              </a:rPr>
              <a:t>users.</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users give suggestions on the project. If any changes are difficult to implement, we work on alternative ideas.</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Planning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step, we plan the steps for project development. After completing the final discussion, we report on the </a:t>
            </a:r>
            <a:r>
              <a:rPr lang="en-US" sz="2400" dirty="0" smtClean="0">
                <a:latin typeface="Times New Roman" panose="02020603050405020304" pitchFamily="18" charset="0"/>
                <a:cs typeface="Times New Roman" panose="02020603050405020304" pitchFamily="18" charset="0"/>
              </a:rPr>
              <a:t>project.</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Planning </a:t>
            </a:r>
            <a:r>
              <a:rPr lang="en-US" sz="2400" dirty="0">
                <a:latin typeface="Times New Roman" panose="02020603050405020304" pitchFamily="18" charset="0"/>
                <a:cs typeface="Times New Roman" panose="02020603050405020304" pitchFamily="18" charset="0"/>
              </a:rPr>
              <a:t>plays a key role in the software development </a:t>
            </a:r>
            <a:r>
              <a:rPr lang="en-US" sz="2400" dirty="0" smtClean="0">
                <a:latin typeface="Times New Roman" panose="02020603050405020304" pitchFamily="18" charset="0"/>
                <a:cs typeface="Times New Roman" panose="02020603050405020304" pitchFamily="18" charset="0"/>
              </a:rPr>
              <a:t>process.</a:t>
            </a:r>
            <a:r>
              <a:rPr lang="en-IN" sz="2400" dirty="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We </a:t>
            </a:r>
            <a:r>
              <a:rPr lang="en-US" sz="2400" dirty="0">
                <a:latin typeface="Times New Roman" panose="02020603050405020304" pitchFamily="18" charset="0"/>
                <a:cs typeface="Times New Roman" panose="02020603050405020304" pitchFamily="18" charset="0"/>
              </a:rPr>
              <a:t>discuss the risks involved in the project.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787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A GENERIC PROCESS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Modelling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step, we create a model to understand the project in the real world. We showcase the model to all the developers. If changes are required, we implement them in this </a:t>
            </a:r>
            <a:r>
              <a:rPr lang="en-US" sz="2400" dirty="0" smtClean="0">
                <a:latin typeface="Times New Roman" panose="02020603050405020304" pitchFamily="18" charset="0"/>
                <a:cs typeface="Times New Roman" panose="02020603050405020304" pitchFamily="18" charset="0"/>
              </a:rPr>
              <a:t>step. We </a:t>
            </a:r>
            <a:r>
              <a:rPr lang="en-US" sz="2400" dirty="0">
                <a:latin typeface="Times New Roman" panose="02020603050405020304" pitchFamily="18" charset="0"/>
                <a:cs typeface="Times New Roman" panose="02020603050405020304" pitchFamily="18" charset="0"/>
              </a:rPr>
              <a:t>develop a practical model to get a better understanding of the project.</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Construction</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step, we follow a procedure to develop the final </a:t>
            </a:r>
            <a:r>
              <a:rPr lang="en-US" sz="2400" dirty="0" smtClean="0">
                <a:latin typeface="Times New Roman" panose="02020603050405020304" pitchFamily="18" charset="0"/>
                <a:cs typeface="Times New Roman" panose="02020603050405020304" pitchFamily="18" charset="0"/>
              </a:rPr>
              <a:t>product.</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If </a:t>
            </a:r>
            <a:r>
              <a:rPr lang="en-US" sz="2400" dirty="0">
                <a:latin typeface="Times New Roman" panose="02020603050405020304" pitchFamily="18" charset="0"/>
                <a:cs typeface="Times New Roman" panose="02020603050405020304" pitchFamily="18" charset="0"/>
              </a:rPr>
              <a:t>any code is required for the project development, we implement it in this </a:t>
            </a:r>
            <a:r>
              <a:rPr lang="en-US" sz="2400" dirty="0" smtClean="0">
                <a:latin typeface="Times New Roman" panose="02020603050405020304" pitchFamily="18" charset="0"/>
                <a:cs typeface="Times New Roman" panose="02020603050405020304" pitchFamily="18" charset="0"/>
              </a:rPr>
              <a:t>phase.</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We </a:t>
            </a:r>
            <a:r>
              <a:rPr lang="en-US" sz="2400" dirty="0">
                <a:latin typeface="Times New Roman" panose="02020603050405020304" pitchFamily="18" charset="0"/>
                <a:cs typeface="Times New Roman" panose="02020603050405020304" pitchFamily="18" charset="0"/>
              </a:rPr>
              <a:t>also test the project in this phase.</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Deployment</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phase, we submit the project to the clients for their feedback and add any missing </a:t>
            </a:r>
            <a:r>
              <a:rPr lang="en-US" sz="2400" dirty="0" smtClean="0">
                <a:latin typeface="Times New Roman" panose="02020603050405020304" pitchFamily="18" charset="0"/>
                <a:cs typeface="Times New Roman" panose="02020603050405020304" pitchFamily="18" charset="0"/>
              </a:rPr>
              <a:t>requirements.</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We </a:t>
            </a:r>
            <a:r>
              <a:rPr lang="en-US" sz="2400" dirty="0">
                <a:latin typeface="Times New Roman" panose="02020603050405020304" pitchFamily="18" charset="0"/>
                <a:cs typeface="Times New Roman" panose="02020603050405020304" pitchFamily="18" charset="0"/>
              </a:rPr>
              <a:t>get the client </a:t>
            </a:r>
            <a:r>
              <a:rPr lang="en-US" sz="2400" dirty="0" smtClean="0">
                <a:latin typeface="Times New Roman" panose="02020603050405020304" pitchFamily="18" charset="0"/>
                <a:cs typeface="Times New Roman" panose="02020603050405020304" pitchFamily="18" charset="0"/>
              </a:rPr>
              <a:t>feedback.</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Depending </a:t>
            </a:r>
            <a:r>
              <a:rPr lang="en-US" sz="2400" dirty="0">
                <a:latin typeface="Times New Roman" panose="02020603050405020304" pitchFamily="18" charset="0"/>
                <a:cs typeface="Times New Roman" panose="02020603050405020304" pitchFamily="18" charset="0"/>
              </a:rPr>
              <a:t>on the feedback form, we make the appropriate changes</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1198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 calcmode="lin" valueType="num">
                                      <p:cBhvr additive="base">
                                        <p:cTn id="4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THE WATERFALL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Waterfall approach was first SDLC Model to be used widely in Software Engineering to ensure success of the project. In "The Waterfall" approach, the whole process of software development is divided into separate phases.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Requirement Gathering and analysis − All possible requirements of the system to be developed are captured in this phase and documented in a requirement specification document.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System Design − The requirement specifications from first phase are studied in this phase and the system design is prepared. This system design helps in specifying hardware and system requirements and helps in defining the overall system architecture.</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9195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THE WATERFALL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a:latin typeface="Times New Roman" panose="02020603050405020304" pitchFamily="18" charset="0"/>
                <a:cs typeface="Times New Roman" panose="02020603050405020304" pitchFamily="18" charset="0"/>
              </a:rPr>
              <a:t>Implementation − With inputs from the system design, the system is first developed in small programs called units, which are integrated in the next phase. Each unit is developed and tested for its functionality, which is referred to as Unit Testing.</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Integration and Testing − All the units developed in the implementation phase are integrated into a system after testing of each unit. Post integration the entire system is tested for any faults and failures.</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Deployment </a:t>
            </a:r>
            <a:r>
              <a:rPr lang="en-US" sz="2400" dirty="0">
                <a:latin typeface="Times New Roman" panose="02020603050405020304" pitchFamily="18" charset="0"/>
                <a:cs typeface="Times New Roman" panose="02020603050405020304" pitchFamily="18" charset="0"/>
              </a:rPr>
              <a:t>of system − Once the functional and non-functional testing is done; the product is deployed in the customer environment or released into the market.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8825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THE WATERFALL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a:latin typeface="Times New Roman" panose="02020603050405020304" pitchFamily="18" charset="0"/>
                <a:cs typeface="Times New Roman" panose="02020603050405020304" pitchFamily="18" charset="0"/>
              </a:rPr>
              <a:t>Maintenance − There are some issues which come up in the client environment. To fix those issues, patches are released. Also to enhance the product some better versions are released. Maintenance is done to deliver these changes in the customer environment.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All these phases are cascaded to each other in which progress is seen as flowing steadily downwards (like a waterfall) through the phases.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6441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THE WATERFALL MODEL</a:t>
            </a:r>
            <a:endParaRPr lang="en-US" sz="3600"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descr="SDLC Waterfall Model"/>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1024022"/>
            <a:ext cx="8763000" cy="5833978"/>
          </a:xfrm>
          <a:prstGeom prst="rect">
            <a:avLst/>
          </a:prstGeom>
          <a:noFill/>
          <a:ln>
            <a:noFill/>
          </a:ln>
        </p:spPr>
      </p:pic>
    </p:spTree>
    <p:extLst>
      <p:ext uri="{BB962C8B-B14F-4D97-AF65-F5344CB8AC3E}">
        <p14:creationId xmlns:p14="http://schemas.microsoft.com/office/powerpoint/2010/main" val="2634005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THE WATERFALL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Waterfall Model </a:t>
            </a:r>
            <a:r>
              <a:rPr lang="en-US" sz="2400" dirty="0" smtClean="0">
                <a:solidFill>
                  <a:srgbClr val="FF0000"/>
                </a:solidFill>
                <a:latin typeface="Times New Roman" panose="02020603050405020304" pitchFamily="18" charset="0"/>
                <a:cs typeface="Times New Roman" panose="02020603050405020304" pitchFamily="18" charset="0"/>
              </a:rPr>
              <a:t>– Advantages</a:t>
            </a:r>
          </a:p>
          <a:p>
            <a:pPr algn="just"/>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 schedule can be set with deadlines for each stage of development and a product can proceed through the development process model phases one by one</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Development moves from concept, through design, implementation, testing, installation, troubleshooting, and ends up at operation and maintenance. Each phase of development proceeds in strict order.</a:t>
            </a:r>
            <a:endParaRPr lang="en-IN"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Simple </a:t>
            </a:r>
            <a:r>
              <a:rPr lang="en-US" sz="2400" dirty="0">
                <a:latin typeface="Times New Roman" panose="02020603050405020304" pitchFamily="18" charset="0"/>
                <a:cs typeface="Times New Roman" panose="02020603050405020304" pitchFamily="18" charset="0"/>
              </a:rPr>
              <a:t>and easy to understand and </a:t>
            </a:r>
            <a:r>
              <a:rPr lang="en-US" sz="2400" dirty="0" smtClean="0">
                <a:latin typeface="Times New Roman" panose="02020603050405020304" pitchFamily="18" charset="0"/>
                <a:cs typeface="Times New Roman" panose="02020603050405020304" pitchFamily="18" charset="0"/>
              </a:rPr>
              <a:t>use</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Phases are processed and completed one at a time</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Works well for smaller projects where requirements are very well understood.</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97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 calcmode="lin" valueType="num">
                                      <p:cBhvr additive="base">
                                        <p:cTn id="4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THE WATERFALL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Waterfall Model - Disadvantages</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disadvantage of waterfall development is that it does not allow much reflection or revision. Once an application is in the testing stage, it is very difficult to go back and change something that was not well-documented or thought upon in the concept </a:t>
            </a:r>
            <a:r>
              <a:rPr lang="en-US" sz="2400" dirty="0" smtClean="0">
                <a:latin typeface="Times New Roman" panose="02020603050405020304" pitchFamily="18" charset="0"/>
                <a:cs typeface="Times New Roman" panose="02020603050405020304" pitchFamily="18" charset="0"/>
              </a:rPr>
              <a:t>stage</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No working software is produced until late during the life cycle</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High amounts of risk and uncertainty</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Not a good model for complex and object-oriented projects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Poor model for long and ongoing projects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is difficult to measure progress within stages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Cannot accommodate changing requirements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Adjusting scope during the life cycle can end a project</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78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 calcmode="lin" valueType="num">
                                      <p:cBhvr additive="base">
                                        <p:cTn id="4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anim calcmode="lin" valueType="num">
                                      <p:cBhvr additive="base">
                                        <p:cTn id="4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anim calcmode="lin" valueType="num">
                                      <p:cBhvr additive="base">
                                        <p:cTn id="5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4">
                                            <p:txEl>
                                              <p:pRg st="8" end="8"/>
                                            </p:txEl>
                                          </p:spTgt>
                                        </p:tgtEl>
                                        <p:attrNameLst>
                                          <p:attrName>style.visibility</p:attrName>
                                        </p:attrNameLst>
                                      </p:cBhvr>
                                      <p:to>
                                        <p:strVal val="visible"/>
                                      </p:to>
                                    </p:set>
                                    <p:anim calcmode="lin" valueType="num">
                                      <p:cBhvr additive="base">
                                        <p:cTn id="5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INCREMENTAL PROCESS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a:latin typeface="Times New Roman" panose="02020603050405020304" pitchFamily="18" charset="0"/>
                <a:cs typeface="Times New Roman" panose="02020603050405020304" pitchFamily="18" charset="0"/>
              </a:rPr>
              <a:t>In this model, each module goes through the requirements, design, implementation and testing phases. Every subsequent release of the module adds function to the previous release. The process continues until the complete system achieved.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390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INCREMENTAL PROCESS MODEL</a:t>
            </a:r>
            <a:endParaRPr lang="en-US" sz="3600"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descr="Incremental Model"/>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1905000"/>
            <a:ext cx="8610600" cy="4114800"/>
          </a:xfrm>
          <a:prstGeom prst="rect">
            <a:avLst/>
          </a:prstGeom>
          <a:noFill/>
          <a:ln>
            <a:noFill/>
          </a:ln>
        </p:spPr>
      </p:pic>
    </p:spTree>
    <p:extLst>
      <p:ext uri="{BB962C8B-B14F-4D97-AF65-F5344CB8AC3E}">
        <p14:creationId xmlns:p14="http://schemas.microsoft.com/office/powerpoint/2010/main" val="698106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INCREMENTAL PROCESS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1. Requirement analysis: In the first phase of the incremental model, the product analysis expertise identifies the </a:t>
            </a:r>
            <a:r>
              <a:rPr lang="en-US" sz="2400" dirty="0" smtClean="0">
                <a:latin typeface="Times New Roman" panose="02020603050405020304" pitchFamily="18" charset="0"/>
                <a:cs typeface="Times New Roman" panose="02020603050405020304" pitchFamily="18" charset="0"/>
              </a:rPr>
              <a:t>requirements. To </a:t>
            </a:r>
            <a:r>
              <a:rPr lang="en-US" sz="2400" dirty="0">
                <a:latin typeface="Times New Roman" panose="02020603050405020304" pitchFamily="18" charset="0"/>
                <a:cs typeface="Times New Roman" panose="02020603050405020304" pitchFamily="18" charset="0"/>
              </a:rPr>
              <a:t>develop the software under the incremental model, this phase performs a crucial role</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2. Design &amp; Development: In this phase of the Incremental model of SDLC, the design of the system functionality and the development method are finished with success. When software develops new practicality, the incremental model uses style and development phase.</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452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INCREMENTAL PROCESS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3. Testing: In the incremental model, the testing phase checks the performance of each existing function as well as additional functionality. In the testing phase, the various methods are used to test the behavior of each task.</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Implementation: Implementation phase enables the coding phase of the development system. It involves the final coding that design in the designing and development phase and tests the functionality in the testing phase. After completion of this phase, the number of the product working is enhanced and upgraded up to the final system product.</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49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INCREMENTAL PROCESS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buNone/>
            </a:pPr>
            <a:r>
              <a:rPr lang="en-US" sz="2400" dirty="0">
                <a:solidFill>
                  <a:srgbClr val="00B050"/>
                </a:solidFill>
                <a:latin typeface="Times New Roman" panose="02020603050405020304" pitchFamily="18" charset="0"/>
                <a:cs typeface="Times New Roman" panose="02020603050405020304" pitchFamily="18" charset="0"/>
              </a:rPr>
              <a:t>Advantage of Incremental Model</a:t>
            </a:r>
            <a:endParaRPr lang="en-IN" sz="2400" dirty="0">
              <a:solidFill>
                <a:srgbClr val="00B05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Errors are easy to be recognized.</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Easier to test and debug</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More flexible.</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Simple to manage risk because it handled during its iteration.</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Client gets important functionality early.</a:t>
            </a:r>
            <a:endParaRPr lang="en-IN" sz="2400" dirty="0">
              <a:latin typeface="Times New Roman" panose="02020603050405020304" pitchFamily="18" charset="0"/>
              <a:cs typeface="Times New Roman" panose="02020603050405020304" pitchFamily="18" charset="0"/>
            </a:endParaRPr>
          </a:p>
          <a:p>
            <a:pPr marL="0" indent="0">
              <a:buNone/>
            </a:pP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dirty="0" smtClean="0">
                <a:solidFill>
                  <a:srgbClr val="00B050"/>
                </a:solidFill>
                <a:latin typeface="Times New Roman" panose="02020603050405020304" pitchFamily="18" charset="0"/>
                <a:cs typeface="Times New Roman" panose="02020603050405020304" pitchFamily="18" charset="0"/>
              </a:rPr>
              <a:t>Disadvantage </a:t>
            </a:r>
            <a:r>
              <a:rPr lang="en-US" sz="2400" dirty="0">
                <a:solidFill>
                  <a:srgbClr val="00B050"/>
                </a:solidFill>
                <a:latin typeface="Times New Roman" panose="02020603050405020304" pitchFamily="18" charset="0"/>
                <a:cs typeface="Times New Roman" panose="02020603050405020304" pitchFamily="18" charset="0"/>
              </a:rPr>
              <a:t>of Incremental Model</a:t>
            </a:r>
            <a:endParaRPr lang="en-IN" sz="2400" dirty="0">
              <a:solidFill>
                <a:srgbClr val="00B05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Need for good planning</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Total Cost is high.</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6317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 calcmode="lin" valueType="num">
                                      <p:cBhvr additive="base">
                                        <p:cTn id="4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anim calcmode="lin" valueType="num">
                                      <p:cBhvr additive="base">
                                        <p:cTn id="4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anim calcmode="lin" valueType="num">
                                      <p:cBhvr additive="base">
                                        <p:cTn id="53"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4">
                                            <p:txEl>
                                              <p:pRg st="9" end="9"/>
                                            </p:txEl>
                                          </p:spTgt>
                                        </p:tgtEl>
                                        <p:attrNameLst>
                                          <p:attrName>style.visibility</p:attrName>
                                        </p:attrNameLst>
                                      </p:cBhvr>
                                      <p:to>
                                        <p:strVal val="visible"/>
                                      </p:to>
                                    </p:set>
                                    <p:anim calcmode="lin" valueType="num">
                                      <p:cBhvr additive="base">
                                        <p:cTn id="59"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SPECIALIZED PROCESS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Component-Based Development(CBD)</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component Based Development Model has the characteristics of a spiral model, hence is evolutionary and iterative in nature.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this model, applications are built from pre-packaged software components that are available from different vendors.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Components </a:t>
            </a:r>
            <a:r>
              <a:rPr lang="en-US" sz="2400" dirty="0">
                <a:latin typeface="Times New Roman" panose="02020603050405020304" pitchFamily="18" charset="0"/>
                <a:cs typeface="Times New Roman" panose="02020603050405020304" pitchFamily="18" charset="0"/>
              </a:rPr>
              <a:t>are modular products with well-defined functions that can be incorporated into the project of selection</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modelling and construction stages are begun with identifying candidate components suitable for the project.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8545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SPECIALIZED PROCESS MODEL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Formal </a:t>
            </a:r>
            <a:r>
              <a:rPr lang="en-US" sz="2400" dirty="0">
                <a:solidFill>
                  <a:srgbClr val="00B050"/>
                </a:solidFill>
                <a:latin typeface="Times New Roman" panose="02020603050405020304" pitchFamily="18" charset="0"/>
                <a:cs typeface="Times New Roman" panose="02020603050405020304" pitchFamily="18" charset="0"/>
              </a:rPr>
              <a:t>Methods Model(FMM)</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the Formal Methods Model, mathematical methods are applied in the process of developing software. It Uses Formal Specification Language (FSL) to define each system characteristics.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FSL </a:t>
            </a:r>
            <a:r>
              <a:rPr lang="en-US" sz="2400" dirty="0">
                <a:latin typeface="Times New Roman" panose="02020603050405020304" pitchFamily="18" charset="0"/>
                <a:cs typeface="Times New Roman" panose="02020603050405020304" pitchFamily="18" charset="0"/>
              </a:rPr>
              <a:t>defines the syntax, notations for representing system specifications, several objects and relations to define the system in detail</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careful mathematical analysis that is done in FMM results in a defect-free system. It also helps to identify and correct ambiguity and inconsistency easily. This method is time-consuming and expensive in nature.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5411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UNIFIED PROCESS  </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a:latin typeface="Times New Roman" panose="02020603050405020304" pitchFamily="18" charset="0"/>
                <a:cs typeface="Times New Roman" panose="02020603050405020304" pitchFamily="18" charset="0"/>
              </a:rPr>
              <a:t>Unified process (UP) is an architecture centric, use case driven, iterative and incremental development process.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UP </a:t>
            </a:r>
            <a:r>
              <a:rPr lang="en-US" sz="2400" dirty="0">
                <a:latin typeface="Times New Roman" panose="02020603050405020304" pitchFamily="18" charset="0"/>
                <a:cs typeface="Times New Roman" panose="02020603050405020304" pitchFamily="18" charset="0"/>
              </a:rPr>
              <a:t>is also referred to as the unified software development process.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Unified Process is an attempt to draw on the best features and characteristics of traditional software process models, but characterize them in a way that implements many of the best principles of agile software development.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Unified Process recognizes the importance of customer communication and streamlined methods for describing the customer’s view of a system</a:t>
            </a:r>
            <a:r>
              <a:rPr lang="en-US" sz="2400" dirty="0" smtClean="0">
                <a:latin typeface="Times New Roman" panose="02020603050405020304" pitchFamily="18" charset="0"/>
                <a:cs typeface="Times New Roman" panose="02020603050405020304" pitchFamily="18" charset="0"/>
              </a:rPr>
              <a:t>.</a:t>
            </a: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emphasizes the important role of software architecture and “helps the architect focus on the right goals, such as understandability, reliance to future changes, and reuse”.</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5574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AGILE DEVELOPMENT-AGILITY</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a:latin typeface="Times New Roman" panose="02020603050405020304" pitchFamily="18" charset="0"/>
                <a:cs typeface="Times New Roman" panose="02020603050405020304" pitchFamily="18" charset="0"/>
              </a:rPr>
              <a:t>"Agile process model" refers to a software development approach based on iterative development.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Agile </a:t>
            </a:r>
            <a:r>
              <a:rPr lang="en-US" sz="2400" dirty="0">
                <a:latin typeface="Times New Roman" panose="02020603050405020304" pitchFamily="18" charset="0"/>
                <a:cs typeface="Times New Roman" panose="02020603050405020304" pitchFamily="18" charset="0"/>
              </a:rPr>
              <a:t>methods break tasks into smaller iterations, or parts do not directly involve long term planning. The project scope and requirements are laid down at the beginning of the development process.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Plans </a:t>
            </a:r>
            <a:r>
              <a:rPr lang="en-US" sz="2400" dirty="0">
                <a:latin typeface="Times New Roman" panose="02020603050405020304" pitchFamily="18" charset="0"/>
                <a:cs typeface="Times New Roman" panose="02020603050405020304" pitchFamily="18" charset="0"/>
              </a:rPr>
              <a:t>regarding the number of iterations, the duration and the scope of each iteration are clearly defined in advance.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245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AGILE DEVELOPMENT-AGILITY</a:t>
            </a:r>
            <a:endParaRPr lang="en-US" sz="3600"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descr="Agile Model"/>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024022"/>
            <a:ext cx="8305800" cy="5529177"/>
          </a:xfrm>
          <a:prstGeom prst="rect">
            <a:avLst/>
          </a:prstGeom>
          <a:noFill/>
          <a:ln>
            <a:noFill/>
          </a:ln>
        </p:spPr>
      </p:pic>
    </p:spTree>
    <p:extLst>
      <p:ext uri="{BB962C8B-B14F-4D97-AF65-F5344CB8AC3E}">
        <p14:creationId xmlns:p14="http://schemas.microsoft.com/office/powerpoint/2010/main" val="81572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AGILE DEVELOPMENT-AGILITY</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buNone/>
            </a:pPr>
            <a:r>
              <a:rPr lang="en-US" sz="2400" dirty="0">
                <a:latin typeface="Times New Roman" panose="02020603050405020304" pitchFamily="18" charset="0"/>
                <a:cs typeface="Times New Roman" panose="02020603050405020304" pitchFamily="18" charset="0"/>
              </a:rPr>
              <a:t>Following are the phases in the Agile model are as follows:</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Requirements gathering</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Design the requirements</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Construction/ iteration</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Testing/ Quality assurance</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Deployment</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Feedback</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7902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 calcmode="lin" valueType="num">
                                      <p:cBhvr additive="base">
                                        <p:cTn id="4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anim calcmode="lin" valueType="num">
                                      <p:cBhvr additive="base">
                                        <p:cTn id="4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AGILE DEVELOPMENT-AGILITY</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lvl="0" algn="just"/>
            <a:r>
              <a:rPr lang="en-US" sz="2400" dirty="0">
                <a:solidFill>
                  <a:srgbClr val="00B050"/>
                </a:solidFill>
                <a:latin typeface="Times New Roman" panose="02020603050405020304" pitchFamily="18" charset="0"/>
                <a:cs typeface="Times New Roman" panose="02020603050405020304" pitchFamily="18" charset="0"/>
              </a:rPr>
              <a:t>Requirements gathering: </a:t>
            </a:r>
            <a:r>
              <a:rPr lang="en-US" sz="2400" dirty="0">
                <a:latin typeface="Times New Roman" panose="02020603050405020304" pitchFamily="18" charset="0"/>
                <a:cs typeface="Times New Roman" panose="02020603050405020304" pitchFamily="18" charset="0"/>
              </a:rPr>
              <a:t>In this phase, you must define the requirements. You should explain business opportunities and plan the time and effort needed to build the project. Based on this information, you can evaluate technical and economic feasibility</a:t>
            </a:r>
            <a:r>
              <a:rPr lang="en-US" sz="2400" dirty="0" smtClean="0">
                <a:latin typeface="Times New Roman" panose="02020603050405020304" pitchFamily="18" charset="0"/>
                <a:cs typeface="Times New Roman" panose="02020603050405020304" pitchFamily="18" charset="0"/>
              </a:rPr>
              <a:t>.</a:t>
            </a:r>
          </a:p>
          <a:p>
            <a:pPr marL="0" lvl="0" indent="0" algn="just">
              <a:buNone/>
            </a:pPr>
            <a:endParaRPr lang="en-IN" sz="2400" dirty="0">
              <a:latin typeface="Times New Roman" panose="02020603050405020304" pitchFamily="18" charset="0"/>
              <a:cs typeface="Times New Roman" panose="02020603050405020304" pitchFamily="18" charset="0"/>
            </a:endParaRPr>
          </a:p>
          <a:p>
            <a:pPr lvl="0" algn="just"/>
            <a:r>
              <a:rPr lang="en-US" sz="2400" dirty="0">
                <a:solidFill>
                  <a:srgbClr val="00B050"/>
                </a:solidFill>
                <a:latin typeface="Times New Roman" panose="02020603050405020304" pitchFamily="18" charset="0"/>
                <a:cs typeface="Times New Roman" panose="02020603050405020304" pitchFamily="18" charset="0"/>
              </a:rPr>
              <a:t> Design the requirements:</a:t>
            </a:r>
            <a:r>
              <a:rPr lang="en-US" sz="2400" dirty="0">
                <a:latin typeface="Times New Roman" panose="02020603050405020304" pitchFamily="18" charset="0"/>
                <a:cs typeface="Times New Roman" panose="02020603050405020304" pitchFamily="18" charset="0"/>
              </a:rPr>
              <a:t> When you have identified the project, work with stakeholders to define requirements. You can use the user flow diagram or the high-level UML diagram to show the work of new features and show how it will apply to your existing system.</a:t>
            </a:r>
            <a:endParaRPr lang="en-IN" sz="2400" dirty="0">
              <a:latin typeface="Times New Roman" panose="02020603050405020304" pitchFamily="18" charset="0"/>
              <a:cs typeface="Times New Roman" panose="02020603050405020304" pitchFamily="18" charset="0"/>
            </a:endParaRPr>
          </a:p>
          <a:p>
            <a:pPr lvl="0" algn="just"/>
            <a:endParaRPr lang="en-US" sz="2400" dirty="0" smtClean="0">
              <a:solidFill>
                <a:srgbClr val="00B050"/>
              </a:solidFill>
              <a:latin typeface="Times New Roman" panose="02020603050405020304" pitchFamily="18" charset="0"/>
              <a:cs typeface="Times New Roman" panose="02020603050405020304" pitchFamily="18" charset="0"/>
            </a:endParaRPr>
          </a:p>
          <a:p>
            <a:pPr lvl="0" algn="just"/>
            <a:r>
              <a:rPr lang="en-US" sz="2400" dirty="0" smtClean="0">
                <a:solidFill>
                  <a:srgbClr val="00B050"/>
                </a:solidFill>
                <a:latin typeface="Times New Roman" panose="02020603050405020304" pitchFamily="18" charset="0"/>
                <a:cs typeface="Times New Roman" panose="02020603050405020304" pitchFamily="18" charset="0"/>
              </a:rPr>
              <a:t>Construction</a:t>
            </a:r>
            <a:r>
              <a:rPr lang="en-US" sz="2400" dirty="0">
                <a:solidFill>
                  <a:srgbClr val="00B050"/>
                </a:solidFill>
                <a:latin typeface="Times New Roman" panose="02020603050405020304" pitchFamily="18" charset="0"/>
                <a:cs typeface="Times New Roman" panose="02020603050405020304" pitchFamily="18" charset="0"/>
              </a:rPr>
              <a:t>/ iteration:</a:t>
            </a:r>
            <a:r>
              <a:rPr lang="en-US" sz="2400" dirty="0">
                <a:latin typeface="Times New Roman" panose="02020603050405020304" pitchFamily="18" charset="0"/>
                <a:cs typeface="Times New Roman" panose="02020603050405020304" pitchFamily="18" charset="0"/>
              </a:rPr>
              <a:t> When the team defines the requirements, the work begins. Designers and developers start working on their project, which aims to deploy a working product</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7600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AGILE DEVELOPMENT-AGILITY</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lvl="0" algn="just"/>
            <a:r>
              <a:rPr lang="en-US" sz="2400" dirty="0">
                <a:solidFill>
                  <a:srgbClr val="00B050"/>
                </a:solidFill>
                <a:latin typeface="Times New Roman" panose="02020603050405020304" pitchFamily="18" charset="0"/>
                <a:cs typeface="Times New Roman" panose="02020603050405020304" pitchFamily="18" charset="0"/>
              </a:rPr>
              <a:t>Testing:</a:t>
            </a:r>
            <a:r>
              <a:rPr lang="en-US" sz="2400" dirty="0">
                <a:latin typeface="Times New Roman" panose="02020603050405020304" pitchFamily="18" charset="0"/>
                <a:cs typeface="Times New Roman" panose="02020603050405020304" pitchFamily="18" charset="0"/>
              </a:rPr>
              <a:t> In this phase, the Quality Assurance team examines the product's performance and looks for the bug</a:t>
            </a:r>
            <a:r>
              <a:rPr lang="en-US" sz="2400" dirty="0" smtClean="0">
                <a:latin typeface="Times New Roman" panose="02020603050405020304" pitchFamily="18" charset="0"/>
                <a:cs typeface="Times New Roman" panose="02020603050405020304" pitchFamily="18" charset="0"/>
              </a:rPr>
              <a:t>.</a:t>
            </a:r>
          </a:p>
          <a:p>
            <a:pPr marL="0" lvl="0" indent="0" algn="just">
              <a:buNone/>
            </a:pPr>
            <a:endParaRPr lang="en-IN" sz="2400" dirty="0">
              <a:latin typeface="Times New Roman" panose="02020603050405020304" pitchFamily="18" charset="0"/>
              <a:cs typeface="Times New Roman" panose="02020603050405020304" pitchFamily="18" charset="0"/>
            </a:endParaRPr>
          </a:p>
          <a:p>
            <a:pPr lvl="0" algn="just"/>
            <a:r>
              <a:rPr lang="en-US" sz="2400" dirty="0">
                <a:solidFill>
                  <a:srgbClr val="00B050"/>
                </a:solidFill>
                <a:latin typeface="Times New Roman" panose="02020603050405020304" pitchFamily="18" charset="0"/>
                <a:cs typeface="Times New Roman" panose="02020603050405020304" pitchFamily="18" charset="0"/>
              </a:rPr>
              <a:t>Deployment:</a:t>
            </a:r>
            <a:r>
              <a:rPr lang="en-US" sz="2400" dirty="0">
                <a:latin typeface="Times New Roman" panose="02020603050405020304" pitchFamily="18" charset="0"/>
                <a:cs typeface="Times New Roman" panose="02020603050405020304" pitchFamily="18" charset="0"/>
              </a:rPr>
              <a:t> In this phase, the team issues a product for the user's work environment.</a:t>
            </a:r>
            <a:endParaRPr lang="en-IN" sz="2400" dirty="0">
              <a:latin typeface="Times New Roman" panose="02020603050405020304" pitchFamily="18" charset="0"/>
              <a:cs typeface="Times New Roman" panose="02020603050405020304" pitchFamily="18" charset="0"/>
            </a:endParaRPr>
          </a:p>
          <a:p>
            <a:pPr lvl="0" algn="just"/>
            <a:endParaRPr lang="en-US" sz="2400" dirty="0" smtClean="0">
              <a:solidFill>
                <a:srgbClr val="00B050"/>
              </a:solidFill>
              <a:latin typeface="Times New Roman" panose="02020603050405020304" pitchFamily="18" charset="0"/>
              <a:cs typeface="Times New Roman" panose="02020603050405020304" pitchFamily="18" charset="0"/>
            </a:endParaRPr>
          </a:p>
          <a:p>
            <a:pPr lvl="0" algn="just"/>
            <a:r>
              <a:rPr lang="en-US" sz="2400" dirty="0" smtClean="0">
                <a:solidFill>
                  <a:srgbClr val="00B050"/>
                </a:solidFill>
                <a:latin typeface="Times New Roman" panose="02020603050405020304" pitchFamily="18" charset="0"/>
                <a:cs typeface="Times New Roman" panose="02020603050405020304" pitchFamily="18" charset="0"/>
              </a:rPr>
              <a:t>Feedback</a:t>
            </a:r>
            <a:r>
              <a:rPr lang="en-US" sz="2400" dirty="0">
                <a:solidFill>
                  <a:srgbClr val="00B05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After releasing the product, the last step is feedback. In this, the team receives feedback about the product and works through the feedback.</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571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EXTREME PROGRAMMING (XP)</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a:latin typeface="Times New Roman" panose="02020603050405020304" pitchFamily="18" charset="0"/>
                <a:cs typeface="Times New Roman" panose="02020603050405020304" pitchFamily="18" charset="0"/>
              </a:rPr>
              <a:t>Extreme programming (XP) is one of the most important software development frameworks of Agile models. It is used to improve software quality and responsiveness to customer requirements. </a:t>
            </a:r>
          </a:p>
          <a:p>
            <a:pPr algn="just"/>
            <a:r>
              <a:rPr lang="en-US" sz="2400" dirty="0">
                <a:latin typeface="Times New Roman" panose="02020603050405020304" pitchFamily="18" charset="0"/>
                <a:cs typeface="Times New Roman" panose="02020603050405020304" pitchFamily="18" charset="0"/>
              </a:rPr>
              <a:t> Some of the good practices that have been recognized in the extreme programming model and suggested to maximize their use are given below:</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1. Code </a:t>
            </a:r>
            <a:r>
              <a:rPr lang="en-US" sz="2400" dirty="0">
                <a:solidFill>
                  <a:srgbClr val="FF0000"/>
                </a:solidFill>
                <a:latin typeface="Times New Roman" panose="02020603050405020304" pitchFamily="18" charset="0"/>
                <a:cs typeface="Times New Roman" panose="02020603050405020304" pitchFamily="18" charset="0"/>
              </a:rPr>
              <a:t>Review:</a:t>
            </a:r>
            <a:r>
              <a:rPr lang="en-US" sz="2400" dirty="0">
                <a:latin typeface="Times New Roman" panose="02020603050405020304" pitchFamily="18" charset="0"/>
                <a:cs typeface="Times New Roman" panose="02020603050405020304" pitchFamily="18" charset="0"/>
              </a:rPr>
              <a:t> Code review detects and corrects errors efficiently. It suggests pair programming as coding and reviewing of written code carried out by a pair of programmers who switch their works between them every hour.</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2. Testing</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Testing code helps to remove errors and improves its reliability. XP suggests test-driven development (TDD) to continually write and execute test cases. In the TDD approach test cases are written even before any code is written.</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6974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EXTREME PROGRAMMING (XP)</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3. Incremental </a:t>
            </a:r>
            <a:r>
              <a:rPr lang="en-US" sz="2400" dirty="0">
                <a:solidFill>
                  <a:srgbClr val="FF0000"/>
                </a:solidFill>
                <a:latin typeface="Times New Roman" panose="02020603050405020304" pitchFamily="18" charset="0"/>
                <a:cs typeface="Times New Roman" panose="02020603050405020304" pitchFamily="18" charset="0"/>
              </a:rPr>
              <a:t>development:</a:t>
            </a:r>
            <a:r>
              <a:rPr lang="en-US" sz="2400" dirty="0">
                <a:latin typeface="Times New Roman" panose="02020603050405020304" pitchFamily="18" charset="0"/>
                <a:cs typeface="Times New Roman" panose="02020603050405020304" pitchFamily="18" charset="0"/>
              </a:rPr>
              <a:t> Incremental development is very good because customer feedback is gained and based on this development team comes up with new increments every few days after each iteration.</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4. Simplicity</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Simplicity makes it easier to develop good quality code as well as to test and debug it.</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5. Design</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Good quality design is important to develop good quality software. So, everybody should design daily.</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6. Integration </a:t>
            </a:r>
            <a:r>
              <a:rPr lang="en-US" sz="2400" dirty="0">
                <a:solidFill>
                  <a:srgbClr val="FF0000"/>
                </a:solidFill>
                <a:latin typeface="Times New Roman" panose="02020603050405020304" pitchFamily="18" charset="0"/>
                <a:cs typeface="Times New Roman" panose="02020603050405020304" pitchFamily="18" charset="0"/>
              </a:rPr>
              <a:t>testing:</a:t>
            </a:r>
            <a:r>
              <a:rPr lang="en-US" sz="2400" dirty="0">
                <a:latin typeface="Times New Roman" panose="02020603050405020304" pitchFamily="18" charset="0"/>
                <a:cs typeface="Times New Roman" panose="02020603050405020304" pitchFamily="18" charset="0"/>
              </a:rPr>
              <a:t> It helps to identify bugs at the interfaces of different functionalities. Extreme programming suggests that the developers should achieve continuous integration by building and performing integration testing several times a day.</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1898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82296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SCRUM</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SCRUM is an agile development process focused primarily on ways to manage tasks in team-based development conditions.</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There </a:t>
            </a:r>
            <a:r>
              <a:rPr lang="en-US" sz="2400" dirty="0">
                <a:latin typeface="Times New Roman" panose="02020603050405020304" pitchFamily="18" charset="0"/>
                <a:cs typeface="Times New Roman" panose="02020603050405020304" pitchFamily="18" charset="0"/>
              </a:rPr>
              <a:t>are three roles in it, and their responsibilities are:</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Scrum Master: The scrum can set up the master team, arrange the meeting and remove obstacles for the process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Product owner: The product owner makes the product backlog, prioritizes the delay and is responsible for the distribution of functionality on each repetition.</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Scrum Team: The team manages its work and organizes the work to complete the sprint or cycle.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2348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 calcmode="lin" valueType="num">
                                      <p:cBhvr additive="base">
                                        <p:cTn id="4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457200"/>
            <a:ext cx="9144000" cy="566822"/>
          </a:xfrm>
          <a:prstGeom prst="rect">
            <a:avLst/>
          </a:prstGeom>
        </p:spPr>
        <p:txBody>
          <a:bodyPr vert="horz" wrap="square" lIns="0" tIns="12700" rIns="0" bIns="0" rtlCol="0">
            <a:spAutoFit/>
          </a:bodyPr>
          <a:lstStyle/>
          <a:p>
            <a:pPr marL="12700">
              <a:spcBef>
                <a:spcPts val="100"/>
              </a:spcBef>
            </a:pPr>
            <a:r>
              <a:rPr lang="en-US" sz="3600" dirty="0" smtClean="0">
                <a:solidFill>
                  <a:srgbClr val="FF0000"/>
                </a:solidFill>
                <a:latin typeface="Times New Roman" panose="02020603050405020304" pitchFamily="18" charset="0"/>
                <a:cs typeface="Times New Roman" panose="02020603050405020304" pitchFamily="18" charset="0"/>
              </a:rPr>
              <a:t>LEAN SOFTWARE DEVELOPMENT (LSD)</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a:latin typeface="Times New Roman" panose="02020603050405020304" pitchFamily="18" charset="0"/>
                <a:cs typeface="Times New Roman" panose="02020603050405020304" pitchFamily="18" charset="0"/>
              </a:rPr>
              <a:t>DSDM (dynamic systems development method ) is a rapid application development strategy for software development and gives an agile project distribution structure.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essential features of DSDM are that users must be actively connected, and teams have been given the right to make decisions. The techniques used in DSDM are</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Time Boxing</a:t>
            </a:r>
            <a:endParaRPr lang="en-IN" sz="2400" dirty="0">
              <a:latin typeface="Times New Roman" panose="02020603050405020304" pitchFamily="18" charset="0"/>
              <a:cs typeface="Times New Roman" panose="02020603050405020304" pitchFamily="18" charset="0"/>
            </a:endParaRPr>
          </a:p>
          <a:p>
            <a:pPr lvl="0" algn="just"/>
            <a:r>
              <a:rPr lang="en-US" sz="2400" dirty="0" err="1">
                <a:latin typeface="Times New Roman" panose="02020603050405020304" pitchFamily="18" charset="0"/>
                <a:cs typeface="Times New Roman" panose="02020603050405020304" pitchFamily="18" charset="0"/>
              </a:rPr>
              <a:t>MoSCoW</a:t>
            </a:r>
            <a:r>
              <a:rPr lang="en-US" sz="2400" dirty="0">
                <a:latin typeface="Times New Roman" panose="02020603050405020304" pitchFamily="18" charset="0"/>
                <a:cs typeface="Times New Roman" panose="02020603050405020304" pitchFamily="18" charset="0"/>
              </a:rPr>
              <a:t> Rules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Prototyping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209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 calcmode="lin" valueType="num">
                                      <p:cBhvr additive="base">
                                        <p:cTn id="4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487977"/>
            <a:ext cx="9144000" cy="505267"/>
          </a:xfrm>
          <a:prstGeom prst="rect">
            <a:avLst/>
          </a:prstGeom>
        </p:spPr>
        <p:txBody>
          <a:bodyPr vert="horz" wrap="square" lIns="0" tIns="12700" rIns="0" bIns="0" rtlCol="0">
            <a:spAutoFit/>
          </a:bodyPr>
          <a:lstStyle/>
          <a:p>
            <a:pPr marL="12700">
              <a:spcBef>
                <a:spcPts val="100"/>
              </a:spcBef>
            </a:pPr>
            <a:r>
              <a:rPr lang="en-US" sz="3200" dirty="0" smtClean="0">
                <a:solidFill>
                  <a:srgbClr val="FF0000"/>
                </a:solidFill>
                <a:latin typeface="Times New Roman" panose="02020603050405020304" pitchFamily="18" charset="0"/>
                <a:cs typeface="Times New Roman" panose="02020603050405020304" pitchFamily="18" charset="0"/>
              </a:rPr>
              <a:t>DYNAMIC SYSTEM DEVELOPMENT METHOD</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The DSDM project contains seven stages: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Pre-project</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Feasibility Study</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Business Study</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Functional Model Iteration</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Design and build Iteration</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Implementation</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Post-project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7820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 calcmode="lin" valueType="num">
                                      <p:cBhvr additive="base">
                                        <p:cTn id="4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anim calcmode="lin" valueType="num">
                                      <p:cBhvr additive="base">
                                        <p:cTn id="4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anim calcmode="lin" valueType="num">
                                      <p:cBhvr additive="base">
                                        <p:cTn id="5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487977"/>
            <a:ext cx="9144000" cy="505267"/>
          </a:xfrm>
          <a:prstGeom prst="rect">
            <a:avLst/>
          </a:prstGeom>
        </p:spPr>
        <p:txBody>
          <a:bodyPr vert="horz" wrap="square" lIns="0" tIns="12700" rIns="0" bIns="0" rtlCol="0">
            <a:spAutoFit/>
          </a:bodyPr>
          <a:lstStyle/>
          <a:p>
            <a:pPr marL="12700">
              <a:spcBef>
                <a:spcPts val="100"/>
              </a:spcBef>
            </a:pPr>
            <a:r>
              <a:rPr lang="en-US" sz="3200" dirty="0" smtClean="0">
                <a:solidFill>
                  <a:srgbClr val="FF0000"/>
                </a:solidFill>
                <a:latin typeface="Times New Roman" panose="02020603050405020304" pitchFamily="18" charset="0"/>
                <a:cs typeface="Times New Roman" panose="02020603050405020304" pitchFamily="18" charset="0"/>
              </a:rPr>
              <a:t>DYNAMIC SYSTEM DEVELOPMENT METHOD</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a:solidFill>
                  <a:srgbClr val="FF0000"/>
                </a:solidFill>
                <a:latin typeface="Times New Roman" panose="02020603050405020304" pitchFamily="18" charset="0"/>
                <a:cs typeface="Times New Roman" panose="02020603050405020304" pitchFamily="18" charset="0"/>
              </a:rPr>
              <a:t>Feasibility study</a:t>
            </a:r>
            <a:r>
              <a:rPr lang="en-US" sz="2400" dirty="0">
                <a:latin typeface="Times New Roman" panose="02020603050405020304" pitchFamily="18" charset="0"/>
                <a:cs typeface="Times New Roman" panose="02020603050405020304" pitchFamily="18" charset="0"/>
              </a:rPr>
              <a:t> – In order to determine if an application is a good fit for the DSDM process, it is necessary to first establish the fundamental business requirements and constraints connected with the application.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FF0000"/>
                </a:solidFill>
                <a:latin typeface="Times New Roman" panose="02020603050405020304" pitchFamily="18" charset="0"/>
                <a:cs typeface="Times New Roman" panose="02020603050405020304" pitchFamily="18" charset="0"/>
              </a:rPr>
              <a:t>Business Study </a:t>
            </a:r>
            <a:r>
              <a:rPr lang="en-US" sz="2400" dirty="0">
                <a:latin typeface="Times New Roman" panose="02020603050405020304" pitchFamily="18" charset="0"/>
                <a:cs typeface="Times New Roman" panose="02020603050405020304" pitchFamily="18" charset="0"/>
              </a:rPr>
              <a:t>– Establishes the functional and information requirements that must be met in order for the application to be able to give value to the company, as well as specifies the fundamental architecture of the application and outlines the needs that must be met for the application to be maintainable.</a:t>
            </a:r>
            <a:endParaRPr lang="en-IN" sz="2400" dirty="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solidFill>
                  <a:srgbClr val="FF0000"/>
                </a:solidFill>
                <a:latin typeface="Times New Roman" panose="02020603050405020304" pitchFamily="18" charset="0"/>
                <a:cs typeface="Times New Roman" panose="02020603050405020304" pitchFamily="18" charset="0"/>
              </a:rPr>
              <a:t>Implementation </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Installs the most recent software update available into the environment in which it is now running.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572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487977"/>
            <a:ext cx="9144000" cy="505267"/>
          </a:xfrm>
          <a:prstGeom prst="rect">
            <a:avLst/>
          </a:prstGeom>
        </p:spPr>
        <p:txBody>
          <a:bodyPr vert="horz" wrap="square" lIns="0" tIns="12700" rIns="0" bIns="0" rtlCol="0">
            <a:spAutoFit/>
          </a:bodyPr>
          <a:lstStyle/>
          <a:p>
            <a:pPr marL="12700">
              <a:spcBef>
                <a:spcPts val="100"/>
              </a:spcBef>
            </a:pPr>
            <a:r>
              <a:rPr lang="en-US" sz="3200" dirty="0" smtClean="0">
                <a:solidFill>
                  <a:srgbClr val="FF0000"/>
                </a:solidFill>
                <a:latin typeface="Times New Roman" panose="02020603050405020304" pitchFamily="18" charset="0"/>
                <a:cs typeface="Times New Roman" panose="02020603050405020304" pitchFamily="18" charset="0"/>
              </a:rPr>
              <a:t>DYNAMIC SYSTEM DEVELOPMENT METHOD</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smtClean="0">
                <a:solidFill>
                  <a:srgbClr val="00B0F0"/>
                </a:solidFill>
                <a:latin typeface="Times New Roman" panose="02020603050405020304" pitchFamily="18" charset="0"/>
                <a:cs typeface="Times New Roman" panose="02020603050405020304" pitchFamily="18" charset="0"/>
              </a:rPr>
              <a:t>Feature </a:t>
            </a:r>
            <a:r>
              <a:rPr lang="en-US" sz="2400" dirty="0">
                <a:solidFill>
                  <a:srgbClr val="00B0F0"/>
                </a:solidFill>
                <a:latin typeface="Times New Roman" panose="02020603050405020304" pitchFamily="18" charset="0"/>
                <a:cs typeface="Times New Roman" panose="02020603050405020304" pitchFamily="18" charset="0"/>
              </a:rPr>
              <a:t>Driven Development(FDD):</a:t>
            </a:r>
            <a:endParaRPr lang="en-IN" sz="2400" dirty="0">
              <a:solidFill>
                <a:srgbClr val="00B0F0"/>
              </a:solidFill>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This method focuses on "Designing and Building" features. In contrast to other smart methods, FDD describes the small steps of the work that should be obtained separately per function.</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00B0F0"/>
                </a:solidFill>
                <a:latin typeface="Times New Roman" panose="02020603050405020304" pitchFamily="18" charset="0"/>
                <a:cs typeface="Times New Roman" panose="02020603050405020304" pitchFamily="18" charset="0"/>
              </a:rPr>
              <a:t>Lean Software Development:</a:t>
            </a:r>
            <a:endParaRPr lang="en-IN" sz="2400" dirty="0">
              <a:solidFill>
                <a:srgbClr val="00B0F0"/>
              </a:solidFill>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Lean software development methodology follows the principle "just in time production." The lean method indicates the increasing speed of software development and reducing costs. Lean development can be summarized in seven phases.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618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487977"/>
            <a:ext cx="9144000" cy="505267"/>
          </a:xfrm>
          <a:prstGeom prst="rect">
            <a:avLst/>
          </a:prstGeom>
        </p:spPr>
        <p:txBody>
          <a:bodyPr vert="horz" wrap="square" lIns="0" tIns="12700" rIns="0" bIns="0" rtlCol="0">
            <a:spAutoFit/>
          </a:bodyPr>
          <a:lstStyle/>
          <a:p>
            <a:pPr marL="12700">
              <a:spcBef>
                <a:spcPts val="100"/>
              </a:spcBef>
            </a:pPr>
            <a:r>
              <a:rPr lang="en-US" sz="3200" dirty="0" smtClean="0">
                <a:solidFill>
                  <a:srgbClr val="FF0000"/>
                </a:solidFill>
                <a:latin typeface="Times New Roman" panose="02020603050405020304" pitchFamily="18" charset="0"/>
                <a:cs typeface="Times New Roman" panose="02020603050405020304" pitchFamily="18" charset="0"/>
              </a:rPr>
              <a:t>AGILE MODELING (AM)</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0" y="1024022"/>
            <a:ext cx="9144000" cy="5833978"/>
          </a:xfrm>
        </p:spPr>
        <p:txBody>
          <a:bodyPr/>
          <a:lstStyle/>
          <a:p>
            <a:pPr algn="just"/>
            <a:r>
              <a:rPr lang="en-US" sz="2400" dirty="0" smtClean="0">
                <a:latin typeface="Times New Roman" panose="02020603050405020304" pitchFamily="18" charset="0"/>
                <a:cs typeface="Times New Roman" panose="02020603050405020304" pitchFamily="18" charset="0"/>
              </a:rPr>
              <a:t> Agile </a:t>
            </a:r>
            <a:r>
              <a:rPr lang="en-US" sz="2400" dirty="0">
                <a:latin typeface="Times New Roman" panose="02020603050405020304" pitchFamily="18" charset="0"/>
                <a:cs typeface="Times New Roman" panose="02020603050405020304" pitchFamily="18" charset="0"/>
              </a:rPr>
              <a:t>modeling as “…a practice-based methodology for effective modeling and documentation of software-based systems. Simply put, Agile Modeling (AM) is a collection of values, principles, and practices for modeling software that can be applied on a software development project in an effective and lightweight manner.”</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modeling adds to existing Agile methodologies such as the Rational Unified Process (RUP) or extreme programming (XP). </a:t>
            </a:r>
            <a:endParaRPr lang="en-US" sz="2400" dirty="0" smtClean="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Agile </a:t>
            </a:r>
            <a:r>
              <a:rPr lang="en-US" sz="2400" dirty="0">
                <a:latin typeface="Times New Roman" panose="02020603050405020304" pitchFamily="18" charset="0"/>
                <a:cs typeface="Times New Roman" panose="02020603050405020304" pitchFamily="18" charset="0"/>
              </a:rPr>
              <a:t>modeling helps developers create a customized software development process that fulfills their development needs yet is flexible enough to adjust to future situations.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636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52400"/>
            <a:ext cx="9144000" cy="505267"/>
          </a:xfrm>
          <a:prstGeom prst="rect">
            <a:avLst/>
          </a:prstGeom>
        </p:spPr>
        <p:txBody>
          <a:bodyPr vert="horz" wrap="square" lIns="0" tIns="12700" rIns="0" bIns="0" rtlCol="0">
            <a:spAutoFit/>
          </a:bodyPr>
          <a:lstStyle/>
          <a:p>
            <a:pPr marL="12700">
              <a:spcBef>
                <a:spcPts val="100"/>
              </a:spcBef>
            </a:pPr>
            <a:r>
              <a:rPr lang="en-US" sz="3200" dirty="0" smtClean="0">
                <a:solidFill>
                  <a:srgbClr val="FF0000"/>
                </a:solidFill>
                <a:latin typeface="Times New Roman" panose="02020603050405020304" pitchFamily="18" charset="0"/>
                <a:cs typeface="Times New Roman" panose="02020603050405020304" pitchFamily="18" charset="0"/>
              </a:rPr>
              <a:t>AGILE UNIFIED PROCESS (AUP)</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76200" y="647240"/>
            <a:ext cx="9144000" cy="6210760"/>
          </a:xfrm>
        </p:spPr>
        <p:txBody>
          <a:bodyPr/>
          <a:lstStyle/>
          <a:p>
            <a:pPr algn="just"/>
            <a:r>
              <a:rPr lang="en-US" sz="2400" dirty="0" smtClean="0">
                <a:solidFill>
                  <a:srgbClr val="00B050"/>
                </a:solidFill>
                <a:latin typeface="Times New Roman" panose="02020603050405020304" pitchFamily="18" charset="0"/>
                <a:cs typeface="Times New Roman" panose="02020603050405020304" pitchFamily="18" charset="0"/>
              </a:rPr>
              <a:t>Model:</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 model is an abstraction that expresses important aspects of a thing or concepts. Models may be </a:t>
            </a:r>
            <a:r>
              <a:rPr lang="en-US" sz="2400" dirty="0" smtClean="0">
                <a:latin typeface="Times New Roman" panose="02020603050405020304" pitchFamily="18" charset="0"/>
                <a:cs typeface="Times New Roman" panose="02020603050405020304" pitchFamily="18" charset="0"/>
              </a:rPr>
              <a:t>visual, non-visual, </a:t>
            </a:r>
            <a:r>
              <a:rPr lang="en-US" sz="2400" dirty="0">
                <a:latin typeface="Times New Roman" panose="02020603050405020304" pitchFamily="18" charset="0"/>
                <a:cs typeface="Times New Roman" panose="02020603050405020304" pitchFamily="18" charset="0"/>
              </a:rPr>
              <a:t>or executable (working code or equivalent). Models are sometimes called maps or roadmaps within the agile community</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00B050"/>
                </a:solidFill>
                <a:latin typeface="Times New Roman" panose="02020603050405020304" pitchFamily="18" charset="0"/>
                <a:cs typeface="Times New Roman" panose="02020603050405020304" pitchFamily="18" charset="0"/>
              </a:rPr>
              <a:t>Agile </a:t>
            </a:r>
            <a:r>
              <a:rPr lang="en-US" sz="2400" dirty="0" smtClean="0">
                <a:solidFill>
                  <a:srgbClr val="00B050"/>
                </a:solidFill>
                <a:latin typeface="Times New Roman" panose="02020603050405020304" pitchFamily="18" charset="0"/>
                <a:cs typeface="Times New Roman" panose="02020603050405020304" pitchFamily="18" charset="0"/>
              </a:rPr>
              <a:t>model: </a:t>
            </a:r>
            <a:r>
              <a:rPr lang="en-US" sz="2400" dirty="0" smtClean="0">
                <a:latin typeface="Times New Roman" panose="02020603050405020304" pitchFamily="18" charset="0"/>
                <a:cs typeface="Times New Roman" panose="02020603050405020304" pitchFamily="18" charset="0"/>
              </a:rPr>
              <a:t>Agile </a:t>
            </a:r>
            <a:r>
              <a:rPr lang="en-US" sz="2400" dirty="0">
                <a:latin typeface="Times New Roman" panose="02020603050405020304" pitchFamily="18" charset="0"/>
                <a:cs typeface="Times New Roman" panose="02020603050405020304" pitchFamily="18" charset="0"/>
              </a:rPr>
              <a:t>models can be something as simple as </a:t>
            </a:r>
            <a:r>
              <a:rPr lang="en-US" sz="2400" dirty="0" err="1">
                <a:latin typeface="Times New Roman" panose="02020603050405020304" pitchFamily="18" charset="0"/>
                <a:cs typeface="Times New Roman" panose="02020603050405020304" pitchFamily="18" charset="0"/>
              </a:rPr>
              <a:t>stickies</a:t>
            </a:r>
            <a:r>
              <a:rPr lang="en-US" sz="2400" dirty="0">
                <a:latin typeface="Times New Roman" panose="02020603050405020304" pitchFamily="18" charset="0"/>
                <a:cs typeface="Times New Roman" panose="02020603050405020304" pitchFamily="18" charset="0"/>
              </a:rPr>
              <a:t> on a wall, sketches on a whiteboard, diagrams captured digitally via a drawing tool, or detailed models captured using a model-based software engineering (MBSE) tool.</a:t>
            </a:r>
            <a:endParaRPr lang="en-IN" sz="2400" dirty="0">
              <a:latin typeface="Times New Roman" panose="02020603050405020304" pitchFamily="18" charset="0"/>
              <a:cs typeface="Times New Roman" panose="02020603050405020304" pitchFamily="18" charset="0"/>
            </a:endParaRPr>
          </a:p>
          <a:p>
            <a:pPr algn="just"/>
            <a:endParaRPr lang="en-US" sz="2400" dirty="0" smtClean="0">
              <a:solidFill>
                <a:srgbClr val="00B050"/>
              </a:solidFill>
              <a:latin typeface="Times New Roman" panose="02020603050405020304" pitchFamily="18" charset="0"/>
              <a:cs typeface="Times New Roman" panose="02020603050405020304" pitchFamily="18" charset="0"/>
            </a:endParaRPr>
          </a:p>
          <a:p>
            <a:pPr algn="just"/>
            <a:r>
              <a:rPr lang="en-US" sz="2400" dirty="0" smtClean="0">
                <a:solidFill>
                  <a:srgbClr val="00B050"/>
                </a:solidFill>
                <a:latin typeface="Times New Roman" panose="02020603050405020304" pitchFamily="18" charset="0"/>
                <a:cs typeface="Times New Roman" panose="02020603050405020304" pitchFamily="18" charset="0"/>
              </a:rPr>
              <a:t>Modeling:</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Modeling is the act of creating a model. Modeling is sometimes called mapping</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8044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52400"/>
            <a:ext cx="9144000" cy="505267"/>
          </a:xfrm>
          <a:prstGeom prst="rect">
            <a:avLst/>
          </a:prstGeom>
        </p:spPr>
        <p:txBody>
          <a:bodyPr vert="horz" wrap="square" lIns="0" tIns="12700" rIns="0" bIns="0" rtlCol="0">
            <a:spAutoFit/>
          </a:bodyPr>
          <a:lstStyle/>
          <a:p>
            <a:pPr marL="12700">
              <a:spcBef>
                <a:spcPts val="100"/>
              </a:spcBef>
            </a:pPr>
            <a:r>
              <a:rPr lang="en-US" sz="3200" dirty="0" smtClean="0">
                <a:solidFill>
                  <a:srgbClr val="FF0000"/>
                </a:solidFill>
                <a:latin typeface="Times New Roman" panose="02020603050405020304" pitchFamily="18" charset="0"/>
                <a:cs typeface="Times New Roman" panose="02020603050405020304" pitchFamily="18" charset="0"/>
              </a:rPr>
              <a:t>AGILE UNIFIED PROCESS (AUP)</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76200" y="647240"/>
            <a:ext cx="9144000" cy="6210760"/>
          </a:xfrm>
        </p:spPr>
        <p:txBody>
          <a:bodyPr/>
          <a:lstStyle/>
          <a:p>
            <a:pPr algn="just"/>
            <a:r>
              <a:rPr lang="en-US" sz="2400" dirty="0" smtClean="0">
                <a:solidFill>
                  <a:srgbClr val="00B050"/>
                </a:solidFill>
                <a:latin typeface="Times New Roman" panose="02020603050405020304" pitchFamily="18" charset="0"/>
                <a:cs typeface="Times New Roman" panose="02020603050405020304" pitchFamily="18" charset="0"/>
              </a:rPr>
              <a:t>Agile modeling:</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Agile modeling is modeling performed in a collaborative and evolutionary manner</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smtClean="0">
                <a:solidFill>
                  <a:srgbClr val="00B050"/>
                </a:solidFill>
                <a:latin typeface="Times New Roman" panose="02020603050405020304" pitchFamily="18" charset="0"/>
                <a:cs typeface="Times New Roman" panose="02020603050405020304" pitchFamily="18" charset="0"/>
              </a:rPr>
              <a:t>Document:</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 document is a persistent representation of a thing or concept. A document is a model, but not all models are </a:t>
            </a:r>
            <a:r>
              <a:rPr lang="en-US" sz="2400" dirty="0" smtClean="0">
                <a:latin typeface="Times New Roman" panose="02020603050405020304" pitchFamily="18" charset="0"/>
                <a:cs typeface="Times New Roman" panose="02020603050405020304" pitchFamily="18" charset="0"/>
              </a:rPr>
              <a:t>documents</a:t>
            </a:r>
            <a:endParaRPr lang="en-IN" sz="2400" dirty="0">
              <a:latin typeface="Times New Roman" panose="02020603050405020304" pitchFamily="18" charset="0"/>
              <a:cs typeface="Times New Roman" panose="02020603050405020304" pitchFamily="18" charset="0"/>
            </a:endParaRPr>
          </a:p>
          <a:p>
            <a:pPr algn="just"/>
            <a:endParaRPr lang="en-US" sz="2400" dirty="0" smtClean="0">
              <a:solidFill>
                <a:srgbClr val="00B050"/>
              </a:solidFill>
              <a:latin typeface="Times New Roman" panose="02020603050405020304" pitchFamily="18" charset="0"/>
              <a:cs typeface="Times New Roman" panose="02020603050405020304" pitchFamily="18" charset="0"/>
            </a:endParaRPr>
          </a:p>
          <a:p>
            <a:pPr algn="just"/>
            <a:r>
              <a:rPr lang="en-US" sz="2400" dirty="0" smtClean="0">
                <a:solidFill>
                  <a:srgbClr val="00B050"/>
                </a:solidFill>
                <a:latin typeface="Times New Roman" panose="02020603050405020304" pitchFamily="18" charset="0"/>
                <a:cs typeface="Times New Roman" panose="02020603050405020304" pitchFamily="18" charset="0"/>
              </a:rPr>
              <a:t>Agile document:</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Agile documents can be </a:t>
            </a:r>
            <a:r>
              <a:rPr lang="en-US" sz="2400" dirty="0" smtClean="0">
                <a:latin typeface="Times New Roman" panose="02020603050405020304" pitchFamily="18" charset="0"/>
                <a:cs typeface="Times New Roman" panose="02020603050405020304" pitchFamily="18" charset="0"/>
              </a:rPr>
              <a:t>as </a:t>
            </a:r>
            <a:r>
              <a:rPr lang="en-US" sz="2400" dirty="0">
                <a:latin typeface="Times New Roman" panose="02020603050405020304" pitchFamily="18" charset="0"/>
                <a:cs typeface="Times New Roman" panose="02020603050405020304" pitchFamily="18" charset="0"/>
              </a:rPr>
              <a:t>point-form notes, detailed text, executable tests, or one or more agile models.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6822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52400"/>
            <a:ext cx="9144000" cy="505267"/>
          </a:xfrm>
          <a:prstGeom prst="rect">
            <a:avLst/>
          </a:prstGeom>
        </p:spPr>
        <p:txBody>
          <a:bodyPr vert="horz" wrap="square" lIns="0" tIns="12700" rIns="0" bIns="0" rtlCol="0">
            <a:spAutoFit/>
          </a:bodyPr>
          <a:lstStyle/>
          <a:p>
            <a:pPr marL="12700">
              <a:spcBef>
                <a:spcPts val="100"/>
              </a:spcBef>
            </a:pPr>
            <a:r>
              <a:rPr lang="en-US" sz="3200" dirty="0" smtClean="0">
                <a:solidFill>
                  <a:srgbClr val="FF0000"/>
                </a:solidFill>
                <a:latin typeface="Times New Roman" panose="02020603050405020304" pitchFamily="18" charset="0"/>
                <a:cs typeface="Times New Roman" panose="02020603050405020304" pitchFamily="18" charset="0"/>
              </a:rPr>
              <a:t>THE CLEANROOM STRATEGY</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76200" y="647240"/>
            <a:ext cx="9144000" cy="621076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Clean room software development approaches consist of four key processes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00B0F0"/>
                </a:solidFill>
                <a:latin typeface="Times New Roman" panose="02020603050405020304" pitchFamily="18" charset="0"/>
                <a:cs typeface="Times New Roman" panose="02020603050405020304" pitchFamily="18" charset="0"/>
              </a:rPr>
              <a:t>Management –</a:t>
            </a:r>
            <a:endParaRPr lang="en-IN" sz="2400" dirty="0">
              <a:solidFill>
                <a:srgbClr val="00B0F0"/>
              </a:solidFill>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It is persistent throughout the whole project lifetime which consists of project mission, schedule, resources, risk analysis, training, configuration management, etc</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00B0F0"/>
                </a:solidFill>
                <a:latin typeface="Times New Roman" panose="02020603050405020304" pitchFamily="18" charset="0"/>
                <a:cs typeface="Times New Roman" panose="02020603050405020304" pitchFamily="18" charset="0"/>
              </a:rPr>
              <a:t>Specification –</a:t>
            </a:r>
            <a:endParaRPr lang="en-IN" sz="2400" dirty="0">
              <a:solidFill>
                <a:srgbClr val="00B0F0"/>
              </a:solidFill>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It is considered the first process of each increment which consists of requirement analysis, function specification, usage specification, increment planning, etc</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6822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 calcmode="lin" valueType="num">
                                      <p:cBhvr additive="base">
                                        <p:cTn id="3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52400"/>
            <a:ext cx="9144000" cy="505267"/>
          </a:xfrm>
          <a:prstGeom prst="rect">
            <a:avLst/>
          </a:prstGeom>
        </p:spPr>
        <p:txBody>
          <a:bodyPr vert="horz" wrap="square" lIns="0" tIns="12700" rIns="0" bIns="0" rtlCol="0">
            <a:spAutoFit/>
          </a:bodyPr>
          <a:lstStyle/>
          <a:p>
            <a:pPr marL="12700">
              <a:spcBef>
                <a:spcPts val="100"/>
              </a:spcBef>
            </a:pPr>
            <a:r>
              <a:rPr lang="en-US" sz="3200" dirty="0" smtClean="0">
                <a:solidFill>
                  <a:srgbClr val="FF0000"/>
                </a:solidFill>
                <a:latin typeface="Times New Roman" panose="02020603050405020304" pitchFamily="18" charset="0"/>
                <a:cs typeface="Times New Roman" panose="02020603050405020304" pitchFamily="18" charset="0"/>
              </a:rPr>
              <a:t>THE CLEANROOM STRATEGY</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76200" y="647240"/>
            <a:ext cx="9144000" cy="6210760"/>
          </a:xfrm>
        </p:spPr>
        <p:txBody>
          <a:bodyPr/>
          <a:lstStyle/>
          <a:p>
            <a:pPr algn="just"/>
            <a:r>
              <a:rPr lang="en-US" sz="2400" dirty="0" smtClean="0">
                <a:solidFill>
                  <a:srgbClr val="00B0F0"/>
                </a:solidFill>
                <a:latin typeface="Times New Roman" panose="02020603050405020304" pitchFamily="18" charset="0"/>
                <a:cs typeface="Times New Roman" panose="02020603050405020304" pitchFamily="18" charset="0"/>
              </a:rPr>
              <a:t>Development </a:t>
            </a:r>
            <a:r>
              <a:rPr lang="en-US" sz="2400" dirty="0">
                <a:solidFill>
                  <a:srgbClr val="00B0F0"/>
                </a:solidFill>
                <a:latin typeface="Times New Roman" panose="02020603050405020304" pitchFamily="18" charset="0"/>
                <a:cs typeface="Times New Roman" panose="02020603050405020304" pitchFamily="18" charset="0"/>
              </a:rPr>
              <a:t>–</a:t>
            </a:r>
            <a:endParaRPr lang="en-IN" sz="2400" dirty="0">
              <a:solidFill>
                <a:srgbClr val="00B0F0"/>
              </a:solidFill>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It is considered the second process of each increment which consists of software reengineering, correctness verification, incremental design, etc.</a:t>
            </a:r>
            <a:endParaRPr lang="en-IN" sz="2400" dirty="0">
              <a:latin typeface="Times New Roman" panose="02020603050405020304" pitchFamily="18" charset="0"/>
              <a:cs typeface="Times New Roman" panose="02020603050405020304" pitchFamily="18" charset="0"/>
            </a:endParaRPr>
          </a:p>
          <a:p>
            <a:pPr algn="just"/>
            <a:endParaRPr lang="en-US" sz="2400" dirty="0" smtClean="0">
              <a:solidFill>
                <a:srgbClr val="00B0F0"/>
              </a:solidFill>
              <a:latin typeface="Times New Roman" panose="02020603050405020304" pitchFamily="18" charset="0"/>
              <a:cs typeface="Times New Roman" panose="02020603050405020304" pitchFamily="18" charset="0"/>
            </a:endParaRPr>
          </a:p>
          <a:p>
            <a:pPr algn="just"/>
            <a:r>
              <a:rPr lang="en-US" sz="2400" dirty="0" smtClean="0">
                <a:solidFill>
                  <a:srgbClr val="00B0F0"/>
                </a:solidFill>
                <a:latin typeface="Times New Roman" panose="02020603050405020304" pitchFamily="18" charset="0"/>
                <a:cs typeface="Times New Roman" panose="02020603050405020304" pitchFamily="18" charset="0"/>
              </a:rPr>
              <a:t>Certification </a:t>
            </a:r>
            <a:r>
              <a:rPr lang="en-US" sz="2400" dirty="0">
                <a:solidFill>
                  <a:srgbClr val="00B0F0"/>
                </a:solidFill>
                <a:latin typeface="Times New Roman" panose="02020603050405020304" pitchFamily="18" charset="0"/>
                <a:cs typeface="Times New Roman" panose="02020603050405020304" pitchFamily="18" charset="0"/>
              </a:rPr>
              <a:t>–</a:t>
            </a:r>
            <a:endParaRPr lang="en-IN" sz="2400" dirty="0">
              <a:solidFill>
                <a:srgbClr val="00B0F0"/>
              </a:solidFill>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It is considered the final process of each increment which consists of usage modeling and test planning, statistical training and certification process, etc.</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3093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8170</TotalTime>
  <Words>3237</Words>
  <Application>Microsoft Office PowerPoint</Application>
  <PresentationFormat>On-screen Show (4:3)</PresentationFormat>
  <Paragraphs>275</Paragraphs>
  <Slides>51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Times New Roman</vt:lpstr>
      <vt:lpstr>Default Design</vt:lpstr>
      <vt:lpstr>MODULE-I</vt:lpstr>
      <vt:lpstr>ENGINEERING LAYERS</vt:lpstr>
      <vt:lpstr>ENGINEERING LAYERS</vt:lpstr>
      <vt:lpstr>ENGINEERING LAYERS</vt:lpstr>
      <vt:lpstr>ENGINEERING LAYERS</vt:lpstr>
      <vt:lpstr>THE SOFTWARE PROCESS</vt:lpstr>
      <vt:lpstr>THE SOFTWARE PROCESS</vt:lpstr>
      <vt:lpstr>SOFTWARE ENGINEERING PRACTICE</vt:lpstr>
      <vt:lpstr>SOFTWARE ENGINEERING PRACTICE</vt:lpstr>
      <vt:lpstr>SOFTWARE ENGINEERING PRACTICE</vt:lpstr>
      <vt:lpstr>SOFTWARE ENGINEERING PRACTICE</vt:lpstr>
      <vt:lpstr>SOFTWARE MYTHS</vt:lpstr>
      <vt:lpstr>SOFTWARE MYTHS</vt:lpstr>
      <vt:lpstr>SOFTWARE MYTHS</vt:lpstr>
      <vt:lpstr>SOFTWARE MYTHS</vt:lpstr>
      <vt:lpstr>SOFTWARE MYTHS</vt:lpstr>
      <vt:lpstr>A GENERIC PROCESS MODEL</vt:lpstr>
      <vt:lpstr>A GENERIC PROCESS MODEL</vt:lpstr>
      <vt:lpstr>A GENERIC PROCESS MODEL</vt:lpstr>
      <vt:lpstr>A GENERIC PROCESS MODEL</vt:lpstr>
      <vt:lpstr>THE WATERFALL MODEL</vt:lpstr>
      <vt:lpstr>THE WATERFALL MODEL</vt:lpstr>
      <vt:lpstr>THE WATERFALL MODEL</vt:lpstr>
      <vt:lpstr>THE WATERFALL MODEL</vt:lpstr>
      <vt:lpstr>THE WATERFALL MODEL</vt:lpstr>
      <vt:lpstr>THE WATERFALL MODEL</vt:lpstr>
      <vt:lpstr>INCREMENTAL PROCESS MODEL</vt:lpstr>
      <vt:lpstr>INCREMENTAL PROCESS MODEL</vt:lpstr>
      <vt:lpstr>INCREMENTAL PROCESS MODEL</vt:lpstr>
      <vt:lpstr>INCREMENTAL PROCESS MODEL</vt:lpstr>
      <vt:lpstr>INCREMENTAL PROCESS MODEL</vt:lpstr>
      <vt:lpstr>SPECIALIZED PROCESS MODEL</vt:lpstr>
      <vt:lpstr>SPECIALIZED PROCESS MODEL</vt:lpstr>
      <vt:lpstr>UNIFIED PROCESS  </vt:lpstr>
      <vt:lpstr>AGILE DEVELOPMENT-AGILITY</vt:lpstr>
      <vt:lpstr>AGILE DEVELOPMENT-AGILITY</vt:lpstr>
      <vt:lpstr>AGILE DEVELOPMENT-AGILITY</vt:lpstr>
      <vt:lpstr>AGILE DEVELOPMENT-AGILITY</vt:lpstr>
      <vt:lpstr>AGILE DEVELOPMENT-AGILITY</vt:lpstr>
      <vt:lpstr>EXTREME PROGRAMMING (XP)</vt:lpstr>
      <vt:lpstr>EXTREME PROGRAMMING (XP)</vt:lpstr>
      <vt:lpstr>SCRUM</vt:lpstr>
      <vt:lpstr>LEAN SOFTWARE DEVELOPMENT (LSD)</vt:lpstr>
      <vt:lpstr>DYNAMIC SYSTEM DEVELOPMENT METHOD</vt:lpstr>
      <vt:lpstr>DYNAMIC SYSTEM DEVELOPMENT METHOD</vt:lpstr>
      <vt:lpstr>DYNAMIC SYSTEM DEVELOPMENT METHOD</vt:lpstr>
      <vt:lpstr>AGILE MODELING (AM)</vt:lpstr>
      <vt:lpstr>AGILE UNIFIED PROCESS (AUP)</vt:lpstr>
      <vt:lpstr>AGILE UNIFIED PROCESS (AUP)</vt:lpstr>
      <vt:lpstr>THE CLEANROOM STRATEGY</vt:lpstr>
      <vt:lpstr>THE CLEANROOM STRATEGY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I_x000d_HTML &amp; HTML5</dc:title>
  <dc:creator/>
  <cp:lastModifiedBy>user</cp:lastModifiedBy>
  <cp:revision>88</cp:revision>
  <dcterms:created xsi:type="dcterms:W3CDTF">2024-07-22T04:35:57Z</dcterms:created>
  <dcterms:modified xsi:type="dcterms:W3CDTF">2025-01-25T03:13:44Z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2022-11-08T05:30:00Z</vt:filetime>
  </property>
  <property fmtid="{D5CDD505-2E9C-101B-9397-08002B2CF9AE}" pid="3" name="Creator">
    <vt:lpwstr>Microsoft® PowerPoint® 2016</vt:lpwstr>
  </property>
  <property fmtid="{D5CDD505-2E9C-101B-9397-08002B2CF9AE}" pid="4" name="LastSaved">
    <vt:filetime>2024-07-22T05:30:00Z</vt:filetime>
  </property>
  <property fmtid="{D5CDD505-2E9C-101B-9397-08002B2CF9AE}" pid="5" name="ICV">
    <vt:lpwstr>B0E253D2F3914CB4A85D038B697BABD4_13</vt:lpwstr>
  </property>
  <property fmtid="{D5CDD505-2E9C-101B-9397-08002B2CF9AE}" pid="6" name="KSOProductBuildVer">
    <vt:lpwstr>1033-12.2.0.17153</vt:lpwstr>
  </property>
</Properties>
</file>